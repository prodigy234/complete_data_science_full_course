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builds directly on Module 1. Now that participants understand research design and measurement levels, they learn HOW to get data into SPSS correctly, manage it professionally, and prepare it for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is the most hands-on module. Every topic should be followed by a live demonstration in SPSS. Use the UAC Foods dataset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tone for the entire module. Data management is not glamorous but it is what separates professional analysts from amateurs. A beautiful regression model built on miscoded data is worthless.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Open SPSS, set up Variable View with 5 variables, then enter 10 rows of data. Toggle View &gt; Value Labels to show how codes become labels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live Variable View setup for the UAC Foods dataset. Use a codebook on screen alongside SPSS. Typical beginner mistake: entering all data first, then going back to fix labels. This causes confusion and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live: click the gray button in the Values cell for the gender variable. A dialog opens. Type 1 in the Value field, type Male in the Label field, click Add. Repeat for each code. Click OK. Then toggle View &gt; Value Labels to show the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is not optional for professional work. A single miscoded variable can invalidate an entire regression model. Use the UAC Foods example throughout - make participants run these checks on the practice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before merge is critical - demonstrate what happens when you try to merge two unsorted datasets. Show the incorrect case-joining that results. This is a common real-world data management disaster.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Recode is one of the most-used SPSS commands in real data analysis. Demo all three cases. Emphasise that after recoding, students MUST go to Variable View and add Labels, Value Labels, and set the correct Measure for the new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is essential for Modules 3 and 5. The satisfaction_mean variable created here will be the DV in all subsequent t-tests, ANOVA, and regression analyses. Demo live: compute satisfaction_mean from q1-q5, then run Frequencies on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Binning is particularly useful when you do not know the data distribution in advance. The histogram makes the cut-point decision visual and intuitive. Show how the generated syntax matches what manual Recode would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both restructure directions using the employee performance dataset. The Restructure Wizard is 3-4 steps - walk through it slowly. Common error: not sorting by the ID variable before restructuring.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real datasets have MAR data at best. When writing up research, participants must state: 'X% of cases had missing values on variable Y. Missing data analysis indicated values were MAR. Multiple Imputation was used to replace missing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for the UAC Foods training project, if missing data is under 5%, listwise deletion with documentation is acceptable. For dissertation work, participants should use Multiple Imputation. Demo: Analyze &gt; Multiple Imputation &gt; Impute Missing Data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difference: Transform &gt; Replace Missing Values is for time series/sequence data. For cross-sectional survey data (the UAC Foods scenario), Multiple Imputation (Analyze &gt; Multiple Imputation) is the appropriate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Cases is the most common merge scenario for UAC Foods - survey data collected in multiple batches or offices. Show the dialog: unmatched variables are listed separately and appear as missing in the merged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both files MUST be sorted by the same key variable BEFORE merging. Demo what happens with unsorted files - cases are mismatched and the merge produces corrupted data. This is a common real-world disaster.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Split File: run Frequencies on satisfaction after splitting by gender. Show how SPSS produces two separate frequency tables automatically. Then show Select Cases: select only Lagos respondents (region=1) and run Descriptives.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culmination of Module 2. The syntax file shown here documents the complete data management workflow for the UAC Foods project. Participants should save a similar file for every project they work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File &gt; Export live. Demonstrate the difference between exporting to Word (best for reports) vs PDF (best for read-only sharing). Show how to export a single table by right-clicking in the outline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exercise produces the clean dataset used in all subsequent modules. Make sure every participant ends Module 2 with: (1) a validated UAC Foods dataset N=450, (2) sat_mean variable computed, (3) syntax file saved. These are prerequisites for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takeaways. Key messages: data management is not a prerequisite to 'get through' - it IS a core analytical skill. Students who master Module 2 produce more reliable results in Modules 3-5 than those who rush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(reverse coding) and Q4 (merge order) generate the richest discussion. Both represent extremely common real-world data management errors with serious analytical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Module 2. The clean dataset produced in this module is the foundation for everything that follows. Participants who complete Module 2 correctly will have a much easier time in Modules 3-5. Run a final check: each participant should open their .sav file and show N=450, sat_mean computed, and syntax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Module 2. Before starting Module 3, ensure every participant has a validated, clean UAC Foods dataset with sat_mean computed and saved. This is the prerequisite for all descriptive and inferential analysis in Modules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5943600" y="-1645920"/>
            <a:ext cx="5486400" cy="5486400"/>
          </a:xfrm>
          <a:prstGeom prst="ellipse">
            <a:avLst/>
          </a:prstGeom>
          <a:solidFill>
            <a:srgbClr val="1A6B3C">
              <a:alpha val="24000"/>
            </a:srgbClr>
          </a:solidFill>
          <a:ln w="12700">
            <a:solidFill>
              <a:srgbClr val="1A6B3C"/>
            </a:solidFill>
            <a:prstDash val="solid"/>
          </a:ln>
        </p:spPr>
      </p:sp>
      <p:sp>
        <p:nvSpPr>
          <p:cNvPr id="3" name="Shape 1"/>
          <p:cNvSpPr/>
          <p:nvPr/>
        </p:nvSpPr>
        <p:spPr>
          <a:xfrm>
            <a:off x="-1371600" y="2926080"/>
            <a:ext cx="4114800" cy="4114800"/>
          </a:xfrm>
          <a:prstGeom prst="ellipse">
            <a:avLst/>
          </a:prstGeom>
          <a:solidFill>
            <a:srgbClr val="D4A017">
              <a:alpha val="15000"/>
            </a:srgbClr>
          </a:solidFill>
          <a:ln w="12700">
            <a:solidFill>
              <a:srgbClr val="D4A017"/>
            </a:solidFill>
            <a:prstDash val="solid"/>
          </a:ln>
        </p:spPr>
      </p:sp>
      <p:sp>
        <p:nvSpPr>
          <p:cNvPr id="4" name="Shape 2"/>
          <p:cNvSpPr/>
          <p:nvPr/>
        </p:nvSpPr>
        <p:spPr>
          <a:xfrm>
            <a:off x="3474720" y="3840480"/>
            <a:ext cx="2286000" cy="2286000"/>
          </a:xfrm>
          <a:prstGeom prst="ellipse">
            <a:avLst/>
          </a:prstGeom>
          <a:solidFill>
            <a:srgbClr val="0E7C7B">
              <a:alpha val="12000"/>
            </a:srgbClr>
          </a:solidFill>
          <a:ln w="12700">
            <a:solidFill>
              <a:srgbClr val="0E7C7B"/>
            </a:solidFill>
            <a:prstDash val="solid"/>
          </a:ln>
        </p:spPr>
      </p:sp>
      <p:sp>
        <p:nvSpPr>
          <p:cNvPr id="5" name="Text 3"/>
          <p:cNvSpPr/>
          <p:nvPr/>
        </p:nvSpPr>
        <p:spPr>
          <a:xfrm>
            <a:off x="594360" y="914400"/>
            <a:ext cx="5486400" cy="384048"/>
          </a:xfrm>
          <a:prstGeom prst="rect">
            <a:avLst/>
          </a:prstGeom>
          <a:noFill/>
          <a:ln/>
        </p:spPr>
        <p:txBody>
          <a:bodyPr wrap="square" lIns="0" tIns="0" rIns="0" bIns="0" rtlCol="0" anchor="ctr"/>
          <a:lstStyle/>
          <a:p>
            <a:pPr indent="0" marL="0">
              <a:buNone/>
            </a:pPr>
            <a:r>
              <a:rPr lang="en-US" sz="1300" b="1" spc="400" kern="0" dirty="0">
                <a:solidFill>
                  <a:srgbClr val="D4A017"/>
                </a:solidFill>
                <a:latin typeface="Calibri" pitchFamily="34" charset="0"/>
                <a:ea typeface="Calibri" pitchFamily="34" charset="-122"/>
                <a:cs typeface="Calibri" pitchFamily="34" charset="-120"/>
              </a:rPr>
              <a:t>MODULE 2</a:t>
            </a:r>
            <a:endParaRPr lang="en-US" sz="1300" dirty="0"/>
          </a:p>
        </p:txBody>
      </p:sp>
      <p:sp>
        <p:nvSpPr>
          <p:cNvPr id="6" name="Text 4"/>
          <p:cNvSpPr/>
          <p:nvPr/>
        </p:nvSpPr>
        <p:spPr>
          <a:xfrm>
            <a:off x="594360" y="1353312"/>
            <a:ext cx="8412480" cy="1115568"/>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Data Entry and Management</a:t>
            </a:r>
            <a:endParaRPr lang="en-US" sz="4400" dirty="0"/>
          </a:p>
        </p:txBody>
      </p:sp>
      <p:sp>
        <p:nvSpPr>
          <p:cNvPr id="7" name="Text 5"/>
          <p:cNvSpPr/>
          <p:nvPr/>
        </p:nvSpPr>
        <p:spPr>
          <a:xfrm>
            <a:off x="594360" y="2578608"/>
            <a:ext cx="6858000" cy="713232"/>
          </a:xfrm>
          <a:prstGeom prst="rect">
            <a:avLst/>
          </a:prstGeom>
          <a:noFill/>
          <a:ln/>
        </p:spPr>
        <p:txBody>
          <a:bodyPr wrap="square" lIns="0" tIns="0" rIns="0" bIns="0" rtlCol="0" anchor="ctr"/>
          <a:lstStyle/>
          <a:p>
            <a:pPr indent="0" marL="0">
              <a:buNone/>
            </a:pPr>
            <a:r>
              <a:rPr lang="en-US" sz="1600" dirty="0">
                <a:solidFill>
                  <a:srgbClr val="A8D4BC"/>
                </a:solidFill>
                <a:latin typeface="Calibri" pitchFamily="34" charset="0"/>
                <a:ea typeface="Calibri" pitchFamily="34" charset="-122"/>
                <a:cs typeface="Calibri" pitchFamily="34" charset="-120"/>
              </a:rPr>
              <a:t>Entering, Defining, Cleaning, Transforming and Managing</a:t>
            </a:r>
            <a:endParaRPr lang="en-US" sz="1600" dirty="0"/>
          </a:p>
          <a:p>
            <a:pPr indent="0" marL="0">
              <a:buNone/>
            </a:pPr>
            <a:r>
              <a:rPr lang="en-US" sz="1600" dirty="0">
                <a:solidFill>
                  <a:srgbClr val="A8D4BC"/>
                </a:solidFill>
                <a:latin typeface="Calibri" pitchFamily="34" charset="0"/>
                <a:ea typeface="Calibri" pitchFamily="34" charset="-122"/>
                <a:cs typeface="Calibri" pitchFamily="34" charset="-120"/>
              </a:rPr>
              <a:t>Your Dataset in IBM SPSS Statistics</a:t>
            </a:r>
            <a:endParaRPr lang="en-US" sz="1600" dirty="0"/>
          </a:p>
        </p:txBody>
      </p:sp>
      <p:sp>
        <p:nvSpPr>
          <p:cNvPr id="8" name="Text 6"/>
          <p:cNvSpPr/>
          <p:nvPr/>
        </p:nvSpPr>
        <p:spPr>
          <a:xfrm>
            <a:off x="594360" y="3401568"/>
            <a:ext cx="6400800" cy="320040"/>
          </a:xfrm>
          <a:prstGeom prst="rect">
            <a:avLst/>
          </a:prstGeom>
          <a:noFill/>
          <a:ln/>
        </p:spPr>
        <p:txBody>
          <a:bodyPr wrap="square" lIns="0" tIns="0" rIns="0" bIns="0" rtlCol="0" anchor="ctr"/>
          <a:lstStyle/>
          <a:p>
            <a:pPr indent="0" marL="0">
              <a:buNone/>
            </a:pPr>
            <a:r>
              <a:rPr lang="en-US" sz="1200" i="1" dirty="0">
                <a:solidFill>
                  <a:srgbClr val="F0C040"/>
                </a:solidFill>
                <a:latin typeface="Calibri" pitchFamily="34" charset="0"/>
                <a:ea typeface="Calibri" pitchFamily="34" charset="-122"/>
                <a:cs typeface="Calibri" pitchFamily="34" charset="-120"/>
              </a:rPr>
              <a:t>IBM SPSS Statistics Training  -  UAC Foods Limited</a:t>
            </a:r>
            <a:endParaRPr lang="en-US" sz="1200" dirty="0"/>
          </a:p>
        </p:txBody>
      </p:sp>
      <p:sp>
        <p:nvSpPr>
          <p:cNvPr id="9" name="Shape 7"/>
          <p:cNvSpPr/>
          <p:nvPr/>
        </p:nvSpPr>
        <p:spPr>
          <a:xfrm>
            <a:off x="594360" y="3931920"/>
            <a:ext cx="3657600" cy="896112"/>
          </a:xfrm>
          <a:prstGeom prst="roundRect">
            <a:avLst>
              <a:gd name="adj" fmla="val 10204"/>
            </a:avLst>
          </a:prstGeom>
          <a:solidFill>
            <a:srgbClr val="1A6B3C">
              <a:alpha val="85000"/>
            </a:srgbClr>
          </a:solidFill>
          <a:ln w="12700">
            <a:solidFill>
              <a:srgbClr val="27AE60"/>
            </a:solidFill>
            <a:prstDash val="solid"/>
          </a:ln>
        </p:spPr>
      </p:sp>
      <p:sp>
        <p:nvSpPr>
          <p:cNvPr id="10" name="Text 8"/>
          <p:cNvSpPr/>
          <p:nvPr/>
        </p:nvSpPr>
        <p:spPr>
          <a:xfrm>
            <a:off x="594360" y="3977640"/>
            <a:ext cx="3657600" cy="8046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Kajola Gbenga Adewale</a:t>
            </a:r>
            <a:endParaRPr lang="en-US" sz="1400" dirty="0"/>
          </a:p>
          <a:p>
            <a:pPr algn="ctr" indent="0" marL="0">
              <a:buNone/>
            </a:pPr>
            <a:r>
              <a:rPr lang="en-US" sz="1200" dirty="0">
                <a:solidFill>
                  <a:srgbClr val="F0C040"/>
                </a:solidFill>
                <a:latin typeface="Calibri" pitchFamily="34" charset="0"/>
                <a:ea typeface="Calibri" pitchFamily="34" charset="-122"/>
                <a:cs typeface="Calibri" pitchFamily="34" charset="-120"/>
              </a:rPr>
              <a:t>Data Expert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AF7"/>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B2218"/>
          </a:solidFill>
          <a:ln w="12700">
            <a:solidFill>
              <a:srgbClr val="0B2218"/>
            </a:solidFill>
            <a:prstDash val="solid"/>
          </a:ln>
        </p:spPr>
      </p:sp>
      <p:sp>
        <p:nvSpPr>
          <p:cNvPr id="3" name="Text 1"/>
          <p:cNvSpPr/>
          <p:nvPr/>
        </p:nvSpPr>
        <p:spPr>
          <a:xfrm>
            <a:off x="137160" y="1097280"/>
            <a:ext cx="2633472" cy="14630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MODULE 2</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COMPLETE</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AGENDA</a:t>
            </a:r>
            <a:endParaRPr lang="en-US" sz="2200" dirty="0"/>
          </a:p>
        </p:txBody>
      </p:sp>
      <p:sp>
        <p:nvSpPr>
          <p:cNvPr id="4" name="Shape 2"/>
          <p:cNvSpPr/>
          <p:nvPr/>
        </p:nvSpPr>
        <p:spPr>
          <a:xfrm>
            <a:off x="365760" y="2697480"/>
            <a:ext cx="2194560" cy="45720"/>
          </a:xfrm>
          <a:prstGeom prst="rect">
            <a:avLst/>
          </a:prstGeom>
          <a:solidFill>
            <a:srgbClr val="D4A017"/>
          </a:solidFill>
          <a:ln w="12700">
            <a:solidFill>
              <a:srgbClr val="D4A017"/>
            </a:solidFill>
            <a:prstDash val="solid"/>
          </a:ln>
        </p:spPr>
      </p:sp>
      <p:sp>
        <p:nvSpPr>
          <p:cNvPr id="5" name="Text 3"/>
          <p:cNvSpPr/>
          <p:nvPr/>
        </p:nvSpPr>
        <p:spPr>
          <a:xfrm>
            <a:off x="137160" y="2834640"/>
            <a:ext cx="2633472" cy="365760"/>
          </a:xfrm>
          <a:prstGeom prst="rect">
            <a:avLst/>
          </a:prstGeom>
          <a:noFill/>
          <a:ln/>
        </p:spPr>
        <p:txBody>
          <a:bodyPr wrap="square" lIns="0" tIns="0" rIns="0" bIns="0" rtlCol="0" anchor="ctr"/>
          <a:lstStyle/>
          <a:p>
            <a:pPr algn="ctr" indent="0" marL="0">
              <a:buNone/>
            </a:pPr>
            <a:r>
              <a:rPr lang="en-US" sz="1200" dirty="0">
                <a:solidFill>
                  <a:srgbClr val="F0C040"/>
                </a:solidFill>
                <a:latin typeface="Calibri" pitchFamily="34" charset="0"/>
                <a:ea typeface="Calibri" pitchFamily="34" charset="-122"/>
                <a:cs typeface="Calibri" pitchFamily="34" charset="-120"/>
              </a:rPr>
              <a:t>9 Core Topics</a:t>
            </a:r>
            <a:endParaRPr lang="en-US" sz="1200" dirty="0"/>
          </a:p>
        </p:txBody>
      </p:sp>
      <p:sp>
        <p:nvSpPr>
          <p:cNvPr id="6" name="Shape 4"/>
          <p:cNvSpPr/>
          <p:nvPr/>
        </p:nvSpPr>
        <p:spPr>
          <a:xfrm>
            <a:off x="3063240" y="201168"/>
            <a:ext cx="2880360" cy="877824"/>
          </a:xfrm>
          <a:prstGeom prst="roundRect">
            <a:avLst>
              <a:gd name="adj" fmla="val 7292"/>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154680" y="420624"/>
            <a:ext cx="347472" cy="347472"/>
          </a:xfrm>
          <a:prstGeom prst="roundRect">
            <a:avLst>
              <a:gd name="adj" fmla="val 13158"/>
            </a:avLst>
          </a:prstGeom>
          <a:solidFill>
            <a:srgbClr val="0B2218"/>
          </a:solidFill>
          <a:ln w="12700">
            <a:solidFill>
              <a:srgbClr val="0B2218"/>
            </a:solidFill>
            <a:prstDash val="solid"/>
          </a:ln>
        </p:spPr>
      </p:sp>
      <p:sp>
        <p:nvSpPr>
          <p:cNvPr id="8" name="Text 6"/>
          <p:cNvSpPr/>
          <p:nvPr/>
        </p:nvSpPr>
        <p:spPr>
          <a:xfrm>
            <a:off x="3154680" y="420624"/>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01</a:t>
            </a:r>
            <a:endParaRPr lang="en-US" sz="900" dirty="0"/>
          </a:p>
        </p:txBody>
      </p:sp>
      <p:sp>
        <p:nvSpPr>
          <p:cNvPr id="9" name="Text 7"/>
          <p:cNvSpPr/>
          <p:nvPr/>
        </p:nvSpPr>
        <p:spPr>
          <a:xfrm>
            <a:off x="3593592" y="310896"/>
            <a:ext cx="2286000" cy="329184"/>
          </a:xfrm>
          <a:prstGeom prst="rect">
            <a:avLst/>
          </a:prstGeom>
          <a:noFill/>
          <a:ln/>
        </p:spPr>
        <p:txBody>
          <a:bodyPr wrap="square" lIns="0" tIns="0" rIns="0" bIns="0" rtlCol="0" anchor="ctr"/>
          <a:lstStyle/>
          <a:p>
            <a:pPr indent="0" marL="0">
              <a:buNone/>
            </a:pPr>
            <a:r>
              <a:rPr lang="en-US" sz="1050" b="1" dirty="0">
                <a:solidFill>
                  <a:srgbClr val="0B2218"/>
                </a:solidFill>
                <a:latin typeface="Calibri" pitchFamily="34" charset="0"/>
                <a:ea typeface="Calibri" pitchFamily="34" charset="-122"/>
                <a:cs typeface="Calibri" pitchFamily="34" charset="-120"/>
              </a:rPr>
              <a:t>Entering Categorical and Continuous Data</a:t>
            </a:r>
            <a:endParaRPr lang="en-US" sz="1050" dirty="0"/>
          </a:p>
        </p:txBody>
      </p:sp>
      <p:sp>
        <p:nvSpPr>
          <p:cNvPr id="10" name="Text 8"/>
          <p:cNvSpPr/>
          <p:nvPr/>
        </p:nvSpPr>
        <p:spPr>
          <a:xfrm>
            <a:off x="3593592" y="676656"/>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Direct entry, coded categories, value labels</a:t>
            </a:r>
            <a:endParaRPr lang="en-US" sz="900" dirty="0"/>
          </a:p>
        </p:txBody>
      </p:sp>
      <p:sp>
        <p:nvSpPr>
          <p:cNvPr id="11" name="Shape 9"/>
          <p:cNvSpPr/>
          <p:nvPr/>
        </p:nvSpPr>
        <p:spPr>
          <a:xfrm>
            <a:off x="3063240" y="1188720"/>
            <a:ext cx="2880360" cy="877824"/>
          </a:xfrm>
          <a:prstGeom prst="roundRect">
            <a:avLst>
              <a:gd name="adj" fmla="val 7292"/>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3154680" y="1408176"/>
            <a:ext cx="347472" cy="347472"/>
          </a:xfrm>
          <a:prstGeom prst="roundRect">
            <a:avLst>
              <a:gd name="adj" fmla="val 13158"/>
            </a:avLst>
          </a:prstGeom>
          <a:solidFill>
            <a:srgbClr val="0B2218"/>
          </a:solidFill>
          <a:ln w="12700">
            <a:solidFill>
              <a:srgbClr val="0B2218"/>
            </a:solidFill>
            <a:prstDash val="solid"/>
          </a:ln>
        </p:spPr>
      </p:sp>
      <p:sp>
        <p:nvSpPr>
          <p:cNvPr id="13" name="Text 11"/>
          <p:cNvSpPr/>
          <p:nvPr/>
        </p:nvSpPr>
        <p:spPr>
          <a:xfrm>
            <a:off x="3154680" y="1408176"/>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02</a:t>
            </a:r>
            <a:endParaRPr lang="en-US" sz="900" dirty="0"/>
          </a:p>
        </p:txBody>
      </p:sp>
      <p:sp>
        <p:nvSpPr>
          <p:cNvPr id="14" name="Text 12"/>
          <p:cNvSpPr/>
          <p:nvPr/>
        </p:nvSpPr>
        <p:spPr>
          <a:xfrm>
            <a:off x="3593592" y="1298448"/>
            <a:ext cx="2286000" cy="329184"/>
          </a:xfrm>
          <a:prstGeom prst="rect">
            <a:avLst/>
          </a:prstGeom>
          <a:noFill/>
          <a:ln/>
        </p:spPr>
        <p:txBody>
          <a:bodyPr wrap="square" lIns="0" tIns="0" rIns="0" bIns="0" rtlCol="0" anchor="ctr"/>
          <a:lstStyle/>
          <a:p>
            <a:pPr indent="0" marL="0">
              <a:buNone/>
            </a:pPr>
            <a:r>
              <a:rPr lang="en-US" sz="1050" b="1" dirty="0">
                <a:solidFill>
                  <a:srgbClr val="0B2218"/>
                </a:solidFill>
                <a:latin typeface="Calibri" pitchFamily="34" charset="0"/>
                <a:ea typeface="Calibri" pitchFamily="34" charset="-122"/>
                <a:cs typeface="Calibri" pitchFamily="34" charset="-120"/>
              </a:rPr>
              <a:t>Defining and Labelling Variables</a:t>
            </a:r>
            <a:endParaRPr lang="en-US" sz="1050" dirty="0"/>
          </a:p>
        </p:txBody>
      </p:sp>
      <p:sp>
        <p:nvSpPr>
          <p:cNvPr id="15" name="Text 13"/>
          <p:cNvSpPr/>
          <p:nvPr/>
        </p:nvSpPr>
        <p:spPr>
          <a:xfrm>
            <a:off x="3593592" y="1664208"/>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Names, labels, value codes, missing - complete setup</a:t>
            </a:r>
            <a:endParaRPr lang="en-US" sz="900" dirty="0"/>
          </a:p>
        </p:txBody>
      </p:sp>
      <p:sp>
        <p:nvSpPr>
          <p:cNvPr id="16" name="Shape 14"/>
          <p:cNvSpPr/>
          <p:nvPr/>
        </p:nvSpPr>
        <p:spPr>
          <a:xfrm>
            <a:off x="3063240" y="2176272"/>
            <a:ext cx="2880360" cy="877824"/>
          </a:xfrm>
          <a:prstGeom prst="roundRect">
            <a:avLst>
              <a:gd name="adj" fmla="val 7292"/>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154680" y="2395728"/>
            <a:ext cx="347472" cy="347472"/>
          </a:xfrm>
          <a:prstGeom prst="roundRect">
            <a:avLst>
              <a:gd name="adj" fmla="val 13158"/>
            </a:avLst>
          </a:prstGeom>
          <a:solidFill>
            <a:srgbClr val="0B2218"/>
          </a:solidFill>
          <a:ln w="12700">
            <a:solidFill>
              <a:srgbClr val="0B2218"/>
            </a:solidFill>
            <a:prstDash val="solid"/>
          </a:ln>
        </p:spPr>
      </p:sp>
      <p:sp>
        <p:nvSpPr>
          <p:cNvPr id="18" name="Text 16"/>
          <p:cNvSpPr/>
          <p:nvPr/>
        </p:nvSpPr>
        <p:spPr>
          <a:xfrm>
            <a:off x="3154680" y="2395728"/>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03</a:t>
            </a:r>
            <a:endParaRPr lang="en-US" sz="900" dirty="0"/>
          </a:p>
        </p:txBody>
      </p:sp>
      <p:sp>
        <p:nvSpPr>
          <p:cNvPr id="19" name="Text 17"/>
          <p:cNvSpPr/>
          <p:nvPr/>
        </p:nvSpPr>
        <p:spPr>
          <a:xfrm>
            <a:off x="3593592" y="2286000"/>
            <a:ext cx="2286000" cy="329184"/>
          </a:xfrm>
          <a:prstGeom prst="rect">
            <a:avLst/>
          </a:prstGeom>
          <a:noFill/>
          <a:ln/>
        </p:spPr>
        <p:txBody>
          <a:bodyPr wrap="square" lIns="0" tIns="0" rIns="0" bIns="0" rtlCol="0" anchor="ctr"/>
          <a:lstStyle/>
          <a:p>
            <a:pPr indent="0" marL="0">
              <a:buNone/>
            </a:pPr>
            <a:r>
              <a:rPr lang="en-US" sz="1050" b="1" dirty="0">
                <a:solidFill>
                  <a:srgbClr val="0B2218"/>
                </a:solidFill>
                <a:latin typeface="Calibri" pitchFamily="34" charset="0"/>
                <a:ea typeface="Calibri" pitchFamily="34" charset="-122"/>
                <a:cs typeface="Calibri" pitchFamily="34" charset="-120"/>
              </a:rPr>
              <a:t>Validation and Sorting Variables</a:t>
            </a:r>
            <a:endParaRPr lang="en-US" sz="1050" dirty="0"/>
          </a:p>
        </p:txBody>
      </p:sp>
      <p:sp>
        <p:nvSpPr>
          <p:cNvPr id="20" name="Text 18"/>
          <p:cNvSpPr/>
          <p:nvPr/>
        </p:nvSpPr>
        <p:spPr>
          <a:xfrm>
            <a:off x="3593592" y="2651760"/>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Data quality checks, range validation, sorting cases</a:t>
            </a:r>
            <a:endParaRPr lang="en-US" sz="900" dirty="0"/>
          </a:p>
        </p:txBody>
      </p:sp>
      <p:sp>
        <p:nvSpPr>
          <p:cNvPr id="21" name="Shape 19"/>
          <p:cNvSpPr/>
          <p:nvPr/>
        </p:nvSpPr>
        <p:spPr>
          <a:xfrm>
            <a:off x="3063240" y="3163824"/>
            <a:ext cx="2880360" cy="877824"/>
          </a:xfrm>
          <a:prstGeom prst="roundRect">
            <a:avLst>
              <a:gd name="adj" fmla="val 7292"/>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2" name="Shape 20"/>
          <p:cNvSpPr/>
          <p:nvPr/>
        </p:nvSpPr>
        <p:spPr>
          <a:xfrm>
            <a:off x="3154680" y="3383280"/>
            <a:ext cx="347472" cy="347472"/>
          </a:xfrm>
          <a:prstGeom prst="roundRect">
            <a:avLst>
              <a:gd name="adj" fmla="val 13158"/>
            </a:avLst>
          </a:prstGeom>
          <a:solidFill>
            <a:srgbClr val="0B2218"/>
          </a:solidFill>
          <a:ln w="12700">
            <a:solidFill>
              <a:srgbClr val="0B2218"/>
            </a:solidFill>
            <a:prstDash val="solid"/>
          </a:ln>
        </p:spPr>
      </p:sp>
      <p:sp>
        <p:nvSpPr>
          <p:cNvPr id="23" name="Text 21"/>
          <p:cNvSpPr/>
          <p:nvPr/>
        </p:nvSpPr>
        <p:spPr>
          <a:xfrm>
            <a:off x="3154680" y="3383280"/>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04</a:t>
            </a:r>
            <a:endParaRPr lang="en-US" sz="900" dirty="0"/>
          </a:p>
        </p:txBody>
      </p:sp>
      <p:sp>
        <p:nvSpPr>
          <p:cNvPr id="24" name="Text 22"/>
          <p:cNvSpPr/>
          <p:nvPr/>
        </p:nvSpPr>
        <p:spPr>
          <a:xfrm>
            <a:off x="3593592" y="3273552"/>
            <a:ext cx="2286000" cy="329184"/>
          </a:xfrm>
          <a:prstGeom prst="rect">
            <a:avLst/>
          </a:prstGeom>
          <a:noFill/>
          <a:ln/>
        </p:spPr>
        <p:txBody>
          <a:bodyPr wrap="square" lIns="0" tIns="0" rIns="0" bIns="0" rtlCol="0" anchor="ctr"/>
          <a:lstStyle/>
          <a:p>
            <a:pPr indent="0" marL="0">
              <a:buNone/>
            </a:pPr>
            <a:r>
              <a:rPr lang="en-US" sz="1050" b="1" dirty="0">
                <a:solidFill>
                  <a:srgbClr val="0B2218"/>
                </a:solidFill>
                <a:latin typeface="Calibri" pitchFamily="34" charset="0"/>
                <a:ea typeface="Calibri" pitchFamily="34" charset="-122"/>
                <a:cs typeface="Calibri" pitchFamily="34" charset="-120"/>
              </a:rPr>
              <a:t>Transforming, Recoding and Computing</a:t>
            </a:r>
            <a:endParaRPr lang="en-US" sz="1050" dirty="0"/>
          </a:p>
        </p:txBody>
      </p:sp>
      <p:sp>
        <p:nvSpPr>
          <p:cNvPr id="25" name="Text 23"/>
          <p:cNvSpPr/>
          <p:nvPr/>
        </p:nvSpPr>
        <p:spPr>
          <a:xfrm>
            <a:off x="3593592" y="3639312"/>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Recode into groups, compute new variables</a:t>
            </a:r>
            <a:endParaRPr lang="en-US" sz="900" dirty="0"/>
          </a:p>
        </p:txBody>
      </p:sp>
      <p:sp>
        <p:nvSpPr>
          <p:cNvPr id="26" name="Shape 24"/>
          <p:cNvSpPr/>
          <p:nvPr/>
        </p:nvSpPr>
        <p:spPr>
          <a:xfrm>
            <a:off x="3063240" y="4151376"/>
            <a:ext cx="2880360" cy="877824"/>
          </a:xfrm>
          <a:prstGeom prst="roundRect">
            <a:avLst>
              <a:gd name="adj" fmla="val 7292"/>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7" name="Shape 25"/>
          <p:cNvSpPr/>
          <p:nvPr/>
        </p:nvSpPr>
        <p:spPr>
          <a:xfrm>
            <a:off x="3154680" y="4370832"/>
            <a:ext cx="347472" cy="347472"/>
          </a:xfrm>
          <a:prstGeom prst="roundRect">
            <a:avLst>
              <a:gd name="adj" fmla="val 13158"/>
            </a:avLst>
          </a:prstGeom>
          <a:solidFill>
            <a:srgbClr val="0B2218"/>
          </a:solidFill>
          <a:ln w="12700">
            <a:solidFill>
              <a:srgbClr val="0B2218"/>
            </a:solidFill>
            <a:prstDash val="solid"/>
          </a:ln>
        </p:spPr>
      </p:sp>
      <p:sp>
        <p:nvSpPr>
          <p:cNvPr id="28" name="Text 26"/>
          <p:cNvSpPr/>
          <p:nvPr/>
        </p:nvSpPr>
        <p:spPr>
          <a:xfrm>
            <a:off x="3154680" y="4370832"/>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05</a:t>
            </a:r>
            <a:endParaRPr lang="en-US" sz="900" dirty="0"/>
          </a:p>
        </p:txBody>
      </p:sp>
      <p:sp>
        <p:nvSpPr>
          <p:cNvPr id="29" name="Text 27"/>
          <p:cNvSpPr/>
          <p:nvPr/>
        </p:nvSpPr>
        <p:spPr>
          <a:xfrm>
            <a:off x="3593592" y="4261104"/>
            <a:ext cx="2286000" cy="329184"/>
          </a:xfrm>
          <a:prstGeom prst="rect">
            <a:avLst/>
          </a:prstGeom>
          <a:noFill/>
          <a:ln/>
        </p:spPr>
        <p:txBody>
          <a:bodyPr wrap="square" lIns="0" tIns="0" rIns="0" bIns="0" rtlCol="0" anchor="ctr"/>
          <a:lstStyle/>
          <a:p>
            <a:pPr indent="0" marL="0">
              <a:buNone/>
            </a:pPr>
            <a:r>
              <a:rPr lang="en-US" sz="1050" b="1" dirty="0">
                <a:solidFill>
                  <a:srgbClr val="0B2218"/>
                </a:solidFill>
                <a:latin typeface="Calibri" pitchFamily="34" charset="0"/>
                <a:ea typeface="Calibri" pitchFamily="34" charset="-122"/>
                <a:cs typeface="Calibri" pitchFamily="34" charset="-120"/>
              </a:rPr>
              <a:t>Restructuring Data</a:t>
            </a:r>
            <a:endParaRPr lang="en-US" sz="1050" dirty="0"/>
          </a:p>
        </p:txBody>
      </p:sp>
      <p:sp>
        <p:nvSpPr>
          <p:cNvPr id="30" name="Text 28"/>
          <p:cNvSpPr/>
          <p:nvPr/>
        </p:nvSpPr>
        <p:spPr>
          <a:xfrm>
            <a:off x="3593592" y="4626864"/>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Wide vs. long format, transpose, restructure wizard</a:t>
            </a:r>
            <a:endParaRPr lang="en-US" sz="900" dirty="0"/>
          </a:p>
        </p:txBody>
      </p:sp>
      <p:sp>
        <p:nvSpPr>
          <p:cNvPr id="31" name="Shape 29"/>
          <p:cNvSpPr/>
          <p:nvPr/>
        </p:nvSpPr>
        <p:spPr>
          <a:xfrm>
            <a:off x="6080760" y="201168"/>
            <a:ext cx="2880360" cy="877824"/>
          </a:xfrm>
          <a:prstGeom prst="roundRect">
            <a:avLst>
              <a:gd name="adj" fmla="val 7292"/>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32" name="Shape 30"/>
          <p:cNvSpPr/>
          <p:nvPr/>
        </p:nvSpPr>
        <p:spPr>
          <a:xfrm>
            <a:off x="6172200" y="420624"/>
            <a:ext cx="347472" cy="347472"/>
          </a:xfrm>
          <a:prstGeom prst="roundRect">
            <a:avLst>
              <a:gd name="adj" fmla="val 13158"/>
            </a:avLst>
          </a:prstGeom>
          <a:solidFill>
            <a:srgbClr val="0B2218"/>
          </a:solidFill>
          <a:ln w="12700">
            <a:solidFill>
              <a:srgbClr val="0B2218"/>
            </a:solidFill>
            <a:prstDash val="solid"/>
          </a:ln>
        </p:spPr>
      </p:sp>
      <p:sp>
        <p:nvSpPr>
          <p:cNvPr id="33" name="Text 31"/>
          <p:cNvSpPr/>
          <p:nvPr/>
        </p:nvSpPr>
        <p:spPr>
          <a:xfrm>
            <a:off x="6172200" y="420624"/>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06</a:t>
            </a:r>
            <a:endParaRPr lang="en-US" sz="900" dirty="0"/>
          </a:p>
        </p:txBody>
      </p:sp>
      <p:sp>
        <p:nvSpPr>
          <p:cNvPr id="34" name="Text 32"/>
          <p:cNvSpPr/>
          <p:nvPr/>
        </p:nvSpPr>
        <p:spPr>
          <a:xfrm>
            <a:off x="6611112" y="310896"/>
            <a:ext cx="2286000" cy="329184"/>
          </a:xfrm>
          <a:prstGeom prst="rect">
            <a:avLst/>
          </a:prstGeom>
          <a:noFill/>
          <a:ln/>
        </p:spPr>
        <p:txBody>
          <a:bodyPr wrap="square" lIns="0" tIns="0" rIns="0" bIns="0" rtlCol="0" anchor="ctr"/>
          <a:lstStyle/>
          <a:p>
            <a:pPr indent="0" marL="0">
              <a:buNone/>
            </a:pPr>
            <a:r>
              <a:rPr lang="en-US" sz="1050" b="1" dirty="0">
                <a:solidFill>
                  <a:srgbClr val="0B2218"/>
                </a:solidFill>
                <a:latin typeface="Calibri" pitchFamily="34" charset="0"/>
                <a:ea typeface="Calibri" pitchFamily="34" charset="-122"/>
                <a:cs typeface="Calibri" pitchFamily="34" charset="-120"/>
              </a:rPr>
              <a:t>Replacing Missing Values</a:t>
            </a:r>
            <a:endParaRPr lang="en-US" sz="1050" dirty="0"/>
          </a:p>
        </p:txBody>
      </p:sp>
      <p:sp>
        <p:nvSpPr>
          <p:cNvPr id="35" name="Text 33"/>
          <p:cNvSpPr/>
          <p:nvPr/>
        </p:nvSpPr>
        <p:spPr>
          <a:xfrm>
            <a:off x="6611112" y="676656"/>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Types of missing data, strategies, multiple imputation</a:t>
            </a:r>
            <a:endParaRPr lang="en-US" sz="900" dirty="0"/>
          </a:p>
        </p:txBody>
      </p:sp>
      <p:sp>
        <p:nvSpPr>
          <p:cNvPr id="36" name="Shape 34"/>
          <p:cNvSpPr/>
          <p:nvPr/>
        </p:nvSpPr>
        <p:spPr>
          <a:xfrm>
            <a:off x="6080760" y="1188720"/>
            <a:ext cx="2880360" cy="877824"/>
          </a:xfrm>
          <a:prstGeom prst="roundRect">
            <a:avLst>
              <a:gd name="adj" fmla="val 7292"/>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37" name="Shape 35"/>
          <p:cNvSpPr/>
          <p:nvPr/>
        </p:nvSpPr>
        <p:spPr>
          <a:xfrm>
            <a:off x="6172200" y="1408176"/>
            <a:ext cx="347472" cy="347472"/>
          </a:xfrm>
          <a:prstGeom prst="roundRect">
            <a:avLst>
              <a:gd name="adj" fmla="val 13158"/>
            </a:avLst>
          </a:prstGeom>
          <a:solidFill>
            <a:srgbClr val="0B2218"/>
          </a:solidFill>
          <a:ln w="12700">
            <a:solidFill>
              <a:srgbClr val="0B2218"/>
            </a:solidFill>
            <a:prstDash val="solid"/>
          </a:ln>
        </p:spPr>
      </p:sp>
      <p:sp>
        <p:nvSpPr>
          <p:cNvPr id="38" name="Text 36"/>
          <p:cNvSpPr/>
          <p:nvPr/>
        </p:nvSpPr>
        <p:spPr>
          <a:xfrm>
            <a:off x="6172200" y="1408176"/>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07</a:t>
            </a:r>
            <a:endParaRPr lang="en-US" sz="900" dirty="0"/>
          </a:p>
        </p:txBody>
      </p:sp>
      <p:sp>
        <p:nvSpPr>
          <p:cNvPr id="39" name="Text 37"/>
          <p:cNvSpPr/>
          <p:nvPr/>
        </p:nvSpPr>
        <p:spPr>
          <a:xfrm>
            <a:off x="6611112" y="1298448"/>
            <a:ext cx="2286000" cy="329184"/>
          </a:xfrm>
          <a:prstGeom prst="rect">
            <a:avLst/>
          </a:prstGeom>
          <a:noFill/>
          <a:ln/>
        </p:spPr>
        <p:txBody>
          <a:bodyPr wrap="square" lIns="0" tIns="0" rIns="0" bIns="0" rtlCol="0" anchor="ctr"/>
          <a:lstStyle/>
          <a:p>
            <a:pPr indent="0" marL="0">
              <a:buNone/>
            </a:pPr>
            <a:r>
              <a:rPr lang="en-US" sz="1050" b="1" dirty="0">
                <a:solidFill>
                  <a:srgbClr val="0B2218"/>
                </a:solidFill>
                <a:latin typeface="Calibri" pitchFamily="34" charset="0"/>
                <a:ea typeface="Calibri" pitchFamily="34" charset="-122"/>
                <a:cs typeface="Calibri" pitchFamily="34" charset="-120"/>
              </a:rPr>
              <a:t>Merging Files and Restructuring</a:t>
            </a:r>
            <a:endParaRPr lang="en-US" sz="1050" dirty="0"/>
          </a:p>
        </p:txBody>
      </p:sp>
      <p:sp>
        <p:nvSpPr>
          <p:cNvPr id="40" name="Text 38"/>
          <p:cNvSpPr/>
          <p:nvPr/>
        </p:nvSpPr>
        <p:spPr>
          <a:xfrm>
            <a:off x="6611112" y="1664208"/>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Add Cases (append) and Add Variables (merge by key)</a:t>
            </a:r>
            <a:endParaRPr lang="en-US" sz="900" dirty="0"/>
          </a:p>
        </p:txBody>
      </p:sp>
      <p:sp>
        <p:nvSpPr>
          <p:cNvPr id="41" name="Shape 39"/>
          <p:cNvSpPr/>
          <p:nvPr/>
        </p:nvSpPr>
        <p:spPr>
          <a:xfrm>
            <a:off x="6080760" y="2176272"/>
            <a:ext cx="2880360" cy="877824"/>
          </a:xfrm>
          <a:prstGeom prst="roundRect">
            <a:avLst>
              <a:gd name="adj" fmla="val 7292"/>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42" name="Shape 40"/>
          <p:cNvSpPr/>
          <p:nvPr/>
        </p:nvSpPr>
        <p:spPr>
          <a:xfrm>
            <a:off x="6172200" y="2395728"/>
            <a:ext cx="347472" cy="347472"/>
          </a:xfrm>
          <a:prstGeom prst="roundRect">
            <a:avLst>
              <a:gd name="adj" fmla="val 13158"/>
            </a:avLst>
          </a:prstGeom>
          <a:solidFill>
            <a:srgbClr val="0B2218"/>
          </a:solidFill>
          <a:ln w="12700">
            <a:solidFill>
              <a:srgbClr val="0B2218"/>
            </a:solidFill>
            <a:prstDash val="solid"/>
          </a:ln>
        </p:spPr>
      </p:sp>
      <p:sp>
        <p:nvSpPr>
          <p:cNvPr id="43" name="Text 41"/>
          <p:cNvSpPr/>
          <p:nvPr/>
        </p:nvSpPr>
        <p:spPr>
          <a:xfrm>
            <a:off x="6172200" y="2395728"/>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08</a:t>
            </a:r>
            <a:endParaRPr lang="en-US" sz="900" dirty="0"/>
          </a:p>
        </p:txBody>
      </p:sp>
      <p:sp>
        <p:nvSpPr>
          <p:cNvPr id="44" name="Text 42"/>
          <p:cNvSpPr/>
          <p:nvPr/>
        </p:nvSpPr>
        <p:spPr>
          <a:xfrm>
            <a:off x="6611112" y="2286000"/>
            <a:ext cx="2286000" cy="329184"/>
          </a:xfrm>
          <a:prstGeom prst="rect">
            <a:avLst/>
          </a:prstGeom>
          <a:noFill/>
          <a:ln/>
        </p:spPr>
        <p:txBody>
          <a:bodyPr wrap="square" lIns="0" tIns="0" rIns="0" bIns="0" rtlCol="0" anchor="ctr"/>
          <a:lstStyle/>
          <a:p>
            <a:pPr indent="0" marL="0">
              <a:buNone/>
            </a:pPr>
            <a:r>
              <a:rPr lang="en-US" sz="1050" b="1" dirty="0">
                <a:solidFill>
                  <a:srgbClr val="0B2218"/>
                </a:solidFill>
                <a:latin typeface="Calibri" pitchFamily="34" charset="0"/>
                <a:ea typeface="Calibri" pitchFamily="34" charset="-122"/>
                <a:cs typeface="Calibri" pitchFamily="34" charset="-120"/>
              </a:rPr>
              <a:t>Splitting, Selecting and Weighting Cases</a:t>
            </a:r>
            <a:endParaRPr lang="en-US" sz="1050" dirty="0"/>
          </a:p>
        </p:txBody>
      </p:sp>
      <p:sp>
        <p:nvSpPr>
          <p:cNvPr id="45" name="Text 43"/>
          <p:cNvSpPr/>
          <p:nvPr/>
        </p:nvSpPr>
        <p:spPr>
          <a:xfrm>
            <a:off x="6611112" y="2651760"/>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Split File, Select Cases, Weight Cases commands</a:t>
            </a:r>
            <a:endParaRPr lang="en-US" sz="900" dirty="0"/>
          </a:p>
        </p:txBody>
      </p:sp>
      <p:sp>
        <p:nvSpPr>
          <p:cNvPr id="46" name="Shape 44"/>
          <p:cNvSpPr/>
          <p:nvPr/>
        </p:nvSpPr>
        <p:spPr>
          <a:xfrm>
            <a:off x="6080760" y="3163824"/>
            <a:ext cx="2880360" cy="877824"/>
          </a:xfrm>
          <a:prstGeom prst="roundRect">
            <a:avLst>
              <a:gd name="adj" fmla="val 7292"/>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47" name="Shape 45"/>
          <p:cNvSpPr/>
          <p:nvPr/>
        </p:nvSpPr>
        <p:spPr>
          <a:xfrm>
            <a:off x="6172200" y="3383280"/>
            <a:ext cx="347472" cy="347472"/>
          </a:xfrm>
          <a:prstGeom prst="roundRect">
            <a:avLst>
              <a:gd name="adj" fmla="val 13158"/>
            </a:avLst>
          </a:prstGeom>
          <a:solidFill>
            <a:srgbClr val="0B2218"/>
          </a:solidFill>
          <a:ln w="12700">
            <a:solidFill>
              <a:srgbClr val="0B2218"/>
            </a:solidFill>
            <a:prstDash val="solid"/>
          </a:ln>
        </p:spPr>
      </p:sp>
      <p:sp>
        <p:nvSpPr>
          <p:cNvPr id="48" name="Text 46"/>
          <p:cNvSpPr/>
          <p:nvPr/>
        </p:nvSpPr>
        <p:spPr>
          <a:xfrm>
            <a:off x="6172200" y="3383280"/>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09</a:t>
            </a:r>
            <a:endParaRPr lang="en-US" sz="900" dirty="0"/>
          </a:p>
        </p:txBody>
      </p:sp>
      <p:sp>
        <p:nvSpPr>
          <p:cNvPr id="49" name="Text 47"/>
          <p:cNvSpPr/>
          <p:nvPr/>
        </p:nvSpPr>
        <p:spPr>
          <a:xfrm>
            <a:off x="6611112" y="3273552"/>
            <a:ext cx="2286000" cy="329184"/>
          </a:xfrm>
          <a:prstGeom prst="rect">
            <a:avLst/>
          </a:prstGeom>
          <a:noFill/>
          <a:ln/>
        </p:spPr>
        <p:txBody>
          <a:bodyPr wrap="square" lIns="0" tIns="0" rIns="0" bIns="0" rtlCol="0" anchor="ctr"/>
          <a:lstStyle/>
          <a:p>
            <a:pPr indent="0" marL="0">
              <a:buNone/>
            </a:pPr>
            <a:r>
              <a:rPr lang="en-US" sz="1050" b="1" dirty="0">
                <a:solidFill>
                  <a:srgbClr val="0B2218"/>
                </a:solidFill>
                <a:latin typeface="Calibri" pitchFamily="34" charset="0"/>
                <a:ea typeface="Calibri" pitchFamily="34" charset="-122"/>
                <a:cs typeface="Calibri" pitchFamily="34" charset="-120"/>
              </a:rPr>
              <a:t>Syntax and Output</a:t>
            </a:r>
            <a:endParaRPr lang="en-US" sz="1050" dirty="0"/>
          </a:p>
        </p:txBody>
      </p:sp>
      <p:sp>
        <p:nvSpPr>
          <p:cNvPr id="50" name="Text 48"/>
          <p:cNvSpPr/>
          <p:nvPr/>
        </p:nvSpPr>
        <p:spPr>
          <a:xfrm>
            <a:off x="6611112" y="3639312"/>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Documenting the full workflow with syntax</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6858000" y="-914400"/>
            <a:ext cx="4114800" cy="4114800"/>
          </a:xfrm>
          <a:prstGeom prst="ellipse">
            <a:avLst/>
          </a:prstGeom>
          <a:solidFill>
            <a:srgbClr val="0E7C7B">
              <a:alpha val="16000"/>
            </a:srgbClr>
          </a:solidFill>
          <a:ln w="12700">
            <a:solidFill>
              <a:srgbClr val="0E7C7B"/>
            </a:solidFill>
            <a:prstDash val="solid"/>
          </a:ln>
        </p:spPr>
      </p:sp>
      <p:sp>
        <p:nvSpPr>
          <p:cNvPr id="3" name="Text 1"/>
          <p:cNvSpPr/>
          <p:nvPr/>
        </p:nvSpPr>
        <p:spPr>
          <a:xfrm>
            <a:off x="457200" y="201168"/>
            <a:ext cx="8229600" cy="6858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Why Data Management is the Foundation of Everything</a:t>
            </a:r>
            <a:endParaRPr lang="en-US" sz="2700" dirty="0"/>
          </a:p>
        </p:txBody>
      </p:sp>
      <p:sp>
        <p:nvSpPr>
          <p:cNvPr id="4" name="Text 2"/>
          <p:cNvSpPr/>
          <p:nvPr/>
        </p:nvSpPr>
        <p:spPr>
          <a:xfrm>
            <a:off x="457200" y="914400"/>
            <a:ext cx="7315200" cy="347472"/>
          </a:xfrm>
          <a:prstGeom prst="rect">
            <a:avLst/>
          </a:prstGeom>
          <a:noFill/>
          <a:ln/>
        </p:spPr>
        <p:txBody>
          <a:bodyPr wrap="square" lIns="0" tIns="0" rIns="0" bIns="0" rtlCol="0" anchor="ctr"/>
          <a:lstStyle/>
          <a:p>
            <a:pPr indent="0" marL="0">
              <a:buNone/>
            </a:pPr>
            <a:r>
              <a:rPr lang="en-US" sz="1300" i="1" dirty="0">
                <a:solidFill>
                  <a:srgbClr val="A8D4BC"/>
                </a:solidFill>
                <a:latin typeface="Calibri" pitchFamily="34" charset="0"/>
                <a:ea typeface="Calibri" pitchFamily="34" charset="-122"/>
                <a:cs typeface="Calibri" pitchFamily="34" charset="-120"/>
              </a:rPr>
              <a:t>Garbage In, Garbage Out - SPSS cannot fix a poorly managed dataset</a:t>
            </a:r>
            <a:endParaRPr lang="en-US" sz="1300" dirty="0"/>
          </a:p>
        </p:txBody>
      </p:sp>
      <p:sp>
        <p:nvSpPr>
          <p:cNvPr id="5" name="Shape 3"/>
          <p:cNvSpPr/>
          <p:nvPr/>
        </p:nvSpPr>
        <p:spPr>
          <a:xfrm>
            <a:off x="274320" y="1389888"/>
            <a:ext cx="1920240" cy="1536192"/>
          </a:xfrm>
          <a:prstGeom prst="roundRect">
            <a:avLst>
              <a:gd name="adj" fmla="val 5952"/>
            </a:avLst>
          </a:prstGeom>
          <a:solidFill>
            <a:srgbClr val="113322"/>
          </a:solidFill>
          <a:ln w="12700">
            <a:solidFill>
              <a:srgbClr val="27AE60"/>
            </a:solidFill>
            <a:prstDash val="solid"/>
          </a:ln>
        </p:spPr>
      </p:sp>
      <p:sp>
        <p:nvSpPr>
          <p:cNvPr id="6" name="Text 4"/>
          <p:cNvSpPr/>
          <p:nvPr/>
        </p:nvSpPr>
        <p:spPr>
          <a:xfrm>
            <a:off x="274320" y="1463040"/>
            <a:ext cx="1920240" cy="804672"/>
          </a:xfrm>
          <a:prstGeom prst="rect">
            <a:avLst/>
          </a:prstGeom>
          <a:noFill/>
          <a:ln/>
        </p:spPr>
        <p:txBody>
          <a:bodyPr wrap="square" lIns="0" tIns="0" rIns="0" bIns="0" rtlCol="0" anchor="ctr"/>
          <a:lstStyle/>
          <a:p>
            <a:pPr algn="ctr" indent="0" marL="0">
              <a:buNone/>
            </a:pPr>
            <a:r>
              <a:rPr lang="en-US" sz="4000" b="1" dirty="0">
                <a:solidFill>
                  <a:srgbClr val="F0C040"/>
                </a:solidFill>
                <a:latin typeface="Cambria" pitchFamily="34" charset="0"/>
                <a:ea typeface="Cambria" pitchFamily="34" charset="-122"/>
                <a:cs typeface="Cambria" pitchFamily="34" charset="-120"/>
              </a:rPr>
              <a:t>80%</a:t>
            </a:r>
            <a:endParaRPr lang="en-US" sz="4000" dirty="0"/>
          </a:p>
        </p:txBody>
      </p:sp>
      <p:sp>
        <p:nvSpPr>
          <p:cNvPr id="7" name="Text 5"/>
          <p:cNvSpPr/>
          <p:nvPr/>
        </p:nvSpPr>
        <p:spPr>
          <a:xfrm>
            <a:off x="274320" y="2304288"/>
            <a:ext cx="1920240" cy="566928"/>
          </a:xfrm>
          <a:prstGeom prst="rect">
            <a:avLst/>
          </a:prstGeom>
          <a:noFill/>
          <a:ln/>
        </p:spPr>
        <p:txBody>
          <a:bodyPr wrap="square" lIns="0" tIns="0" rIns="0" bIns="0" rtlCol="0" anchor="ctr"/>
          <a:lstStyle/>
          <a:p>
            <a:pPr algn="ctr" indent="0" marL="0">
              <a:buNone/>
            </a:pPr>
            <a:r>
              <a:rPr lang="en-US" sz="950" dirty="0">
                <a:solidFill>
                  <a:srgbClr val="A8D4BC"/>
                </a:solidFill>
                <a:latin typeface="Calibri" pitchFamily="34" charset="0"/>
                <a:ea typeface="Calibri" pitchFamily="34" charset="-122"/>
                <a:cs typeface="Calibri" pitchFamily="34" charset="-120"/>
              </a:rPr>
              <a:t>of analyst time</a:t>
            </a:r>
            <a:endParaRPr lang="en-US" sz="950" dirty="0"/>
          </a:p>
          <a:p>
            <a:pPr algn="ctr" indent="0" marL="0">
              <a:buNone/>
            </a:pPr>
            <a:r>
              <a:rPr lang="en-US" sz="950" dirty="0">
                <a:solidFill>
                  <a:srgbClr val="A8D4BC"/>
                </a:solidFill>
                <a:latin typeface="Calibri" pitchFamily="34" charset="0"/>
                <a:ea typeface="Calibri" pitchFamily="34" charset="-122"/>
                <a:cs typeface="Calibri" pitchFamily="34" charset="-120"/>
              </a:rPr>
              <a:t>spent on data</a:t>
            </a:r>
            <a:endParaRPr lang="en-US" sz="950" dirty="0"/>
          </a:p>
          <a:p>
            <a:pPr algn="ctr" indent="0" marL="0">
              <a:buNone/>
            </a:pPr>
            <a:r>
              <a:rPr lang="en-US" sz="950" dirty="0">
                <a:solidFill>
                  <a:srgbClr val="A8D4BC"/>
                </a:solidFill>
                <a:latin typeface="Calibri" pitchFamily="34" charset="0"/>
                <a:ea typeface="Calibri" pitchFamily="34" charset="-122"/>
                <a:cs typeface="Calibri" pitchFamily="34" charset="-120"/>
              </a:rPr>
              <a:t>cleaning</a:t>
            </a:r>
            <a:endParaRPr lang="en-US" sz="950" dirty="0"/>
          </a:p>
        </p:txBody>
      </p:sp>
      <p:sp>
        <p:nvSpPr>
          <p:cNvPr id="8" name="Shape 6"/>
          <p:cNvSpPr/>
          <p:nvPr/>
        </p:nvSpPr>
        <p:spPr>
          <a:xfrm>
            <a:off x="2450592" y="1389888"/>
            <a:ext cx="1920240" cy="1536192"/>
          </a:xfrm>
          <a:prstGeom prst="roundRect">
            <a:avLst>
              <a:gd name="adj" fmla="val 5952"/>
            </a:avLst>
          </a:prstGeom>
          <a:solidFill>
            <a:srgbClr val="113322"/>
          </a:solidFill>
          <a:ln w="12700">
            <a:solidFill>
              <a:srgbClr val="27AE60"/>
            </a:solidFill>
            <a:prstDash val="solid"/>
          </a:ln>
        </p:spPr>
      </p:sp>
      <p:sp>
        <p:nvSpPr>
          <p:cNvPr id="9" name="Text 7"/>
          <p:cNvSpPr/>
          <p:nvPr/>
        </p:nvSpPr>
        <p:spPr>
          <a:xfrm>
            <a:off x="2450592" y="1463040"/>
            <a:ext cx="1920240" cy="804672"/>
          </a:xfrm>
          <a:prstGeom prst="rect">
            <a:avLst/>
          </a:prstGeom>
          <a:noFill/>
          <a:ln/>
        </p:spPr>
        <p:txBody>
          <a:bodyPr wrap="square" lIns="0" tIns="0" rIns="0" bIns="0" rtlCol="0" anchor="ctr"/>
          <a:lstStyle/>
          <a:p>
            <a:pPr algn="ctr" indent="0" marL="0">
              <a:buNone/>
            </a:pPr>
            <a:r>
              <a:rPr lang="en-US" sz="4000" b="1" dirty="0">
                <a:solidFill>
                  <a:srgbClr val="F0C040"/>
                </a:solidFill>
                <a:latin typeface="Cambria" pitchFamily="34" charset="0"/>
                <a:ea typeface="Cambria" pitchFamily="34" charset="-122"/>
                <a:cs typeface="Cambria" pitchFamily="34" charset="-120"/>
              </a:rPr>
              <a:t>45%</a:t>
            </a:r>
            <a:endParaRPr lang="en-US" sz="4000" dirty="0"/>
          </a:p>
        </p:txBody>
      </p:sp>
      <p:sp>
        <p:nvSpPr>
          <p:cNvPr id="10" name="Text 8"/>
          <p:cNvSpPr/>
          <p:nvPr/>
        </p:nvSpPr>
        <p:spPr>
          <a:xfrm>
            <a:off x="2450592" y="2304288"/>
            <a:ext cx="1920240" cy="566928"/>
          </a:xfrm>
          <a:prstGeom prst="rect">
            <a:avLst/>
          </a:prstGeom>
          <a:noFill/>
          <a:ln/>
        </p:spPr>
        <p:txBody>
          <a:bodyPr wrap="square" lIns="0" tIns="0" rIns="0" bIns="0" rtlCol="0" anchor="ctr"/>
          <a:lstStyle/>
          <a:p>
            <a:pPr algn="ctr" indent="0" marL="0">
              <a:buNone/>
            </a:pPr>
            <a:r>
              <a:rPr lang="en-US" sz="950" dirty="0">
                <a:solidFill>
                  <a:srgbClr val="A8D4BC"/>
                </a:solidFill>
                <a:latin typeface="Calibri" pitchFamily="34" charset="0"/>
                <a:ea typeface="Calibri" pitchFamily="34" charset="-122"/>
                <a:cs typeface="Calibri" pitchFamily="34" charset="-120"/>
              </a:rPr>
              <a:t>of analytics</a:t>
            </a:r>
            <a:endParaRPr lang="en-US" sz="950" dirty="0"/>
          </a:p>
          <a:p>
            <a:pPr algn="ctr" indent="0" marL="0">
              <a:buNone/>
            </a:pPr>
            <a:r>
              <a:rPr lang="en-US" sz="950" dirty="0">
                <a:solidFill>
                  <a:srgbClr val="A8D4BC"/>
                </a:solidFill>
                <a:latin typeface="Calibri" pitchFamily="34" charset="0"/>
                <a:ea typeface="Calibri" pitchFamily="34" charset="-122"/>
                <a:cs typeface="Calibri" pitchFamily="34" charset="-120"/>
              </a:rPr>
              <a:t>projects delayed</a:t>
            </a:r>
            <a:endParaRPr lang="en-US" sz="950" dirty="0"/>
          </a:p>
          <a:p>
            <a:pPr algn="ctr" indent="0" marL="0">
              <a:buNone/>
            </a:pPr>
            <a:r>
              <a:rPr lang="en-US" sz="950" dirty="0">
                <a:solidFill>
                  <a:srgbClr val="A8D4BC"/>
                </a:solidFill>
                <a:latin typeface="Calibri" pitchFamily="34" charset="0"/>
                <a:ea typeface="Calibri" pitchFamily="34" charset="-122"/>
                <a:cs typeface="Calibri" pitchFamily="34" charset="-120"/>
              </a:rPr>
              <a:t>by poor data</a:t>
            </a:r>
            <a:endParaRPr lang="en-US" sz="950" dirty="0"/>
          </a:p>
        </p:txBody>
      </p:sp>
      <p:sp>
        <p:nvSpPr>
          <p:cNvPr id="11" name="Shape 9"/>
          <p:cNvSpPr/>
          <p:nvPr/>
        </p:nvSpPr>
        <p:spPr>
          <a:xfrm>
            <a:off x="4626864" y="1389888"/>
            <a:ext cx="1920240" cy="1536192"/>
          </a:xfrm>
          <a:prstGeom prst="roundRect">
            <a:avLst>
              <a:gd name="adj" fmla="val 5952"/>
            </a:avLst>
          </a:prstGeom>
          <a:solidFill>
            <a:srgbClr val="113322"/>
          </a:solidFill>
          <a:ln w="12700">
            <a:solidFill>
              <a:srgbClr val="27AE60"/>
            </a:solidFill>
            <a:prstDash val="solid"/>
          </a:ln>
        </p:spPr>
      </p:sp>
      <p:sp>
        <p:nvSpPr>
          <p:cNvPr id="12" name="Text 10"/>
          <p:cNvSpPr/>
          <p:nvPr/>
        </p:nvSpPr>
        <p:spPr>
          <a:xfrm>
            <a:off x="4626864" y="1463040"/>
            <a:ext cx="1920240" cy="804672"/>
          </a:xfrm>
          <a:prstGeom prst="rect">
            <a:avLst/>
          </a:prstGeom>
          <a:noFill/>
          <a:ln/>
        </p:spPr>
        <p:txBody>
          <a:bodyPr wrap="square" lIns="0" tIns="0" rIns="0" bIns="0" rtlCol="0" anchor="ctr"/>
          <a:lstStyle/>
          <a:p>
            <a:pPr algn="ctr" indent="0" marL="0">
              <a:buNone/>
            </a:pPr>
            <a:r>
              <a:rPr lang="en-US" sz="4000" b="1" dirty="0">
                <a:solidFill>
                  <a:srgbClr val="F0C040"/>
                </a:solidFill>
                <a:latin typeface="Cambria" pitchFamily="34" charset="0"/>
                <a:ea typeface="Cambria" pitchFamily="34" charset="-122"/>
                <a:cs typeface="Cambria" pitchFamily="34" charset="-120"/>
              </a:rPr>
              <a:t>1 error</a:t>
            </a:r>
            <a:endParaRPr lang="en-US" sz="4000" dirty="0"/>
          </a:p>
        </p:txBody>
      </p:sp>
      <p:sp>
        <p:nvSpPr>
          <p:cNvPr id="13" name="Text 11"/>
          <p:cNvSpPr/>
          <p:nvPr/>
        </p:nvSpPr>
        <p:spPr>
          <a:xfrm>
            <a:off x="4626864" y="2304288"/>
            <a:ext cx="1920240" cy="566928"/>
          </a:xfrm>
          <a:prstGeom prst="rect">
            <a:avLst/>
          </a:prstGeom>
          <a:noFill/>
          <a:ln/>
        </p:spPr>
        <p:txBody>
          <a:bodyPr wrap="square" lIns="0" tIns="0" rIns="0" bIns="0" rtlCol="0" anchor="ctr"/>
          <a:lstStyle/>
          <a:p>
            <a:pPr algn="ctr" indent="0" marL="0">
              <a:buNone/>
            </a:pPr>
            <a:r>
              <a:rPr lang="en-US" sz="950" dirty="0">
                <a:solidFill>
                  <a:srgbClr val="A8D4BC"/>
                </a:solidFill>
                <a:latin typeface="Calibri" pitchFamily="34" charset="0"/>
                <a:ea typeface="Calibri" pitchFamily="34" charset="-122"/>
                <a:cs typeface="Calibri" pitchFamily="34" charset="-120"/>
              </a:rPr>
              <a:t>in data coding</a:t>
            </a:r>
            <a:endParaRPr lang="en-US" sz="950" dirty="0"/>
          </a:p>
          <a:p>
            <a:pPr algn="ctr" indent="0" marL="0">
              <a:buNone/>
            </a:pPr>
            <a:r>
              <a:rPr lang="en-US" sz="950" dirty="0">
                <a:solidFill>
                  <a:srgbClr val="A8D4BC"/>
                </a:solidFill>
                <a:latin typeface="Calibri" pitchFamily="34" charset="0"/>
                <a:ea typeface="Calibri" pitchFamily="34" charset="-122"/>
                <a:cs typeface="Calibri" pitchFamily="34" charset="-120"/>
              </a:rPr>
              <a:t>can invalidate</a:t>
            </a:r>
            <a:endParaRPr lang="en-US" sz="950" dirty="0"/>
          </a:p>
          <a:p>
            <a:pPr algn="ctr" indent="0" marL="0">
              <a:buNone/>
            </a:pPr>
            <a:r>
              <a:rPr lang="en-US" sz="950" dirty="0">
                <a:solidFill>
                  <a:srgbClr val="A8D4BC"/>
                </a:solidFill>
                <a:latin typeface="Calibri" pitchFamily="34" charset="0"/>
                <a:ea typeface="Calibri" pitchFamily="34" charset="-122"/>
                <a:cs typeface="Calibri" pitchFamily="34" charset="-120"/>
              </a:rPr>
              <a:t>an entire study</a:t>
            </a:r>
            <a:endParaRPr lang="en-US" sz="950" dirty="0"/>
          </a:p>
        </p:txBody>
      </p:sp>
      <p:sp>
        <p:nvSpPr>
          <p:cNvPr id="14" name="Shape 12"/>
          <p:cNvSpPr/>
          <p:nvPr/>
        </p:nvSpPr>
        <p:spPr>
          <a:xfrm>
            <a:off x="6803136" y="1389888"/>
            <a:ext cx="1920240" cy="1536192"/>
          </a:xfrm>
          <a:prstGeom prst="roundRect">
            <a:avLst>
              <a:gd name="adj" fmla="val 5952"/>
            </a:avLst>
          </a:prstGeom>
          <a:solidFill>
            <a:srgbClr val="113322"/>
          </a:solidFill>
          <a:ln w="12700">
            <a:solidFill>
              <a:srgbClr val="27AE60"/>
            </a:solidFill>
            <a:prstDash val="solid"/>
          </a:ln>
        </p:spPr>
      </p:sp>
      <p:sp>
        <p:nvSpPr>
          <p:cNvPr id="15" name="Text 13"/>
          <p:cNvSpPr/>
          <p:nvPr/>
        </p:nvSpPr>
        <p:spPr>
          <a:xfrm>
            <a:off x="6803136" y="1463040"/>
            <a:ext cx="1920240" cy="804672"/>
          </a:xfrm>
          <a:prstGeom prst="rect">
            <a:avLst/>
          </a:prstGeom>
          <a:noFill/>
          <a:ln/>
        </p:spPr>
        <p:txBody>
          <a:bodyPr wrap="square" lIns="0" tIns="0" rIns="0" bIns="0" rtlCol="0" anchor="ctr"/>
          <a:lstStyle/>
          <a:p>
            <a:pPr algn="ctr" indent="0" marL="0">
              <a:buNone/>
            </a:pPr>
            <a:r>
              <a:rPr lang="en-US" sz="4000" b="1" dirty="0">
                <a:solidFill>
                  <a:srgbClr val="F0C040"/>
                </a:solidFill>
                <a:latin typeface="Cambria" pitchFamily="34" charset="0"/>
                <a:ea typeface="Cambria" pitchFamily="34" charset="-122"/>
                <a:cs typeface="Cambria" pitchFamily="34" charset="-120"/>
              </a:rPr>
              <a:t>#1</a:t>
            </a:r>
            <a:endParaRPr lang="en-US" sz="4000" dirty="0"/>
          </a:p>
        </p:txBody>
      </p:sp>
      <p:sp>
        <p:nvSpPr>
          <p:cNvPr id="16" name="Text 14"/>
          <p:cNvSpPr/>
          <p:nvPr/>
        </p:nvSpPr>
        <p:spPr>
          <a:xfrm>
            <a:off x="6803136" y="2304288"/>
            <a:ext cx="1920240" cy="566928"/>
          </a:xfrm>
          <a:prstGeom prst="rect">
            <a:avLst/>
          </a:prstGeom>
          <a:noFill/>
          <a:ln/>
        </p:spPr>
        <p:txBody>
          <a:bodyPr wrap="square" lIns="0" tIns="0" rIns="0" bIns="0" rtlCol="0" anchor="ctr"/>
          <a:lstStyle/>
          <a:p>
            <a:pPr algn="ctr" indent="0" marL="0">
              <a:buNone/>
            </a:pPr>
            <a:r>
              <a:rPr lang="en-US" sz="950" dirty="0">
                <a:solidFill>
                  <a:srgbClr val="A8D4BC"/>
                </a:solidFill>
                <a:latin typeface="Calibri" pitchFamily="34" charset="0"/>
                <a:ea typeface="Calibri" pitchFamily="34" charset="-122"/>
                <a:cs typeface="Calibri" pitchFamily="34" charset="-120"/>
              </a:rPr>
              <a:t>cause of wrong</a:t>
            </a:r>
            <a:endParaRPr lang="en-US" sz="950" dirty="0"/>
          </a:p>
          <a:p>
            <a:pPr algn="ctr" indent="0" marL="0">
              <a:buNone/>
            </a:pPr>
            <a:r>
              <a:rPr lang="en-US" sz="950" dirty="0">
                <a:solidFill>
                  <a:srgbClr val="A8D4BC"/>
                </a:solidFill>
                <a:latin typeface="Calibri" pitchFamily="34" charset="0"/>
                <a:ea typeface="Calibri" pitchFamily="34" charset="-122"/>
                <a:cs typeface="Calibri" pitchFamily="34" charset="-120"/>
              </a:rPr>
              <a:t>SPSS results:</a:t>
            </a:r>
            <a:endParaRPr lang="en-US" sz="950" dirty="0"/>
          </a:p>
          <a:p>
            <a:pPr algn="ctr" indent="0" marL="0">
              <a:buNone/>
            </a:pPr>
            <a:r>
              <a:rPr lang="en-US" sz="950" dirty="0">
                <a:solidFill>
                  <a:srgbClr val="A8D4BC"/>
                </a:solidFill>
                <a:latin typeface="Calibri" pitchFamily="34" charset="0"/>
                <a:ea typeface="Calibri" pitchFamily="34" charset="-122"/>
                <a:cs typeface="Calibri" pitchFamily="34" charset="-120"/>
              </a:rPr>
              <a:t>bad data setup</a:t>
            </a:r>
            <a:endParaRPr lang="en-US" sz="950" dirty="0"/>
          </a:p>
        </p:txBody>
      </p:sp>
      <p:sp>
        <p:nvSpPr>
          <p:cNvPr id="17" name="Shape 15"/>
          <p:cNvSpPr/>
          <p:nvPr/>
        </p:nvSpPr>
        <p:spPr>
          <a:xfrm>
            <a:off x="274320" y="3017520"/>
            <a:ext cx="4160520" cy="896112"/>
          </a:xfrm>
          <a:prstGeom prst="roundRect">
            <a:avLst>
              <a:gd name="adj" fmla="val 7143"/>
            </a:avLst>
          </a:prstGeom>
          <a:solidFill>
            <a:srgbClr val="0D2218"/>
          </a:solidFill>
          <a:ln w="12700">
            <a:solidFill>
              <a:srgbClr val="27AE60"/>
            </a:solidFill>
            <a:prstDash val="solid"/>
          </a:ln>
        </p:spPr>
      </p:sp>
      <p:sp>
        <p:nvSpPr>
          <p:cNvPr id="18" name="Shape 16"/>
          <p:cNvSpPr/>
          <p:nvPr/>
        </p:nvSpPr>
        <p:spPr>
          <a:xfrm>
            <a:off x="365760" y="3236976"/>
            <a:ext cx="347472" cy="347472"/>
          </a:xfrm>
          <a:prstGeom prst="ellipse">
            <a:avLst/>
          </a:prstGeom>
          <a:solidFill>
            <a:srgbClr val="27AE60"/>
          </a:solidFill>
          <a:ln w="12700">
            <a:solidFill>
              <a:srgbClr val="27AE60"/>
            </a:solidFill>
            <a:prstDash val="solid"/>
          </a:ln>
        </p:spPr>
      </p:sp>
      <p:sp>
        <p:nvSpPr>
          <p:cNvPr id="19" name="Text 17"/>
          <p:cNvSpPr/>
          <p:nvPr/>
        </p:nvSpPr>
        <p:spPr>
          <a:xfrm>
            <a:off x="804672" y="3108960"/>
            <a:ext cx="3493008" cy="274320"/>
          </a:xfrm>
          <a:prstGeom prst="rect">
            <a:avLst/>
          </a:prstGeom>
          <a:noFill/>
          <a:ln/>
        </p:spPr>
        <p:txBody>
          <a:bodyPr wrap="square" lIns="0" tIns="0" rIns="0" bIns="0" rtlCol="0" anchor="ctr"/>
          <a:lstStyle/>
          <a:p>
            <a:pPr indent="0" marL="0">
              <a:buNone/>
            </a:pPr>
            <a:r>
              <a:rPr lang="en-US" sz="1100" b="1" dirty="0">
                <a:solidFill>
                  <a:srgbClr val="27AE60"/>
                </a:solidFill>
                <a:latin typeface="Calibri" pitchFamily="34" charset="0"/>
                <a:ea typeface="Calibri" pitchFamily="34" charset="-122"/>
                <a:cs typeface="Calibri" pitchFamily="34" charset="-120"/>
              </a:rPr>
              <a:t>Define Before Entering</a:t>
            </a:r>
            <a:endParaRPr lang="en-US" sz="1100" dirty="0"/>
          </a:p>
        </p:txBody>
      </p:sp>
      <p:sp>
        <p:nvSpPr>
          <p:cNvPr id="20" name="Text 18"/>
          <p:cNvSpPr/>
          <p:nvPr/>
        </p:nvSpPr>
        <p:spPr>
          <a:xfrm>
            <a:off x="804672" y="3419856"/>
            <a:ext cx="3493008" cy="438912"/>
          </a:xfrm>
          <a:prstGeom prst="rect">
            <a:avLst/>
          </a:prstGeom>
          <a:noFill/>
          <a:ln/>
        </p:spPr>
        <p:txBody>
          <a:bodyPr wrap="square" lIns="0" tIns="0" rIns="0" bIns="0" rtlCol="0" anchor="ctr"/>
          <a:lstStyle/>
          <a:p>
            <a:pPr indent="0" marL="0">
              <a:buNone/>
            </a:pPr>
            <a:r>
              <a:rPr lang="en-US" sz="900" dirty="0">
                <a:solidFill>
                  <a:srgbClr val="A8D4BC"/>
                </a:solidFill>
                <a:latin typeface="Calibri" pitchFamily="34" charset="0"/>
                <a:ea typeface="Calibri" pitchFamily="34" charset="-122"/>
                <a:cs typeface="Calibri" pitchFamily="34" charset="-120"/>
              </a:rPr>
              <a:t>Always complete Variable View (names, labels, values, measure) BEFORE a single data value is entered. This prevents the most common SPSS errors.</a:t>
            </a:r>
            <a:endParaRPr lang="en-US" sz="900" dirty="0"/>
          </a:p>
        </p:txBody>
      </p:sp>
      <p:sp>
        <p:nvSpPr>
          <p:cNvPr id="21" name="Shape 19"/>
          <p:cNvSpPr/>
          <p:nvPr/>
        </p:nvSpPr>
        <p:spPr>
          <a:xfrm>
            <a:off x="4736592" y="3017520"/>
            <a:ext cx="4160520" cy="896112"/>
          </a:xfrm>
          <a:prstGeom prst="roundRect">
            <a:avLst>
              <a:gd name="adj" fmla="val 7143"/>
            </a:avLst>
          </a:prstGeom>
          <a:solidFill>
            <a:srgbClr val="0D2218"/>
          </a:solidFill>
          <a:ln w="12700">
            <a:solidFill>
              <a:srgbClr val="D4A017"/>
            </a:solidFill>
            <a:prstDash val="solid"/>
          </a:ln>
        </p:spPr>
      </p:sp>
      <p:sp>
        <p:nvSpPr>
          <p:cNvPr id="22" name="Shape 20"/>
          <p:cNvSpPr/>
          <p:nvPr/>
        </p:nvSpPr>
        <p:spPr>
          <a:xfrm>
            <a:off x="4828032" y="3236976"/>
            <a:ext cx="347472" cy="347472"/>
          </a:xfrm>
          <a:prstGeom prst="ellipse">
            <a:avLst/>
          </a:prstGeom>
          <a:solidFill>
            <a:srgbClr val="D4A017"/>
          </a:solidFill>
          <a:ln w="12700">
            <a:solidFill>
              <a:srgbClr val="D4A017"/>
            </a:solidFill>
            <a:prstDash val="solid"/>
          </a:ln>
        </p:spPr>
      </p:sp>
      <p:sp>
        <p:nvSpPr>
          <p:cNvPr id="23" name="Text 21"/>
          <p:cNvSpPr/>
          <p:nvPr/>
        </p:nvSpPr>
        <p:spPr>
          <a:xfrm>
            <a:off x="5266944" y="3108960"/>
            <a:ext cx="3493008" cy="274320"/>
          </a:xfrm>
          <a:prstGeom prst="rect">
            <a:avLst/>
          </a:prstGeom>
          <a:noFill/>
          <a:ln/>
        </p:spPr>
        <p:txBody>
          <a:bodyPr wrap="square" lIns="0" tIns="0" rIns="0" bIns="0" rtlCol="0" anchor="ctr"/>
          <a:lstStyle/>
          <a:p>
            <a:pPr indent="0" marL="0">
              <a:buNone/>
            </a:pPr>
            <a:r>
              <a:rPr lang="en-US" sz="1100" b="1" dirty="0">
                <a:solidFill>
                  <a:srgbClr val="D4A017"/>
                </a:solidFill>
                <a:latin typeface="Calibri" pitchFamily="34" charset="0"/>
                <a:ea typeface="Calibri" pitchFamily="34" charset="-122"/>
                <a:cs typeface="Calibri" pitchFamily="34" charset="-120"/>
              </a:rPr>
              <a:t>Never Overwrite Raw Data</a:t>
            </a:r>
            <a:endParaRPr lang="en-US" sz="1100" dirty="0"/>
          </a:p>
        </p:txBody>
      </p:sp>
      <p:sp>
        <p:nvSpPr>
          <p:cNvPr id="24" name="Text 22"/>
          <p:cNvSpPr/>
          <p:nvPr/>
        </p:nvSpPr>
        <p:spPr>
          <a:xfrm>
            <a:off x="5266944" y="3419856"/>
            <a:ext cx="3493008" cy="438912"/>
          </a:xfrm>
          <a:prstGeom prst="rect">
            <a:avLst/>
          </a:prstGeom>
          <a:noFill/>
          <a:ln/>
        </p:spPr>
        <p:txBody>
          <a:bodyPr wrap="square" lIns="0" tIns="0" rIns="0" bIns="0" rtlCol="0" anchor="ctr"/>
          <a:lstStyle/>
          <a:p>
            <a:pPr indent="0" marL="0">
              <a:buNone/>
            </a:pPr>
            <a:r>
              <a:rPr lang="en-US" sz="900" dirty="0">
                <a:solidFill>
                  <a:srgbClr val="A8D4BC"/>
                </a:solidFill>
                <a:latin typeface="Calibri" pitchFamily="34" charset="0"/>
                <a:ea typeface="Calibri" pitchFamily="34" charset="-122"/>
                <a:cs typeface="Calibri" pitchFamily="34" charset="-120"/>
              </a:rPr>
              <a:t>Always save a copy of the original imported dataset before any transformation, recode, or deletion. Label it: UAC_Survey_RAW_20251015.sav</a:t>
            </a:r>
            <a:endParaRPr lang="en-US" sz="900" dirty="0"/>
          </a:p>
        </p:txBody>
      </p:sp>
      <p:sp>
        <p:nvSpPr>
          <p:cNvPr id="25" name="Shape 23"/>
          <p:cNvSpPr/>
          <p:nvPr/>
        </p:nvSpPr>
        <p:spPr>
          <a:xfrm>
            <a:off x="274320" y="4005072"/>
            <a:ext cx="4160520" cy="896112"/>
          </a:xfrm>
          <a:prstGeom prst="roundRect">
            <a:avLst>
              <a:gd name="adj" fmla="val 7143"/>
            </a:avLst>
          </a:prstGeom>
          <a:solidFill>
            <a:srgbClr val="0D2218"/>
          </a:solidFill>
          <a:ln w="12700">
            <a:solidFill>
              <a:srgbClr val="0E7C7B"/>
            </a:solidFill>
            <a:prstDash val="solid"/>
          </a:ln>
        </p:spPr>
      </p:sp>
      <p:sp>
        <p:nvSpPr>
          <p:cNvPr id="26" name="Shape 24"/>
          <p:cNvSpPr/>
          <p:nvPr/>
        </p:nvSpPr>
        <p:spPr>
          <a:xfrm>
            <a:off x="365760" y="4224528"/>
            <a:ext cx="347472" cy="347472"/>
          </a:xfrm>
          <a:prstGeom prst="ellipse">
            <a:avLst/>
          </a:prstGeom>
          <a:solidFill>
            <a:srgbClr val="0E7C7B"/>
          </a:solidFill>
          <a:ln w="12700">
            <a:solidFill>
              <a:srgbClr val="0E7C7B"/>
            </a:solidFill>
            <a:prstDash val="solid"/>
          </a:ln>
        </p:spPr>
      </p:sp>
      <p:sp>
        <p:nvSpPr>
          <p:cNvPr id="27" name="Text 25"/>
          <p:cNvSpPr/>
          <p:nvPr/>
        </p:nvSpPr>
        <p:spPr>
          <a:xfrm>
            <a:off x="804672" y="4096512"/>
            <a:ext cx="3493008"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Document Every Step</a:t>
            </a:r>
            <a:endParaRPr lang="en-US" sz="1100" dirty="0"/>
          </a:p>
        </p:txBody>
      </p:sp>
      <p:sp>
        <p:nvSpPr>
          <p:cNvPr id="28" name="Text 26"/>
          <p:cNvSpPr/>
          <p:nvPr/>
        </p:nvSpPr>
        <p:spPr>
          <a:xfrm>
            <a:off x="804672" y="4407408"/>
            <a:ext cx="3493008" cy="438912"/>
          </a:xfrm>
          <a:prstGeom prst="rect">
            <a:avLst/>
          </a:prstGeom>
          <a:noFill/>
          <a:ln/>
        </p:spPr>
        <p:txBody>
          <a:bodyPr wrap="square" lIns="0" tIns="0" rIns="0" bIns="0" rtlCol="0" anchor="ctr"/>
          <a:lstStyle/>
          <a:p>
            <a:pPr indent="0" marL="0">
              <a:buNone/>
            </a:pPr>
            <a:r>
              <a:rPr lang="en-US" sz="900" dirty="0">
                <a:solidFill>
                  <a:srgbClr val="A8D4BC"/>
                </a:solidFill>
                <a:latin typeface="Calibri" pitchFamily="34" charset="0"/>
                <a:ea typeface="Calibri" pitchFamily="34" charset="-122"/>
                <a:cs typeface="Calibri" pitchFamily="34" charset="-120"/>
              </a:rPr>
              <a:t>Use SPSS Syntax to record every transformation. Your syntax file IS your data management log. Share it alongside the dataset.</a:t>
            </a:r>
            <a:endParaRPr lang="en-US" sz="900" dirty="0"/>
          </a:p>
        </p:txBody>
      </p:sp>
      <p:sp>
        <p:nvSpPr>
          <p:cNvPr id="29" name="Shape 27"/>
          <p:cNvSpPr/>
          <p:nvPr/>
        </p:nvSpPr>
        <p:spPr>
          <a:xfrm>
            <a:off x="4736592" y="4005072"/>
            <a:ext cx="4160520" cy="896112"/>
          </a:xfrm>
          <a:prstGeom prst="roundRect">
            <a:avLst>
              <a:gd name="adj" fmla="val 7143"/>
            </a:avLst>
          </a:prstGeom>
          <a:solidFill>
            <a:srgbClr val="0D2218"/>
          </a:solidFill>
          <a:ln w="12700">
            <a:solidFill>
              <a:srgbClr val="E67E22"/>
            </a:solidFill>
            <a:prstDash val="solid"/>
          </a:ln>
        </p:spPr>
      </p:sp>
      <p:sp>
        <p:nvSpPr>
          <p:cNvPr id="30" name="Shape 28"/>
          <p:cNvSpPr/>
          <p:nvPr/>
        </p:nvSpPr>
        <p:spPr>
          <a:xfrm>
            <a:off x="4828032" y="4224528"/>
            <a:ext cx="347472" cy="347472"/>
          </a:xfrm>
          <a:prstGeom prst="ellipse">
            <a:avLst/>
          </a:prstGeom>
          <a:solidFill>
            <a:srgbClr val="E67E22"/>
          </a:solidFill>
          <a:ln w="12700">
            <a:solidFill>
              <a:srgbClr val="E67E22"/>
            </a:solidFill>
            <a:prstDash val="solid"/>
          </a:ln>
        </p:spPr>
      </p:sp>
      <p:sp>
        <p:nvSpPr>
          <p:cNvPr id="31" name="Text 29"/>
          <p:cNvSpPr/>
          <p:nvPr/>
        </p:nvSpPr>
        <p:spPr>
          <a:xfrm>
            <a:off x="5266944" y="4096512"/>
            <a:ext cx="3493008" cy="274320"/>
          </a:xfrm>
          <a:prstGeom prst="rect">
            <a:avLst/>
          </a:prstGeom>
          <a:noFill/>
          <a:ln/>
        </p:spPr>
        <p:txBody>
          <a:bodyPr wrap="square" lIns="0" tIns="0" rIns="0" bIns="0" rtlCol="0" anchor="ctr"/>
          <a:lstStyle/>
          <a:p>
            <a:pPr indent="0" marL="0">
              <a:buNone/>
            </a:pPr>
            <a:r>
              <a:rPr lang="en-US" sz="1100" b="1" dirty="0">
                <a:solidFill>
                  <a:srgbClr val="E67E22"/>
                </a:solidFill>
                <a:latin typeface="Calibri" pitchFamily="34" charset="0"/>
                <a:ea typeface="Calibri" pitchFamily="34" charset="-122"/>
                <a:cs typeface="Calibri" pitchFamily="34" charset="-120"/>
              </a:rPr>
              <a:t>Validate Before Analysing</a:t>
            </a:r>
            <a:endParaRPr lang="en-US" sz="1100" dirty="0"/>
          </a:p>
        </p:txBody>
      </p:sp>
      <p:sp>
        <p:nvSpPr>
          <p:cNvPr id="32" name="Text 30"/>
          <p:cNvSpPr/>
          <p:nvPr/>
        </p:nvSpPr>
        <p:spPr>
          <a:xfrm>
            <a:off x="5266944" y="4407408"/>
            <a:ext cx="3493008" cy="438912"/>
          </a:xfrm>
          <a:prstGeom prst="rect">
            <a:avLst/>
          </a:prstGeom>
          <a:noFill/>
          <a:ln/>
        </p:spPr>
        <p:txBody>
          <a:bodyPr wrap="square" lIns="0" tIns="0" rIns="0" bIns="0" rtlCol="0" anchor="ctr"/>
          <a:lstStyle/>
          <a:p>
            <a:pPr indent="0" marL="0">
              <a:buNone/>
            </a:pPr>
            <a:r>
              <a:rPr lang="en-US" sz="900" dirty="0">
                <a:solidFill>
                  <a:srgbClr val="A8D4BC"/>
                </a:solidFill>
                <a:latin typeface="Calibri" pitchFamily="34" charset="0"/>
                <a:ea typeface="Calibri" pitchFamily="34" charset="-122"/>
                <a:cs typeface="Calibri" pitchFamily="34" charset="-120"/>
              </a:rPr>
              <a:t>Run Frequencies on every variable after entry or import. Check for out-of-range values, impossible codes, and unexpected missing data patterns.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6B3C">
              <a:alpha val="18000"/>
            </a:srgbClr>
          </a:solidFill>
          <a:ln w="12700">
            <a:solidFill>
              <a:srgbClr val="1A6B3C"/>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2  |  SECTION 01</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Entering Categorical and Continuous Data</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D4BC"/>
                </a:solidFill>
                <a:latin typeface="Calibri" pitchFamily="34" charset="0"/>
                <a:ea typeface="Calibri" pitchFamily="34" charset="-122"/>
                <a:cs typeface="Calibri" pitchFamily="34" charset="-120"/>
              </a:rPr>
              <a:t>Getting your data into SPSS correctly - the first and most foundational skill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A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218"/>
          </a:solidFill>
          <a:ln w="12700">
            <a:solidFill>
              <a:srgbClr val="0B2218"/>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Entering Categorical and Continuous Data in SPSS</a:t>
            </a:r>
            <a:endParaRPr lang="en-US" sz="2200" dirty="0"/>
          </a:p>
        </p:txBody>
      </p:sp>
      <p:sp>
        <p:nvSpPr>
          <p:cNvPr id="4" name="Shape 2"/>
          <p:cNvSpPr/>
          <p:nvPr/>
        </p:nvSpPr>
        <p:spPr>
          <a:xfrm>
            <a:off x="256032" y="1024128"/>
            <a:ext cx="4160520" cy="3977640"/>
          </a:xfrm>
          <a:prstGeom prst="roundRect">
            <a:avLst>
              <a:gd name="adj" fmla="val 2069"/>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97280"/>
            <a:ext cx="4005072" cy="384048"/>
          </a:xfrm>
          <a:prstGeom prst="roundRect">
            <a:avLst>
              <a:gd name="adj" fmla="val 16667"/>
            </a:avLst>
          </a:prstGeom>
          <a:solidFill>
            <a:srgbClr val="0B2218"/>
          </a:solidFill>
          <a:ln w="12700">
            <a:solidFill>
              <a:srgbClr val="0B2218"/>
            </a:solidFill>
            <a:prstDash val="solid"/>
          </a:ln>
        </p:spPr>
      </p:sp>
      <p:sp>
        <p:nvSpPr>
          <p:cNvPr id="6" name="Text 4"/>
          <p:cNvSpPr/>
          <p:nvPr/>
        </p:nvSpPr>
        <p:spPr>
          <a:xfrm>
            <a:off x="329184" y="1097280"/>
            <a:ext cx="4005072" cy="384048"/>
          </a:xfrm>
          <a:prstGeom prst="rect">
            <a:avLst/>
          </a:prstGeom>
          <a:noFill/>
          <a:ln/>
        </p:spPr>
        <p:txBody>
          <a:bodyPr wrap="square" lIns="0" tIns="0" rIns="0" bIns="0" rtlCol="0" anchor="ctr"/>
          <a:lstStyle/>
          <a:p>
            <a:pPr algn="ctr" indent="0" marL="0">
              <a:buNone/>
            </a:pPr>
            <a:r>
              <a:rPr lang="en-US" sz="1200" b="1" dirty="0">
                <a:solidFill>
                  <a:srgbClr val="F0C040"/>
                </a:solidFill>
                <a:latin typeface="Cambria" pitchFamily="34" charset="0"/>
                <a:ea typeface="Cambria" pitchFamily="34" charset="-122"/>
                <a:cs typeface="Cambria" pitchFamily="34" charset="-120"/>
              </a:rPr>
              <a:t>CATEGORICAL DATA ENTRY</a:t>
            </a:r>
            <a:endParaRPr lang="en-US" sz="1200" dirty="0"/>
          </a:p>
        </p:txBody>
      </p:sp>
      <p:sp>
        <p:nvSpPr>
          <p:cNvPr id="7" name="Text 5"/>
          <p:cNvSpPr/>
          <p:nvPr/>
        </p:nvSpPr>
        <p:spPr>
          <a:xfrm>
            <a:off x="347472" y="1554480"/>
            <a:ext cx="3950208" cy="658368"/>
          </a:xfrm>
          <a:prstGeom prst="rect">
            <a:avLst/>
          </a:prstGeom>
          <a:noFill/>
          <a:ln/>
        </p:spPr>
        <p:txBody>
          <a:bodyPr wrap="square" lIns="0" tIns="0" rIns="0" bIns="0" rtlCol="0" anchor="ctr"/>
          <a:lstStyle/>
          <a:p>
            <a:pPr indent="0" marL="0">
              <a:buNone/>
            </a:pPr>
            <a:r>
              <a:rPr lang="en-US" sz="1000" dirty="0">
                <a:solidFill>
                  <a:srgbClr val="1E3A2E"/>
                </a:solidFill>
                <a:latin typeface="Calibri" pitchFamily="34" charset="0"/>
                <a:ea typeface="Calibri" pitchFamily="34" charset="-122"/>
                <a:cs typeface="Calibri" pitchFamily="34" charset="-120"/>
              </a:rPr>
              <a:t>Categorical data is entered as NUMERIC CODES even though the underlying categories have names (Male, Female, Gala, Semo). The labels are defined in Variable View - Values column.</a:t>
            </a:r>
            <a:endParaRPr lang="en-US" sz="1000" dirty="0"/>
          </a:p>
        </p:txBody>
      </p:sp>
      <p:sp>
        <p:nvSpPr>
          <p:cNvPr id="8" name="Shape 6"/>
          <p:cNvSpPr/>
          <p:nvPr/>
        </p:nvSpPr>
        <p:spPr>
          <a:xfrm>
            <a:off x="347472" y="2267712"/>
            <a:ext cx="713232" cy="256032"/>
          </a:xfrm>
          <a:prstGeom prst="rect">
            <a:avLst/>
          </a:prstGeom>
          <a:solidFill>
            <a:srgbClr val="0B2218"/>
          </a:solidFill>
          <a:ln w="12700">
            <a:solidFill>
              <a:srgbClr val="0B2218"/>
            </a:solidFill>
            <a:prstDash val="solid"/>
          </a:ln>
        </p:spPr>
      </p:sp>
      <p:sp>
        <p:nvSpPr>
          <p:cNvPr id="9" name="Text 7"/>
          <p:cNvSpPr/>
          <p:nvPr/>
        </p:nvSpPr>
        <p:spPr>
          <a:xfrm>
            <a:off x="347472" y="2267712"/>
            <a:ext cx="713232" cy="256032"/>
          </a:xfrm>
          <a:prstGeom prst="rect">
            <a:avLst/>
          </a:prstGeom>
          <a:noFill/>
          <a:ln/>
        </p:spPr>
        <p:txBody>
          <a:bodyPr wrap="square" lIns="0" tIns="0" rIns="0" bIns="0" rtlCol="0" anchor="ctr"/>
          <a:lstStyle/>
          <a:p>
            <a:pPr algn="ctr" indent="0" marL="0">
              <a:buNone/>
            </a:pPr>
            <a:r>
              <a:rPr lang="en-US" sz="800" b="1" dirty="0">
                <a:solidFill>
                  <a:srgbClr val="F0C040"/>
                </a:solidFill>
                <a:latin typeface="Calibri" pitchFamily="34" charset="0"/>
                <a:ea typeface="Calibri" pitchFamily="34" charset="-122"/>
                <a:cs typeface="Calibri" pitchFamily="34" charset="-120"/>
              </a:rPr>
              <a:t>resp_id</a:t>
            </a:r>
            <a:endParaRPr lang="en-US" sz="800" dirty="0"/>
          </a:p>
        </p:txBody>
      </p:sp>
      <p:sp>
        <p:nvSpPr>
          <p:cNvPr id="10" name="Shape 8"/>
          <p:cNvSpPr/>
          <p:nvPr/>
        </p:nvSpPr>
        <p:spPr>
          <a:xfrm>
            <a:off x="1097280" y="2267712"/>
            <a:ext cx="658368" cy="256032"/>
          </a:xfrm>
          <a:prstGeom prst="rect">
            <a:avLst/>
          </a:prstGeom>
          <a:solidFill>
            <a:srgbClr val="0B2218"/>
          </a:solidFill>
          <a:ln w="12700">
            <a:solidFill>
              <a:srgbClr val="0B2218"/>
            </a:solidFill>
            <a:prstDash val="solid"/>
          </a:ln>
        </p:spPr>
      </p:sp>
      <p:sp>
        <p:nvSpPr>
          <p:cNvPr id="11" name="Text 9"/>
          <p:cNvSpPr/>
          <p:nvPr/>
        </p:nvSpPr>
        <p:spPr>
          <a:xfrm>
            <a:off x="1097280" y="2267712"/>
            <a:ext cx="658368" cy="256032"/>
          </a:xfrm>
          <a:prstGeom prst="rect">
            <a:avLst/>
          </a:prstGeom>
          <a:noFill/>
          <a:ln/>
        </p:spPr>
        <p:txBody>
          <a:bodyPr wrap="square" lIns="0" tIns="0" rIns="0" bIns="0" rtlCol="0" anchor="ctr"/>
          <a:lstStyle/>
          <a:p>
            <a:pPr algn="ctr" indent="0" marL="0">
              <a:buNone/>
            </a:pPr>
            <a:r>
              <a:rPr lang="en-US" sz="800" b="1" dirty="0">
                <a:solidFill>
                  <a:srgbClr val="F0C040"/>
                </a:solidFill>
                <a:latin typeface="Calibri" pitchFamily="34" charset="0"/>
                <a:ea typeface="Calibri" pitchFamily="34" charset="-122"/>
                <a:cs typeface="Calibri" pitchFamily="34" charset="-120"/>
              </a:rPr>
              <a:t>gender</a:t>
            </a:r>
            <a:endParaRPr lang="en-US" sz="800" dirty="0"/>
          </a:p>
        </p:txBody>
      </p:sp>
      <p:sp>
        <p:nvSpPr>
          <p:cNvPr id="12" name="Shape 10"/>
          <p:cNvSpPr/>
          <p:nvPr/>
        </p:nvSpPr>
        <p:spPr>
          <a:xfrm>
            <a:off x="1792224" y="2267712"/>
            <a:ext cx="731520" cy="256032"/>
          </a:xfrm>
          <a:prstGeom prst="rect">
            <a:avLst/>
          </a:prstGeom>
          <a:solidFill>
            <a:srgbClr val="0B2218"/>
          </a:solidFill>
          <a:ln w="12700">
            <a:solidFill>
              <a:srgbClr val="0B2218"/>
            </a:solidFill>
            <a:prstDash val="solid"/>
          </a:ln>
        </p:spPr>
      </p:sp>
      <p:sp>
        <p:nvSpPr>
          <p:cNvPr id="13" name="Text 11"/>
          <p:cNvSpPr/>
          <p:nvPr/>
        </p:nvSpPr>
        <p:spPr>
          <a:xfrm>
            <a:off x="1792224" y="2267712"/>
            <a:ext cx="731520" cy="256032"/>
          </a:xfrm>
          <a:prstGeom prst="rect">
            <a:avLst/>
          </a:prstGeom>
          <a:noFill/>
          <a:ln/>
        </p:spPr>
        <p:txBody>
          <a:bodyPr wrap="square" lIns="0" tIns="0" rIns="0" bIns="0" rtlCol="0" anchor="ctr"/>
          <a:lstStyle/>
          <a:p>
            <a:pPr algn="ctr" indent="0" marL="0">
              <a:buNone/>
            </a:pPr>
            <a:r>
              <a:rPr lang="en-US" sz="800" b="1" dirty="0">
                <a:solidFill>
                  <a:srgbClr val="F0C040"/>
                </a:solidFill>
                <a:latin typeface="Calibri" pitchFamily="34" charset="0"/>
                <a:ea typeface="Calibri" pitchFamily="34" charset="-122"/>
                <a:cs typeface="Calibri" pitchFamily="34" charset="-120"/>
              </a:rPr>
              <a:t>education</a:t>
            </a:r>
            <a:endParaRPr lang="en-US" sz="800" dirty="0"/>
          </a:p>
        </p:txBody>
      </p:sp>
      <p:sp>
        <p:nvSpPr>
          <p:cNvPr id="14" name="Shape 12"/>
          <p:cNvSpPr/>
          <p:nvPr/>
        </p:nvSpPr>
        <p:spPr>
          <a:xfrm>
            <a:off x="2560320" y="2267712"/>
            <a:ext cx="859536" cy="256032"/>
          </a:xfrm>
          <a:prstGeom prst="rect">
            <a:avLst/>
          </a:prstGeom>
          <a:solidFill>
            <a:srgbClr val="0B2218"/>
          </a:solidFill>
          <a:ln w="12700">
            <a:solidFill>
              <a:srgbClr val="0B2218"/>
            </a:solidFill>
            <a:prstDash val="solid"/>
          </a:ln>
        </p:spPr>
      </p:sp>
      <p:sp>
        <p:nvSpPr>
          <p:cNvPr id="15" name="Text 13"/>
          <p:cNvSpPr/>
          <p:nvPr/>
        </p:nvSpPr>
        <p:spPr>
          <a:xfrm>
            <a:off x="2560320" y="2267712"/>
            <a:ext cx="859536" cy="256032"/>
          </a:xfrm>
          <a:prstGeom prst="rect">
            <a:avLst/>
          </a:prstGeom>
          <a:noFill/>
          <a:ln/>
        </p:spPr>
        <p:txBody>
          <a:bodyPr wrap="square" lIns="0" tIns="0" rIns="0" bIns="0" rtlCol="0" anchor="ctr"/>
          <a:lstStyle/>
          <a:p>
            <a:pPr algn="ctr" indent="0" marL="0">
              <a:buNone/>
            </a:pPr>
            <a:r>
              <a:rPr lang="en-US" sz="800" b="1" dirty="0">
                <a:solidFill>
                  <a:srgbClr val="F0C040"/>
                </a:solidFill>
                <a:latin typeface="Calibri" pitchFamily="34" charset="0"/>
                <a:ea typeface="Calibri" pitchFamily="34" charset="-122"/>
                <a:cs typeface="Calibri" pitchFamily="34" charset="-120"/>
              </a:rPr>
              <a:t>uac_product</a:t>
            </a:r>
            <a:endParaRPr lang="en-US" sz="800" dirty="0"/>
          </a:p>
        </p:txBody>
      </p:sp>
      <p:sp>
        <p:nvSpPr>
          <p:cNvPr id="16" name="Shape 14"/>
          <p:cNvSpPr/>
          <p:nvPr/>
        </p:nvSpPr>
        <p:spPr>
          <a:xfrm>
            <a:off x="347472" y="2542032"/>
            <a:ext cx="713232" cy="274320"/>
          </a:xfrm>
          <a:prstGeom prst="rect">
            <a:avLst/>
          </a:prstGeom>
          <a:solidFill>
            <a:srgbClr val="EAF4EE"/>
          </a:solidFill>
          <a:ln w="6350">
            <a:solidFill>
              <a:srgbClr val="C8E6D4"/>
            </a:solidFill>
            <a:prstDash val="solid"/>
          </a:ln>
        </p:spPr>
      </p:sp>
      <p:sp>
        <p:nvSpPr>
          <p:cNvPr id="17" name="Text 15"/>
          <p:cNvSpPr/>
          <p:nvPr/>
        </p:nvSpPr>
        <p:spPr>
          <a:xfrm>
            <a:off x="347472" y="2542032"/>
            <a:ext cx="713232"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001</a:t>
            </a:r>
            <a:endParaRPr lang="en-US" sz="900" dirty="0"/>
          </a:p>
        </p:txBody>
      </p:sp>
      <p:sp>
        <p:nvSpPr>
          <p:cNvPr id="18" name="Shape 16"/>
          <p:cNvSpPr/>
          <p:nvPr/>
        </p:nvSpPr>
        <p:spPr>
          <a:xfrm>
            <a:off x="1097280" y="2542032"/>
            <a:ext cx="658368" cy="274320"/>
          </a:xfrm>
          <a:prstGeom prst="rect">
            <a:avLst/>
          </a:prstGeom>
          <a:solidFill>
            <a:srgbClr val="EAF4EE"/>
          </a:solidFill>
          <a:ln w="6350">
            <a:solidFill>
              <a:srgbClr val="C8E6D4"/>
            </a:solidFill>
            <a:prstDash val="solid"/>
          </a:ln>
        </p:spPr>
      </p:sp>
      <p:sp>
        <p:nvSpPr>
          <p:cNvPr id="19" name="Text 17"/>
          <p:cNvSpPr/>
          <p:nvPr/>
        </p:nvSpPr>
        <p:spPr>
          <a:xfrm>
            <a:off x="1097280" y="2542032"/>
            <a:ext cx="658368"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1</a:t>
            </a:r>
            <a:endParaRPr lang="en-US" sz="900" dirty="0"/>
          </a:p>
        </p:txBody>
      </p:sp>
      <p:sp>
        <p:nvSpPr>
          <p:cNvPr id="20" name="Shape 18"/>
          <p:cNvSpPr/>
          <p:nvPr/>
        </p:nvSpPr>
        <p:spPr>
          <a:xfrm>
            <a:off x="1792224" y="2542032"/>
            <a:ext cx="731520" cy="274320"/>
          </a:xfrm>
          <a:prstGeom prst="rect">
            <a:avLst/>
          </a:prstGeom>
          <a:solidFill>
            <a:srgbClr val="EAF4EE"/>
          </a:solidFill>
          <a:ln w="6350">
            <a:solidFill>
              <a:srgbClr val="C8E6D4"/>
            </a:solidFill>
            <a:prstDash val="solid"/>
          </a:ln>
        </p:spPr>
      </p:sp>
      <p:sp>
        <p:nvSpPr>
          <p:cNvPr id="21" name="Text 19"/>
          <p:cNvSpPr/>
          <p:nvPr/>
        </p:nvSpPr>
        <p:spPr>
          <a:xfrm>
            <a:off x="1792224" y="2542032"/>
            <a:ext cx="731520"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3</a:t>
            </a:r>
            <a:endParaRPr lang="en-US" sz="900" dirty="0"/>
          </a:p>
        </p:txBody>
      </p:sp>
      <p:sp>
        <p:nvSpPr>
          <p:cNvPr id="22" name="Shape 20"/>
          <p:cNvSpPr/>
          <p:nvPr/>
        </p:nvSpPr>
        <p:spPr>
          <a:xfrm>
            <a:off x="2560320" y="2542032"/>
            <a:ext cx="859536" cy="274320"/>
          </a:xfrm>
          <a:prstGeom prst="rect">
            <a:avLst/>
          </a:prstGeom>
          <a:solidFill>
            <a:srgbClr val="EAF4EE"/>
          </a:solidFill>
          <a:ln w="6350">
            <a:solidFill>
              <a:srgbClr val="C8E6D4"/>
            </a:solidFill>
            <a:prstDash val="solid"/>
          </a:ln>
        </p:spPr>
      </p:sp>
      <p:sp>
        <p:nvSpPr>
          <p:cNvPr id="23" name="Text 21"/>
          <p:cNvSpPr/>
          <p:nvPr/>
        </p:nvSpPr>
        <p:spPr>
          <a:xfrm>
            <a:off x="2560320" y="2542032"/>
            <a:ext cx="859536"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2</a:t>
            </a:r>
            <a:endParaRPr lang="en-US" sz="900" dirty="0"/>
          </a:p>
        </p:txBody>
      </p:sp>
      <p:sp>
        <p:nvSpPr>
          <p:cNvPr id="24" name="Shape 22"/>
          <p:cNvSpPr/>
          <p:nvPr/>
        </p:nvSpPr>
        <p:spPr>
          <a:xfrm>
            <a:off x="347472" y="2834640"/>
            <a:ext cx="713232" cy="274320"/>
          </a:xfrm>
          <a:prstGeom prst="rect">
            <a:avLst/>
          </a:prstGeom>
          <a:solidFill>
            <a:srgbClr val="FFFFFF"/>
          </a:solidFill>
          <a:ln w="6350">
            <a:solidFill>
              <a:srgbClr val="C8E6D4"/>
            </a:solidFill>
            <a:prstDash val="solid"/>
          </a:ln>
        </p:spPr>
      </p:sp>
      <p:sp>
        <p:nvSpPr>
          <p:cNvPr id="25" name="Text 23"/>
          <p:cNvSpPr/>
          <p:nvPr/>
        </p:nvSpPr>
        <p:spPr>
          <a:xfrm>
            <a:off x="347472" y="2834640"/>
            <a:ext cx="713232"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002</a:t>
            </a:r>
            <a:endParaRPr lang="en-US" sz="900" dirty="0"/>
          </a:p>
        </p:txBody>
      </p:sp>
      <p:sp>
        <p:nvSpPr>
          <p:cNvPr id="26" name="Shape 24"/>
          <p:cNvSpPr/>
          <p:nvPr/>
        </p:nvSpPr>
        <p:spPr>
          <a:xfrm>
            <a:off x="1097280" y="2834640"/>
            <a:ext cx="658368" cy="274320"/>
          </a:xfrm>
          <a:prstGeom prst="rect">
            <a:avLst/>
          </a:prstGeom>
          <a:solidFill>
            <a:srgbClr val="FFFFFF"/>
          </a:solidFill>
          <a:ln w="6350">
            <a:solidFill>
              <a:srgbClr val="C8E6D4"/>
            </a:solidFill>
            <a:prstDash val="solid"/>
          </a:ln>
        </p:spPr>
      </p:sp>
      <p:sp>
        <p:nvSpPr>
          <p:cNvPr id="27" name="Text 25"/>
          <p:cNvSpPr/>
          <p:nvPr/>
        </p:nvSpPr>
        <p:spPr>
          <a:xfrm>
            <a:off x="1097280" y="2834640"/>
            <a:ext cx="658368"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2</a:t>
            </a:r>
            <a:endParaRPr lang="en-US" sz="900" dirty="0"/>
          </a:p>
        </p:txBody>
      </p:sp>
      <p:sp>
        <p:nvSpPr>
          <p:cNvPr id="28" name="Shape 26"/>
          <p:cNvSpPr/>
          <p:nvPr/>
        </p:nvSpPr>
        <p:spPr>
          <a:xfrm>
            <a:off x="1792224" y="2834640"/>
            <a:ext cx="731520" cy="274320"/>
          </a:xfrm>
          <a:prstGeom prst="rect">
            <a:avLst/>
          </a:prstGeom>
          <a:solidFill>
            <a:srgbClr val="FFFFFF"/>
          </a:solidFill>
          <a:ln w="6350">
            <a:solidFill>
              <a:srgbClr val="C8E6D4"/>
            </a:solidFill>
            <a:prstDash val="solid"/>
          </a:ln>
        </p:spPr>
      </p:sp>
      <p:sp>
        <p:nvSpPr>
          <p:cNvPr id="29" name="Text 27"/>
          <p:cNvSpPr/>
          <p:nvPr/>
        </p:nvSpPr>
        <p:spPr>
          <a:xfrm>
            <a:off x="1792224" y="2834640"/>
            <a:ext cx="731520"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4</a:t>
            </a:r>
            <a:endParaRPr lang="en-US" sz="900" dirty="0"/>
          </a:p>
        </p:txBody>
      </p:sp>
      <p:sp>
        <p:nvSpPr>
          <p:cNvPr id="30" name="Shape 28"/>
          <p:cNvSpPr/>
          <p:nvPr/>
        </p:nvSpPr>
        <p:spPr>
          <a:xfrm>
            <a:off x="2560320" y="2834640"/>
            <a:ext cx="859536" cy="274320"/>
          </a:xfrm>
          <a:prstGeom prst="rect">
            <a:avLst/>
          </a:prstGeom>
          <a:solidFill>
            <a:srgbClr val="FFFFFF"/>
          </a:solidFill>
          <a:ln w="6350">
            <a:solidFill>
              <a:srgbClr val="C8E6D4"/>
            </a:solidFill>
            <a:prstDash val="solid"/>
          </a:ln>
        </p:spPr>
      </p:sp>
      <p:sp>
        <p:nvSpPr>
          <p:cNvPr id="31" name="Text 29"/>
          <p:cNvSpPr/>
          <p:nvPr/>
        </p:nvSpPr>
        <p:spPr>
          <a:xfrm>
            <a:off x="2560320" y="2834640"/>
            <a:ext cx="859536"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1</a:t>
            </a:r>
            <a:endParaRPr lang="en-US" sz="900" dirty="0"/>
          </a:p>
        </p:txBody>
      </p:sp>
      <p:sp>
        <p:nvSpPr>
          <p:cNvPr id="32" name="Shape 30"/>
          <p:cNvSpPr/>
          <p:nvPr/>
        </p:nvSpPr>
        <p:spPr>
          <a:xfrm>
            <a:off x="347472" y="3127248"/>
            <a:ext cx="713232" cy="274320"/>
          </a:xfrm>
          <a:prstGeom prst="rect">
            <a:avLst/>
          </a:prstGeom>
          <a:solidFill>
            <a:srgbClr val="EAF4EE"/>
          </a:solidFill>
          <a:ln w="6350">
            <a:solidFill>
              <a:srgbClr val="C8E6D4"/>
            </a:solidFill>
            <a:prstDash val="solid"/>
          </a:ln>
        </p:spPr>
      </p:sp>
      <p:sp>
        <p:nvSpPr>
          <p:cNvPr id="33" name="Text 31"/>
          <p:cNvSpPr/>
          <p:nvPr/>
        </p:nvSpPr>
        <p:spPr>
          <a:xfrm>
            <a:off x="347472" y="3127248"/>
            <a:ext cx="713232"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003</a:t>
            </a:r>
            <a:endParaRPr lang="en-US" sz="900" dirty="0"/>
          </a:p>
        </p:txBody>
      </p:sp>
      <p:sp>
        <p:nvSpPr>
          <p:cNvPr id="34" name="Shape 32"/>
          <p:cNvSpPr/>
          <p:nvPr/>
        </p:nvSpPr>
        <p:spPr>
          <a:xfrm>
            <a:off x="1097280" y="3127248"/>
            <a:ext cx="658368" cy="274320"/>
          </a:xfrm>
          <a:prstGeom prst="rect">
            <a:avLst/>
          </a:prstGeom>
          <a:solidFill>
            <a:srgbClr val="EAF4EE"/>
          </a:solidFill>
          <a:ln w="6350">
            <a:solidFill>
              <a:srgbClr val="C8E6D4"/>
            </a:solidFill>
            <a:prstDash val="solid"/>
          </a:ln>
        </p:spPr>
      </p:sp>
      <p:sp>
        <p:nvSpPr>
          <p:cNvPr id="35" name="Text 33"/>
          <p:cNvSpPr/>
          <p:nvPr/>
        </p:nvSpPr>
        <p:spPr>
          <a:xfrm>
            <a:off x="1097280" y="3127248"/>
            <a:ext cx="658368"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1</a:t>
            </a:r>
            <a:endParaRPr lang="en-US" sz="900" dirty="0"/>
          </a:p>
        </p:txBody>
      </p:sp>
      <p:sp>
        <p:nvSpPr>
          <p:cNvPr id="36" name="Shape 34"/>
          <p:cNvSpPr/>
          <p:nvPr/>
        </p:nvSpPr>
        <p:spPr>
          <a:xfrm>
            <a:off x="1792224" y="3127248"/>
            <a:ext cx="731520" cy="274320"/>
          </a:xfrm>
          <a:prstGeom prst="rect">
            <a:avLst/>
          </a:prstGeom>
          <a:solidFill>
            <a:srgbClr val="EAF4EE"/>
          </a:solidFill>
          <a:ln w="6350">
            <a:solidFill>
              <a:srgbClr val="C8E6D4"/>
            </a:solidFill>
            <a:prstDash val="solid"/>
          </a:ln>
        </p:spPr>
      </p:sp>
      <p:sp>
        <p:nvSpPr>
          <p:cNvPr id="37" name="Text 35"/>
          <p:cNvSpPr/>
          <p:nvPr/>
        </p:nvSpPr>
        <p:spPr>
          <a:xfrm>
            <a:off x="1792224" y="3127248"/>
            <a:ext cx="731520"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2</a:t>
            </a:r>
            <a:endParaRPr lang="en-US" sz="900" dirty="0"/>
          </a:p>
        </p:txBody>
      </p:sp>
      <p:sp>
        <p:nvSpPr>
          <p:cNvPr id="38" name="Shape 36"/>
          <p:cNvSpPr/>
          <p:nvPr/>
        </p:nvSpPr>
        <p:spPr>
          <a:xfrm>
            <a:off x="2560320" y="3127248"/>
            <a:ext cx="859536" cy="274320"/>
          </a:xfrm>
          <a:prstGeom prst="rect">
            <a:avLst/>
          </a:prstGeom>
          <a:solidFill>
            <a:srgbClr val="EAF4EE"/>
          </a:solidFill>
          <a:ln w="6350">
            <a:solidFill>
              <a:srgbClr val="C8E6D4"/>
            </a:solidFill>
            <a:prstDash val="solid"/>
          </a:ln>
        </p:spPr>
      </p:sp>
      <p:sp>
        <p:nvSpPr>
          <p:cNvPr id="39" name="Text 37"/>
          <p:cNvSpPr/>
          <p:nvPr/>
        </p:nvSpPr>
        <p:spPr>
          <a:xfrm>
            <a:off x="2560320" y="3127248"/>
            <a:ext cx="859536"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3</a:t>
            </a:r>
            <a:endParaRPr lang="en-US" sz="900" dirty="0"/>
          </a:p>
        </p:txBody>
      </p:sp>
      <p:sp>
        <p:nvSpPr>
          <p:cNvPr id="40" name="Shape 38"/>
          <p:cNvSpPr/>
          <p:nvPr/>
        </p:nvSpPr>
        <p:spPr>
          <a:xfrm>
            <a:off x="347472" y="3419856"/>
            <a:ext cx="713232" cy="274320"/>
          </a:xfrm>
          <a:prstGeom prst="rect">
            <a:avLst/>
          </a:prstGeom>
          <a:solidFill>
            <a:srgbClr val="FFFFFF"/>
          </a:solidFill>
          <a:ln w="6350">
            <a:solidFill>
              <a:srgbClr val="C8E6D4"/>
            </a:solidFill>
            <a:prstDash val="solid"/>
          </a:ln>
        </p:spPr>
      </p:sp>
      <p:sp>
        <p:nvSpPr>
          <p:cNvPr id="41" name="Text 39"/>
          <p:cNvSpPr/>
          <p:nvPr/>
        </p:nvSpPr>
        <p:spPr>
          <a:xfrm>
            <a:off x="347472" y="3419856"/>
            <a:ext cx="713232"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004</a:t>
            </a:r>
            <a:endParaRPr lang="en-US" sz="900" dirty="0"/>
          </a:p>
        </p:txBody>
      </p:sp>
      <p:sp>
        <p:nvSpPr>
          <p:cNvPr id="42" name="Shape 40"/>
          <p:cNvSpPr/>
          <p:nvPr/>
        </p:nvSpPr>
        <p:spPr>
          <a:xfrm>
            <a:off x="1097280" y="3419856"/>
            <a:ext cx="658368" cy="274320"/>
          </a:xfrm>
          <a:prstGeom prst="rect">
            <a:avLst/>
          </a:prstGeom>
          <a:solidFill>
            <a:srgbClr val="FFFFFF"/>
          </a:solidFill>
          <a:ln w="6350">
            <a:solidFill>
              <a:srgbClr val="C8E6D4"/>
            </a:solidFill>
            <a:prstDash val="solid"/>
          </a:ln>
        </p:spPr>
      </p:sp>
      <p:sp>
        <p:nvSpPr>
          <p:cNvPr id="43" name="Text 41"/>
          <p:cNvSpPr/>
          <p:nvPr/>
        </p:nvSpPr>
        <p:spPr>
          <a:xfrm>
            <a:off x="1097280" y="3419856"/>
            <a:ext cx="658368"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2</a:t>
            </a:r>
            <a:endParaRPr lang="en-US" sz="900" dirty="0"/>
          </a:p>
        </p:txBody>
      </p:sp>
      <p:sp>
        <p:nvSpPr>
          <p:cNvPr id="44" name="Shape 42"/>
          <p:cNvSpPr/>
          <p:nvPr/>
        </p:nvSpPr>
        <p:spPr>
          <a:xfrm>
            <a:off x="1792224" y="3419856"/>
            <a:ext cx="731520" cy="274320"/>
          </a:xfrm>
          <a:prstGeom prst="rect">
            <a:avLst/>
          </a:prstGeom>
          <a:solidFill>
            <a:srgbClr val="FFFFFF"/>
          </a:solidFill>
          <a:ln w="6350">
            <a:solidFill>
              <a:srgbClr val="C8E6D4"/>
            </a:solidFill>
            <a:prstDash val="solid"/>
          </a:ln>
        </p:spPr>
      </p:sp>
      <p:sp>
        <p:nvSpPr>
          <p:cNvPr id="45" name="Text 43"/>
          <p:cNvSpPr/>
          <p:nvPr/>
        </p:nvSpPr>
        <p:spPr>
          <a:xfrm>
            <a:off x="1792224" y="3419856"/>
            <a:ext cx="731520"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5</a:t>
            </a:r>
            <a:endParaRPr lang="en-US" sz="900" dirty="0"/>
          </a:p>
        </p:txBody>
      </p:sp>
      <p:sp>
        <p:nvSpPr>
          <p:cNvPr id="46" name="Shape 44"/>
          <p:cNvSpPr/>
          <p:nvPr/>
        </p:nvSpPr>
        <p:spPr>
          <a:xfrm>
            <a:off x="2560320" y="3419856"/>
            <a:ext cx="859536" cy="274320"/>
          </a:xfrm>
          <a:prstGeom prst="rect">
            <a:avLst/>
          </a:prstGeom>
          <a:solidFill>
            <a:srgbClr val="FFFFFF"/>
          </a:solidFill>
          <a:ln w="6350">
            <a:solidFill>
              <a:srgbClr val="C8E6D4"/>
            </a:solidFill>
            <a:prstDash val="solid"/>
          </a:ln>
        </p:spPr>
      </p:sp>
      <p:sp>
        <p:nvSpPr>
          <p:cNvPr id="47" name="Text 45"/>
          <p:cNvSpPr/>
          <p:nvPr/>
        </p:nvSpPr>
        <p:spPr>
          <a:xfrm>
            <a:off x="2560320" y="3419856"/>
            <a:ext cx="859536"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1</a:t>
            </a:r>
            <a:endParaRPr lang="en-US" sz="900" dirty="0"/>
          </a:p>
        </p:txBody>
      </p:sp>
      <p:sp>
        <p:nvSpPr>
          <p:cNvPr id="48" name="Text 46"/>
          <p:cNvSpPr/>
          <p:nvPr/>
        </p:nvSpPr>
        <p:spPr>
          <a:xfrm>
            <a:off x="347472" y="3767328"/>
            <a:ext cx="3913632" cy="256032"/>
          </a:xfrm>
          <a:prstGeom prst="rect">
            <a:avLst/>
          </a:prstGeom>
          <a:noFill/>
          <a:ln/>
        </p:spPr>
        <p:txBody>
          <a:bodyPr wrap="square" lIns="0" tIns="0" rIns="0" bIns="0" rtlCol="0" anchor="ctr"/>
          <a:lstStyle/>
          <a:p>
            <a:pPr indent="0" marL="0">
              <a:buNone/>
            </a:pPr>
            <a:r>
              <a:rPr lang="en-US" sz="1000" b="1" dirty="0">
                <a:solidFill>
                  <a:srgbClr val="0B2218"/>
                </a:solidFill>
                <a:latin typeface="Calibri" pitchFamily="34" charset="0"/>
                <a:ea typeface="Calibri" pitchFamily="34" charset="-122"/>
                <a:cs typeface="Calibri" pitchFamily="34" charset="-120"/>
              </a:rPr>
              <a:t>With Value Labels active (View &gt; Value Labels):</a:t>
            </a:r>
            <a:endParaRPr lang="en-US" sz="1000" dirty="0"/>
          </a:p>
        </p:txBody>
      </p:sp>
      <p:sp>
        <p:nvSpPr>
          <p:cNvPr id="49" name="Shape 47"/>
          <p:cNvSpPr/>
          <p:nvPr/>
        </p:nvSpPr>
        <p:spPr>
          <a:xfrm>
            <a:off x="347472" y="4041648"/>
            <a:ext cx="713232" cy="219456"/>
          </a:xfrm>
          <a:prstGeom prst="rect">
            <a:avLst/>
          </a:prstGeom>
          <a:solidFill>
            <a:srgbClr val="D5EFE0"/>
          </a:solidFill>
          <a:ln w="6350">
            <a:solidFill>
              <a:srgbClr val="B8DFC8"/>
            </a:solidFill>
            <a:prstDash val="solid"/>
          </a:ln>
        </p:spPr>
      </p:sp>
      <p:sp>
        <p:nvSpPr>
          <p:cNvPr id="50" name="Text 48"/>
          <p:cNvSpPr/>
          <p:nvPr/>
        </p:nvSpPr>
        <p:spPr>
          <a:xfrm>
            <a:off x="347472" y="4041648"/>
            <a:ext cx="713232"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001</a:t>
            </a:r>
            <a:endParaRPr lang="en-US" sz="800" dirty="0"/>
          </a:p>
        </p:txBody>
      </p:sp>
      <p:sp>
        <p:nvSpPr>
          <p:cNvPr id="51" name="Shape 49"/>
          <p:cNvSpPr/>
          <p:nvPr/>
        </p:nvSpPr>
        <p:spPr>
          <a:xfrm>
            <a:off x="1097280" y="4041648"/>
            <a:ext cx="658368" cy="219456"/>
          </a:xfrm>
          <a:prstGeom prst="rect">
            <a:avLst/>
          </a:prstGeom>
          <a:solidFill>
            <a:srgbClr val="D5EFE0"/>
          </a:solidFill>
          <a:ln w="6350">
            <a:solidFill>
              <a:srgbClr val="B8DFC8"/>
            </a:solidFill>
            <a:prstDash val="solid"/>
          </a:ln>
        </p:spPr>
      </p:sp>
      <p:sp>
        <p:nvSpPr>
          <p:cNvPr id="52" name="Text 50"/>
          <p:cNvSpPr/>
          <p:nvPr/>
        </p:nvSpPr>
        <p:spPr>
          <a:xfrm>
            <a:off x="1097280" y="4041648"/>
            <a:ext cx="658368"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Male</a:t>
            </a:r>
            <a:endParaRPr lang="en-US" sz="800" dirty="0"/>
          </a:p>
        </p:txBody>
      </p:sp>
      <p:sp>
        <p:nvSpPr>
          <p:cNvPr id="53" name="Shape 51"/>
          <p:cNvSpPr/>
          <p:nvPr/>
        </p:nvSpPr>
        <p:spPr>
          <a:xfrm>
            <a:off x="1792224" y="4041648"/>
            <a:ext cx="731520" cy="219456"/>
          </a:xfrm>
          <a:prstGeom prst="rect">
            <a:avLst/>
          </a:prstGeom>
          <a:solidFill>
            <a:srgbClr val="D5EFE0"/>
          </a:solidFill>
          <a:ln w="6350">
            <a:solidFill>
              <a:srgbClr val="B8DFC8"/>
            </a:solidFill>
            <a:prstDash val="solid"/>
          </a:ln>
        </p:spPr>
      </p:sp>
      <p:sp>
        <p:nvSpPr>
          <p:cNvPr id="54" name="Text 52"/>
          <p:cNvSpPr/>
          <p:nvPr/>
        </p:nvSpPr>
        <p:spPr>
          <a:xfrm>
            <a:off x="1792224" y="4041648"/>
            <a:ext cx="731520"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OND/NCE</a:t>
            </a:r>
            <a:endParaRPr lang="en-US" sz="800" dirty="0"/>
          </a:p>
        </p:txBody>
      </p:sp>
      <p:sp>
        <p:nvSpPr>
          <p:cNvPr id="55" name="Shape 53"/>
          <p:cNvSpPr/>
          <p:nvPr/>
        </p:nvSpPr>
        <p:spPr>
          <a:xfrm>
            <a:off x="2560320" y="4041648"/>
            <a:ext cx="859536" cy="219456"/>
          </a:xfrm>
          <a:prstGeom prst="rect">
            <a:avLst/>
          </a:prstGeom>
          <a:solidFill>
            <a:srgbClr val="D5EFE0"/>
          </a:solidFill>
          <a:ln w="6350">
            <a:solidFill>
              <a:srgbClr val="B8DFC8"/>
            </a:solidFill>
            <a:prstDash val="solid"/>
          </a:ln>
        </p:spPr>
      </p:sp>
      <p:sp>
        <p:nvSpPr>
          <p:cNvPr id="56" name="Text 54"/>
          <p:cNvSpPr/>
          <p:nvPr/>
        </p:nvSpPr>
        <p:spPr>
          <a:xfrm>
            <a:off x="2560320" y="4041648"/>
            <a:ext cx="859536"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Deli Foods</a:t>
            </a:r>
            <a:endParaRPr lang="en-US" sz="800" dirty="0"/>
          </a:p>
        </p:txBody>
      </p:sp>
      <p:sp>
        <p:nvSpPr>
          <p:cNvPr id="57" name="Shape 55"/>
          <p:cNvSpPr/>
          <p:nvPr/>
        </p:nvSpPr>
        <p:spPr>
          <a:xfrm>
            <a:off x="347472" y="4279392"/>
            <a:ext cx="713232" cy="219456"/>
          </a:xfrm>
          <a:prstGeom prst="rect">
            <a:avLst/>
          </a:prstGeom>
          <a:solidFill>
            <a:srgbClr val="EAF4EE"/>
          </a:solidFill>
          <a:ln w="6350">
            <a:solidFill>
              <a:srgbClr val="B8DFC8"/>
            </a:solidFill>
            <a:prstDash val="solid"/>
          </a:ln>
        </p:spPr>
      </p:sp>
      <p:sp>
        <p:nvSpPr>
          <p:cNvPr id="58" name="Text 56"/>
          <p:cNvSpPr/>
          <p:nvPr/>
        </p:nvSpPr>
        <p:spPr>
          <a:xfrm>
            <a:off x="347472" y="4279392"/>
            <a:ext cx="713232"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002</a:t>
            </a:r>
            <a:endParaRPr lang="en-US" sz="800" dirty="0"/>
          </a:p>
        </p:txBody>
      </p:sp>
      <p:sp>
        <p:nvSpPr>
          <p:cNvPr id="59" name="Shape 57"/>
          <p:cNvSpPr/>
          <p:nvPr/>
        </p:nvSpPr>
        <p:spPr>
          <a:xfrm>
            <a:off x="1097280" y="4279392"/>
            <a:ext cx="658368" cy="219456"/>
          </a:xfrm>
          <a:prstGeom prst="rect">
            <a:avLst/>
          </a:prstGeom>
          <a:solidFill>
            <a:srgbClr val="EAF4EE"/>
          </a:solidFill>
          <a:ln w="6350">
            <a:solidFill>
              <a:srgbClr val="B8DFC8"/>
            </a:solidFill>
            <a:prstDash val="solid"/>
          </a:ln>
        </p:spPr>
      </p:sp>
      <p:sp>
        <p:nvSpPr>
          <p:cNvPr id="60" name="Text 58"/>
          <p:cNvSpPr/>
          <p:nvPr/>
        </p:nvSpPr>
        <p:spPr>
          <a:xfrm>
            <a:off x="1097280" y="4279392"/>
            <a:ext cx="658368"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Female</a:t>
            </a:r>
            <a:endParaRPr lang="en-US" sz="800" dirty="0"/>
          </a:p>
        </p:txBody>
      </p:sp>
      <p:sp>
        <p:nvSpPr>
          <p:cNvPr id="61" name="Shape 59"/>
          <p:cNvSpPr/>
          <p:nvPr/>
        </p:nvSpPr>
        <p:spPr>
          <a:xfrm>
            <a:off x="1792224" y="4279392"/>
            <a:ext cx="731520" cy="219456"/>
          </a:xfrm>
          <a:prstGeom prst="rect">
            <a:avLst/>
          </a:prstGeom>
          <a:solidFill>
            <a:srgbClr val="EAF4EE"/>
          </a:solidFill>
          <a:ln w="6350">
            <a:solidFill>
              <a:srgbClr val="B8DFC8"/>
            </a:solidFill>
            <a:prstDash val="solid"/>
          </a:ln>
        </p:spPr>
      </p:sp>
      <p:sp>
        <p:nvSpPr>
          <p:cNvPr id="62" name="Text 60"/>
          <p:cNvSpPr/>
          <p:nvPr/>
        </p:nvSpPr>
        <p:spPr>
          <a:xfrm>
            <a:off x="1792224" y="4279392"/>
            <a:ext cx="731520"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BSc/HND</a:t>
            </a:r>
            <a:endParaRPr lang="en-US" sz="800" dirty="0"/>
          </a:p>
        </p:txBody>
      </p:sp>
      <p:sp>
        <p:nvSpPr>
          <p:cNvPr id="63" name="Shape 61"/>
          <p:cNvSpPr/>
          <p:nvPr/>
        </p:nvSpPr>
        <p:spPr>
          <a:xfrm>
            <a:off x="2560320" y="4279392"/>
            <a:ext cx="859536" cy="219456"/>
          </a:xfrm>
          <a:prstGeom prst="rect">
            <a:avLst/>
          </a:prstGeom>
          <a:solidFill>
            <a:srgbClr val="EAF4EE"/>
          </a:solidFill>
          <a:ln w="6350">
            <a:solidFill>
              <a:srgbClr val="B8DFC8"/>
            </a:solidFill>
            <a:prstDash val="solid"/>
          </a:ln>
        </p:spPr>
      </p:sp>
      <p:sp>
        <p:nvSpPr>
          <p:cNvPr id="64" name="Text 62"/>
          <p:cNvSpPr/>
          <p:nvPr/>
        </p:nvSpPr>
        <p:spPr>
          <a:xfrm>
            <a:off x="2560320" y="4279392"/>
            <a:ext cx="859536"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Gala</a:t>
            </a:r>
            <a:endParaRPr lang="en-US" sz="800" dirty="0"/>
          </a:p>
        </p:txBody>
      </p:sp>
      <p:sp>
        <p:nvSpPr>
          <p:cNvPr id="65" name="Shape 63"/>
          <p:cNvSpPr/>
          <p:nvPr/>
        </p:nvSpPr>
        <p:spPr>
          <a:xfrm>
            <a:off x="347472" y="4517136"/>
            <a:ext cx="713232" cy="219456"/>
          </a:xfrm>
          <a:prstGeom prst="rect">
            <a:avLst/>
          </a:prstGeom>
          <a:solidFill>
            <a:srgbClr val="D5EFE0"/>
          </a:solidFill>
          <a:ln w="6350">
            <a:solidFill>
              <a:srgbClr val="B8DFC8"/>
            </a:solidFill>
            <a:prstDash val="solid"/>
          </a:ln>
        </p:spPr>
      </p:sp>
      <p:sp>
        <p:nvSpPr>
          <p:cNvPr id="66" name="Text 64"/>
          <p:cNvSpPr/>
          <p:nvPr/>
        </p:nvSpPr>
        <p:spPr>
          <a:xfrm>
            <a:off x="347472" y="4517136"/>
            <a:ext cx="713232"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003</a:t>
            </a:r>
            <a:endParaRPr lang="en-US" sz="800" dirty="0"/>
          </a:p>
        </p:txBody>
      </p:sp>
      <p:sp>
        <p:nvSpPr>
          <p:cNvPr id="67" name="Shape 65"/>
          <p:cNvSpPr/>
          <p:nvPr/>
        </p:nvSpPr>
        <p:spPr>
          <a:xfrm>
            <a:off x="1097280" y="4517136"/>
            <a:ext cx="658368" cy="219456"/>
          </a:xfrm>
          <a:prstGeom prst="rect">
            <a:avLst/>
          </a:prstGeom>
          <a:solidFill>
            <a:srgbClr val="D5EFE0"/>
          </a:solidFill>
          <a:ln w="6350">
            <a:solidFill>
              <a:srgbClr val="B8DFC8"/>
            </a:solidFill>
            <a:prstDash val="solid"/>
          </a:ln>
        </p:spPr>
      </p:sp>
      <p:sp>
        <p:nvSpPr>
          <p:cNvPr id="68" name="Text 66"/>
          <p:cNvSpPr/>
          <p:nvPr/>
        </p:nvSpPr>
        <p:spPr>
          <a:xfrm>
            <a:off x="1097280" y="4517136"/>
            <a:ext cx="658368"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Male</a:t>
            </a:r>
            <a:endParaRPr lang="en-US" sz="800" dirty="0"/>
          </a:p>
        </p:txBody>
      </p:sp>
      <p:sp>
        <p:nvSpPr>
          <p:cNvPr id="69" name="Shape 67"/>
          <p:cNvSpPr/>
          <p:nvPr/>
        </p:nvSpPr>
        <p:spPr>
          <a:xfrm>
            <a:off x="1792224" y="4517136"/>
            <a:ext cx="731520" cy="219456"/>
          </a:xfrm>
          <a:prstGeom prst="rect">
            <a:avLst/>
          </a:prstGeom>
          <a:solidFill>
            <a:srgbClr val="D5EFE0"/>
          </a:solidFill>
          <a:ln w="6350">
            <a:solidFill>
              <a:srgbClr val="B8DFC8"/>
            </a:solidFill>
            <a:prstDash val="solid"/>
          </a:ln>
        </p:spPr>
      </p:sp>
      <p:sp>
        <p:nvSpPr>
          <p:cNvPr id="70" name="Text 68"/>
          <p:cNvSpPr/>
          <p:nvPr/>
        </p:nvSpPr>
        <p:spPr>
          <a:xfrm>
            <a:off x="1792224" y="4517136"/>
            <a:ext cx="731520"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Secondary</a:t>
            </a:r>
            <a:endParaRPr lang="en-US" sz="800" dirty="0"/>
          </a:p>
        </p:txBody>
      </p:sp>
      <p:sp>
        <p:nvSpPr>
          <p:cNvPr id="71" name="Shape 69"/>
          <p:cNvSpPr/>
          <p:nvPr/>
        </p:nvSpPr>
        <p:spPr>
          <a:xfrm>
            <a:off x="2560320" y="4517136"/>
            <a:ext cx="859536" cy="219456"/>
          </a:xfrm>
          <a:prstGeom prst="rect">
            <a:avLst/>
          </a:prstGeom>
          <a:solidFill>
            <a:srgbClr val="D5EFE0"/>
          </a:solidFill>
          <a:ln w="6350">
            <a:solidFill>
              <a:srgbClr val="B8DFC8"/>
            </a:solidFill>
            <a:prstDash val="solid"/>
          </a:ln>
        </p:spPr>
      </p:sp>
      <p:sp>
        <p:nvSpPr>
          <p:cNvPr id="72" name="Text 70"/>
          <p:cNvSpPr/>
          <p:nvPr/>
        </p:nvSpPr>
        <p:spPr>
          <a:xfrm>
            <a:off x="2560320" y="4517136"/>
            <a:ext cx="859536"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Mr. Biggs</a:t>
            </a:r>
            <a:endParaRPr lang="en-US" sz="800" dirty="0"/>
          </a:p>
        </p:txBody>
      </p:sp>
      <p:sp>
        <p:nvSpPr>
          <p:cNvPr id="73" name="Shape 71"/>
          <p:cNvSpPr/>
          <p:nvPr/>
        </p:nvSpPr>
        <p:spPr>
          <a:xfrm>
            <a:off x="347472" y="4754880"/>
            <a:ext cx="713232" cy="219456"/>
          </a:xfrm>
          <a:prstGeom prst="rect">
            <a:avLst/>
          </a:prstGeom>
          <a:solidFill>
            <a:srgbClr val="EAF4EE"/>
          </a:solidFill>
          <a:ln w="6350">
            <a:solidFill>
              <a:srgbClr val="B8DFC8"/>
            </a:solidFill>
            <a:prstDash val="solid"/>
          </a:ln>
        </p:spPr>
      </p:sp>
      <p:sp>
        <p:nvSpPr>
          <p:cNvPr id="74" name="Text 72"/>
          <p:cNvSpPr/>
          <p:nvPr/>
        </p:nvSpPr>
        <p:spPr>
          <a:xfrm>
            <a:off x="347472" y="4754880"/>
            <a:ext cx="713232"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004</a:t>
            </a:r>
            <a:endParaRPr lang="en-US" sz="800" dirty="0"/>
          </a:p>
        </p:txBody>
      </p:sp>
      <p:sp>
        <p:nvSpPr>
          <p:cNvPr id="75" name="Shape 73"/>
          <p:cNvSpPr/>
          <p:nvPr/>
        </p:nvSpPr>
        <p:spPr>
          <a:xfrm>
            <a:off x="1097280" y="4754880"/>
            <a:ext cx="658368" cy="219456"/>
          </a:xfrm>
          <a:prstGeom prst="rect">
            <a:avLst/>
          </a:prstGeom>
          <a:solidFill>
            <a:srgbClr val="EAF4EE"/>
          </a:solidFill>
          <a:ln w="6350">
            <a:solidFill>
              <a:srgbClr val="B8DFC8"/>
            </a:solidFill>
            <a:prstDash val="solid"/>
          </a:ln>
        </p:spPr>
      </p:sp>
      <p:sp>
        <p:nvSpPr>
          <p:cNvPr id="76" name="Text 74"/>
          <p:cNvSpPr/>
          <p:nvPr/>
        </p:nvSpPr>
        <p:spPr>
          <a:xfrm>
            <a:off x="1097280" y="4754880"/>
            <a:ext cx="658368"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Female</a:t>
            </a:r>
            <a:endParaRPr lang="en-US" sz="800" dirty="0"/>
          </a:p>
        </p:txBody>
      </p:sp>
      <p:sp>
        <p:nvSpPr>
          <p:cNvPr id="77" name="Shape 75"/>
          <p:cNvSpPr/>
          <p:nvPr/>
        </p:nvSpPr>
        <p:spPr>
          <a:xfrm>
            <a:off x="1792224" y="4754880"/>
            <a:ext cx="731520" cy="219456"/>
          </a:xfrm>
          <a:prstGeom prst="rect">
            <a:avLst/>
          </a:prstGeom>
          <a:solidFill>
            <a:srgbClr val="EAF4EE"/>
          </a:solidFill>
          <a:ln w="6350">
            <a:solidFill>
              <a:srgbClr val="B8DFC8"/>
            </a:solidFill>
            <a:prstDash val="solid"/>
          </a:ln>
        </p:spPr>
      </p:sp>
      <p:sp>
        <p:nvSpPr>
          <p:cNvPr id="78" name="Text 76"/>
          <p:cNvSpPr/>
          <p:nvPr/>
        </p:nvSpPr>
        <p:spPr>
          <a:xfrm>
            <a:off x="1792224" y="4754880"/>
            <a:ext cx="731520"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Masters</a:t>
            </a:r>
            <a:endParaRPr lang="en-US" sz="800" dirty="0"/>
          </a:p>
        </p:txBody>
      </p:sp>
      <p:sp>
        <p:nvSpPr>
          <p:cNvPr id="79" name="Shape 77"/>
          <p:cNvSpPr/>
          <p:nvPr/>
        </p:nvSpPr>
        <p:spPr>
          <a:xfrm>
            <a:off x="2560320" y="4754880"/>
            <a:ext cx="859536" cy="219456"/>
          </a:xfrm>
          <a:prstGeom prst="rect">
            <a:avLst/>
          </a:prstGeom>
          <a:solidFill>
            <a:srgbClr val="EAF4EE"/>
          </a:solidFill>
          <a:ln w="6350">
            <a:solidFill>
              <a:srgbClr val="B8DFC8"/>
            </a:solidFill>
            <a:prstDash val="solid"/>
          </a:ln>
        </p:spPr>
      </p:sp>
      <p:sp>
        <p:nvSpPr>
          <p:cNvPr id="80" name="Text 78"/>
          <p:cNvSpPr/>
          <p:nvPr/>
        </p:nvSpPr>
        <p:spPr>
          <a:xfrm>
            <a:off x="2560320" y="4754880"/>
            <a:ext cx="859536"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Gala</a:t>
            </a:r>
            <a:endParaRPr lang="en-US" sz="800" dirty="0"/>
          </a:p>
        </p:txBody>
      </p:sp>
      <p:sp>
        <p:nvSpPr>
          <p:cNvPr id="81" name="Shape 79"/>
          <p:cNvSpPr/>
          <p:nvPr/>
        </p:nvSpPr>
        <p:spPr>
          <a:xfrm>
            <a:off x="4681728" y="1024128"/>
            <a:ext cx="4160520" cy="3977640"/>
          </a:xfrm>
          <a:prstGeom prst="roundRect">
            <a:avLst>
              <a:gd name="adj" fmla="val 2069"/>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82" name="Shape 80"/>
          <p:cNvSpPr/>
          <p:nvPr/>
        </p:nvSpPr>
        <p:spPr>
          <a:xfrm>
            <a:off x="4754880" y="1097280"/>
            <a:ext cx="4005072" cy="384048"/>
          </a:xfrm>
          <a:prstGeom prst="roundRect">
            <a:avLst>
              <a:gd name="adj" fmla="val 16667"/>
            </a:avLst>
          </a:prstGeom>
          <a:solidFill>
            <a:srgbClr val="1A6B3C"/>
          </a:solidFill>
          <a:ln w="12700">
            <a:solidFill>
              <a:srgbClr val="1A6B3C"/>
            </a:solidFill>
            <a:prstDash val="solid"/>
          </a:ln>
        </p:spPr>
      </p:sp>
      <p:sp>
        <p:nvSpPr>
          <p:cNvPr id="83" name="Text 81"/>
          <p:cNvSpPr/>
          <p:nvPr/>
        </p:nvSpPr>
        <p:spPr>
          <a:xfrm>
            <a:off x="4754880" y="1097280"/>
            <a:ext cx="400507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CONTINUOUS DATA ENTRY</a:t>
            </a:r>
            <a:endParaRPr lang="en-US" sz="1200" dirty="0"/>
          </a:p>
        </p:txBody>
      </p:sp>
      <p:sp>
        <p:nvSpPr>
          <p:cNvPr id="84" name="Text 82"/>
          <p:cNvSpPr/>
          <p:nvPr/>
        </p:nvSpPr>
        <p:spPr>
          <a:xfrm>
            <a:off x="4773168" y="1554480"/>
            <a:ext cx="3950208" cy="658368"/>
          </a:xfrm>
          <a:prstGeom prst="rect">
            <a:avLst/>
          </a:prstGeom>
          <a:noFill/>
          <a:ln/>
        </p:spPr>
        <p:txBody>
          <a:bodyPr wrap="square" lIns="0" tIns="0" rIns="0" bIns="0" rtlCol="0" anchor="ctr"/>
          <a:lstStyle/>
          <a:p>
            <a:pPr indent="0" marL="0">
              <a:buNone/>
            </a:pPr>
            <a:r>
              <a:rPr lang="en-US" sz="1000" dirty="0">
                <a:solidFill>
                  <a:srgbClr val="1E3A2E"/>
                </a:solidFill>
                <a:latin typeface="Calibri" pitchFamily="34" charset="0"/>
                <a:ea typeface="Calibri" pitchFamily="34" charset="-122"/>
                <a:cs typeface="Calibri" pitchFamily="34" charset="-120"/>
              </a:rPr>
              <a:t>Continuous (Scale) data is entered as ACTUAL numeric values - real numbers with decimals if applicable. No value label mapping needed. SPSS performs arithmetic directly on these values.</a:t>
            </a:r>
            <a:endParaRPr lang="en-US" sz="1000" dirty="0"/>
          </a:p>
        </p:txBody>
      </p:sp>
      <p:sp>
        <p:nvSpPr>
          <p:cNvPr id="85" name="Shape 83"/>
          <p:cNvSpPr/>
          <p:nvPr/>
        </p:nvSpPr>
        <p:spPr>
          <a:xfrm>
            <a:off x="4773168" y="2267712"/>
            <a:ext cx="585216" cy="256032"/>
          </a:xfrm>
          <a:prstGeom prst="rect">
            <a:avLst/>
          </a:prstGeom>
          <a:solidFill>
            <a:srgbClr val="1A6B3C"/>
          </a:solidFill>
          <a:ln w="12700">
            <a:solidFill>
              <a:srgbClr val="1A6B3C"/>
            </a:solidFill>
            <a:prstDash val="solid"/>
          </a:ln>
        </p:spPr>
      </p:sp>
      <p:sp>
        <p:nvSpPr>
          <p:cNvPr id="86" name="Text 84"/>
          <p:cNvSpPr/>
          <p:nvPr/>
        </p:nvSpPr>
        <p:spPr>
          <a:xfrm>
            <a:off x="4773168" y="2267712"/>
            <a:ext cx="585216"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resp_id</a:t>
            </a:r>
            <a:endParaRPr lang="en-US" sz="800" dirty="0"/>
          </a:p>
        </p:txBody>
      </p:sp>
      <p:sp>
        <p:nvSpPr>
          <p:cNvPr id="87" name="Shape 85"/>
          <p:cNvSpPr/>
          <p:nvPr/>
        </p:nvSpPr>
        <p:spPr>
          <a:xfrm>
            <a:off x="5394960" y="2267712"/>
            <a:ext cx="676656" cy="256032"/>
          </a:xfrm>
          <a:prstGeom prst="rect">
            <a:avLst/>
          </a:prstGeom>
          <a:solidFill>
            <a:srgbClr val="1A6B3C"/>
          </a:solidFill>
          <a:ln w="12700">
            <a:solidFill>
              <a:srgbClr val="1A6B3C"/>
            </a:solidFill>
            <a:prstDash val="solid"/>
          </a:ln>
        </p:spPr>
      </p:sp>
      <p:sp>
        <p:nvSpPr>
          <p:cNvPr id="88" name="Text 86"/>
          <p:cNvSpPr/>
          <p:nvPr/>
        </p:nvSpPr>
        <p:spPr>
          <a:xfrm>
            <a:off x="5394960" y="2267712"/>
            <a:ext cx="676656"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age</a:t>
            </a:r>
            <a:endParaRPr lang="en-US" sz="800" dirty="0"/>
          </a:p>
        </p:txBody>
      </p:sp>
      <p:sp>
        <p:nvSpPr>
          <p:cNvPr id="89" name="Shape 87"/>
          <p:cNvSpPr/>
          <p:nvPr/>
        </p:nvSpPr>
        <p:spPr>
          <a:xfrm>
            <a:off x="6108192" y="2267712"/>
            <a:ext cx="969264" cy="256032"/>
          </a:xfrm>
          <a:prstGeom prst="rect">
            <a:avLst/>
          </a:prstGeom>
          <a:solidFill>
            <a:srgbClr val="1A6B3C"/>
          </a:solidFill>
          <a:ln w="12700">
            <a:solidFill>
              <a:srgbClr val="1A6B3C"/>
            </a:solidFill>
            <a:prstDash val="solid"/>
          </a:ln>
        </p:spPr>
      </p:sp>
      <p:sp>
        <p:nvSpPr>
          <p:cNvPr id="90" name="Text 88"/>
          <p:cNvSpPr/>
          <p:nvPr/>
        </p:nvSpPr>
        <p:spPr>
          <a:xfrm>
            <a:off x="6108192" y="2267712"/>
            <a:ext cx="969264"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monthly_salary</a:t>
            </a:r>
            <a:endParaRPr lang="en-US" sz="800" dirty="0"/>
          </a:p>
        </p:txBody>
      </p:sp>
      <p:sp>
        <p:nvSpPr>
          <p:cNvPr id="91" name="Shape 89"/>
          <p:cNvSpPr/>
          <p:nvPr/>
        </p:nvSpPr>
        <p:spPr>
          <a:xfrm>
            <a:off x="7114032" y="2267712"/>
            <a:ext cx="786384" cy="256032"/>
          </a:xfrm>
          <a:prstGeom prst="rect">
            <a:avLst/>
          </a:prstGeom>
          <a:solidFill>
            <a:srgbClr val="1A6B3C"/>
          </a:solidFill>
          <a:ln w="12700">
            <a:solidFill>
              <a:srgbClr val="1A6B3C"/>
            </a:solidFill>
            <a:prstDash val="solid"/>
          </a:ln>
        </p:spPr>
      </p:sp>
      <p:sp>
        <p:nvSpPr>
          <p:cNvPr id="92" name="Text 90"/>
          <p:cNvSpPr/>
          <p:nvPr/>
        </p:nvSpPr>
        <p:spPr>
          <a:xfrm>
            <a:off x="7114032" y="2267712"/>
            <a:ext cx="786384"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satisfaction</a:t>
            </a:r>
            <a:endParaRPr lang="en-US" sz="800" dirty="0"/>
          </a:p>
        </p:txBody>
      </p:sp>
      <p:sp>
        <p:nvSpPr>
          <p:cNvPr id="93" name="Shape 91"/>
          <p:cNvSpPr/>
          <p:nvPr/>
        </p:nvSpPr>
        <p:spPr>
          <a:xfrm>
            <a:off x="4773168" y="2542032"/>
            <a:ext cx="585216" cy="274320"/>
          </a:xfrm>
          <a:prstGeom prst="rect">
            <a:avLst/>
          </a:prstGeom>
          <a:solidFill>
            <a:srgbClr val="EAF4EE"/>
          </a:solidFill>
          <a:ln w="6350">
            <a:solidFill>
              <a:srgbClr val="C8E6D4"/>
            </a:solidFill>
            <a:prstDash val="solid"/>
          </a:ln>
        </p:spPr>
      </p:sp>
      <p:sp>
        <p:nvSpPr>
          <p:cNvPr id="94" name="Text 92"/>
          <p:cNvSpPr/>
          <p:nvPr/>
        </p:nvSpPr>
        <p:spPr>
          <a:xfrm>
            <a:off x="4773168" y="2542032"/>
            <a:ext cx="585216"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001</a:t>
            </a:r>
            <a:endParaRPr lang="en-US" sz="900" dirty="0"/>
          </a:p>
        </p:txBody>
      </p:sp>
      <p:sp>
        <p:nvSpPr>
          <p:cNvPr id="95" name="Shape 93"/>
          <p:cNvSpPr/>
          <p:nvPr/>
        </p:nvSpPr>
        <p:spPr>
          <a:xfrm>
            <a:off x="5394960" y="2542032"/>
            <a:ext cx="676656" cy="274320"/>
          </a:xfrm>
          <a:prstGeom prst="rect">
            <a:avLst/>
          </a:prstGeom>
          <a:solidFill>
            <a:srgbClr val="EAF4EE"/>
          </a:solidFill>
          <a:ln w="6350">
            <a:solidFill>
              <a:srgbClr val="C8E6D4"/>
            </a:solidFill>
            <a:prstDash val="solid"/>
          </a:ln>
        </p:spPr>
      </p:sp>
      <p:sp>
        <p:nvSpPr>
          <p:cNvPr id="96" name="Text 94"/>
          <p:cNvSpPr/>
          <p:nvPr/>
        </p:nvSpPr>
        <p:spPr>
          <a:xfrm>
            <a:off x="5394960" y="2542032"/>
            <a:ext cx="676656"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34</a:t>
            </a:r>
            <a:endParaRPr lang="en-US" sz="900" dirty="0"/>
          </a:p>
        </p:txBody>
      </p:sp>
      <p:sp>
        <p:nvSpPr>
          <p:cNvPr id="97" name="Shape 95"/>
          <p:cNvSpPr/>
          <p:nvPr/>
        </p:nvSpPr>
        <p:spPr>
          <a:xfrm>
            <a:off x="6108192" y="2542032"/>
            <a:ext cx="969264" cy="274320"/>
          </a:xfrm>
          <a:prstGeom prst="rect">
            <a:avLst/>
          </a:prstGeom>
          <a:solidFill>
            <a:srgbClr val="EAF4EE"/>
          </a:solidFill>
          <a:ln w="6350">
            <a:solidFill>
              <a:srgbClr val="C8E6D4"/>
            </a:solidFill>
            <a:prstDash val="solid"/>
          </a:ln>
        </p:spPr>
      </p:sp>
      <p:sp>
        <p:nvSpPr>
          <p:cNvPr id="98" name="Text 96"/>
          <p:cNvSpPr/>
          <p:nvPr/>
        </p:nvSpPr>
        <p:spPr>
          <a:xfrm>
            <a:off x="6108192" y="2542032"/>
            <a:ext cx="969264"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185000</a:t>
            </a:r>
            <a:endParaRPr lang="en-US" sz="900" dirty="0"/>
          </a:p>
        </p:txBody>
      </p:sp>
      <p:sp>
        <p:nvSpPr>
          <p:cNvPr id="99" name="Shape 97"/>
          <p:cNvSpPr/>
          <p:nvPr/>
        </p:nvSpPr>
        <p:spPr>
          <a:xfrm>
            <a:off x="7114032" y="2542032"/>
            <a:ext cx="786384" cy="274320"/>
          </a:xfrm>
          <a:prstGeom prst="rect">
            <a:avLst/>
          </a:prstGeom>
          <a:solidFill>
            <a:srgbClr val="EAF4EE"/>
          </a:solidFill>
          <a:ln w="6350">
            <a:solidFill>
              <a:srgbClr val="C8E6D4"/>
            </a:solidFill>
            <a:prstDash val="solid"/>
          </a:ln>
        </p:spPr>
      </p:sp>
      <p:sp>
        <p:nvSpPr>
          <p:cNvPr id="100" name="Text 98"/>
          <p:cNvSpPr/>
          <p:nvPr/>
        </p:nvSpPr>
        <p:spPr>
          <a:xfrm>
            <a:off x="7114032" y="2542032"/>
            <a:ext cx="786384"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7.2</a:t>
            </a:r>
            <a:endParaRPr lang="en-US" sz="900" dirty="0"/>
          </a:p>
        </p:txBody>
      </p:sp>
      <p:sp>
        <p:nvSpPr>
          <p:cNvPr id="101" name="Shape 99"/>
          <p:cNvSpPr/>
          <p:nvPr/>
        </p:nvSpPr>
        <p:spPr>
          <a:xfrm>
            <a:off x="4773168" y="2834640"/>
            <a:ext cx="585216" cy="274320"/>
          </a:xfrm>
          <a:prstGeom prst="rect">
            <a:avLst/>
          </a:prstGeom>
          <a:solidFill>
            <a:srgbClr val="FFFFFF"/>
          </a:solidFill>
          <a:ln w="6350">
            <a:solidFill>
              <a:srgbClr val="C8E6D4"/>
            </a:solidFill>
            <a:prstDash val="solid"/>
          </a:ln>
        </p:spPr>
      </p:sp>
      <p:sp>
        <p:nvSpPr>
          <p:cNvPr id="102" name="Text 100"/>
          <p:cNvSpPr/>
          <p:nvPr/>
        </p:nvSpPr>
        <p:spPr>
          <a:xfrm>
            <a:off x="4773168" y="2834640"/>
            <a:ext cx="585216"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002</a:t>
            </a:r>
            <a:endParaRPr lang="en-US" sz="900" dirty="0"/>
          </a:p>
        </p:txBody>
      </p:sp>
      <p:sp>
        <p:nvSpPr>
          <p:cNvPr id="103" name="Shape 101"/>
          <p:cNvSpPr/>
          <p:nvPr/>
        </p:nvSpPr>
        <p:spPr>
          <a:xfrm>
            <a:off x="5394960" y="2834640"/>
            <a:ext cx="676656" cy="274320"/>
          </a:xfrm>
          <a:prstGeom prst="rect">
            <a:avLst/>
          </a:prstGeom>
          <a:solidFill>
            <a:srgbClr val="FFFFFF"/>
          </a:solidFill>
          <a:ln w="6350">
            <a:solidFill>
              <a:srgbClr val="C8E6D4"/>
            </a:solidFill>
            <a:prstDash val="solid"/>
          </a:ln>
        </p:spPr>
      </p:sp>
      <p:sp>
        <p:nvSpPr>
          <p:cNvPr id="104" name="Text 102"/>
          <p:cNvSpPr/>
          <p:nvPr/>
        </p:nvSpPr>
        <p:spPr>
          <a:xfrm>
            <a:off x="5394960" y="2834640"/>
            <a:ext cx="676656"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28</a:t>
            </a:r>
            <a:endParaRPr lang="en-US" sz="900" dirty="0"/>
          </a:p>
        </p:txBody>
      </p:sp>
      <p:sp>
        <p:nvSpPr>
          <p:cNvPr id="105" name="Shape 103"/>
          <p:cNvSpPr/>
          <p:nvPr/>
        </p:nvSpPr>
        <p:spPr>
          <a:xfrm>
            <a:off x="6108192" y="2834640"/>
            <a:ext cx="969264" cy="274320"/>
          </a:xfrm>
          <a:prstGeom prst="rect">
            <a:avLst/>
          </a:prstGeom>
          <a:solidFill>
            <a:srgbClr val="FFFFFF"/>
          </a:solidFill>
          <a:ln w="6350">
            <a:solidFill>
              <a:srgbClr val="C8E6D4"/>
            </a:solidFill>
            <a:prstDash val="solid"/>
          </a:ln>
        </p:spPr>
      </p:sp>
      <p:sp>
        <p:nvSpPr>
          <p:cNvPr id="106" name="Text 104"/>
          <p:cNvSpPr/>
          <p:nvPr/>
        </p:nvSpPr>
        <p:spPr>
          <a:xfrm>
            <a:off x="6108192" y="2834640"/>
            <a:ext cx="969264"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142000</a:t>
            </a:r>
            <a:endParaRPr lang="en-US" sz="900" dirty="0"/>
          </a:p>
        </p:txBody>
      </p:sp>
      <p:sp>
        <p:nvSpPr>
          <p:cNvPr id="107" name="Shape 105"/>
          <p:cNvSpPr/>
          <p:nvPr/>
        </p:nvSpPr>
        <p:spPr>
          <a:xfrm>
            <a:off x="7114032" y="2834640"/>
            <a:ext cx="786384" cy="274320"/>
          </a:xfrm>
          <a:prstGeom prst="rect">
            <a:avLst/>
          </a:prstGeom>
          <a:solidFill>
            <a:srgbClr val="FFFFFF"/>
          </a:solidFill>
          <a:ln w="6350">
            <a:solidFill>
              <a:srgbClr val="C8E6D4"/>
            </a:solidFill>
            <a:prstDash val="solid"/>
          </a:ln>
        </p:spPr>
      </p:sp>
      <p:sp>
        <p:nvSpPr>
          <p:cNvPr id="108" name="Text 106"/>
          <p:cNvSpPr/>
          <p:nvPr/>
        </p:nvSpPr>
        <p:spPr>
          <a:xfrm>
            <a:off x="7114032" y="2834640"/>
            <a:ext cx="786384"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8.5</a:t>
            </a:r>
            <a:endParaRPr lang="en-US" sz="900" dirty="0"/>
          </a:p>
        </p:txBody>
      </p:sp>
      <p:sp>
        <p:nvSpPr>
          <p:cNvPr id="109" name="Shape 107"/>
          <p:cNvSpPr/>
          <p:nvPr/>
        </p:nvSpPr>
        <p:spPr>
          <a:xfrm>
            <a:off x="4773168" y="3127248"/>
            <a:ext cx="585216" cy="274320"/>
          </a:xfrm>
          <a:prstGeom prst="rect">
            <a:avLst/>
          </a:prstGeom>
          <a:solidFill>
            <a:srgbClr val="EAF4EE"/>
          </a:solidFill>
          <a:ln w="6350">
            <a:solidFill>
              <a:srgbClr val="C8E6D4"/>
            </a:solidFill>
            <a:prstDash val="solid"/>
          </a:ln>
        </p:spPr>
      </p:sp>
      <p:sp>
        <p:nvSpPr>
          <p:cNvPr id="110" name="Text 108"/>
          <p:cNvSpPr/>
          <p:nvPr/>
        </p:nvSpPr>
        <p:spPr>
          <a:xfrm>
            <a:off x="4773168" y="3127248"/>
            <a:ext cx="585216"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003</a:t>
            </a:r>
            <a:endParaRPr lang="en-US" sz="900" dirty="0"/>
          </a:p>
        </p:txBody>
      </p:sp>
      <p:sp>
        <p:nvSpPr>
          <p:cNvPr id="111" name="Shape 109"/>
          <p:cNvSpPr/>
          <p:nvPr/>
        </p:nvSpPr>
        <p:spPr>
          <a:xfrm>
            <a:off x="5394960" y="3127248"/>
            <a:ext cx="676656" cy="274320"/>
          </a:xfrm>
          <a:prstGeom prst="rect">
            <a:avLst/>
          </a:prstGeom>
          <a:solidFill>
            <a:srgbClr val="EAF4EE"/>
          </a:solidFill>
          <a:ln w="6350">
            <a:solidFill>
              <a:srgbClr val="C8E6D4"/>
            </a:solidFill>
            <a:prstDash val="solid"/>
          </a:ln>
        </p:spPr>
      </p:sp>
      <p:sp>
        <p:nvSpPr>
          <p:cNvPr id="112" name="Text 110"/>
          <p:cNvSpPr/>
          <p:nvPr/>
        </p:nvSpPr>
        <p:spPr>
          <a:xfrm>
            <a:off x="5394960" y="3127248"/>
            <a:ext cx="676656"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45</a:t>
            </a:r>
            <a:endParaRPr lang="en-US" sz="900" dirty="0"/>
          </a:p>
        </p:txBody>
      </p:sp>
      <p:sp>
        <p:nvSpPr>
          <p:cNvPr id="113" name="Shape 111"/>
          <p:cNvSpPr/>
          <p:nvPr/>
        </p:nvSpPr>
        <p:spPr>
          <a:xfrm>
            <a:off x="6108192" y="3127248"/>
            <a:ext cx="969264" cy="274320"/>
          </a:xfrm>
          <a:prstGeom prst="rect">
            <a:avLst/>
          </a:prstGeom>
          <a:solidFill>
            <a:srgbClr val="EAF4EE"/>
          </a:solidFill>
          <a:ln w="6350">
            <a:solidFill>
              <a:srgbClr val="C8E6D4"/>
            </a:solidFill>
            <a:prstDash val="solid"/>
          </a:ln>
        </p:spPr>
      </p:sp>
      <p:sp>
        <p:nvSpPr>
          <p:cNvPr id="114" name="Text 112"/>
          <p:cNvSpPr/>
          <p:nvPr/>
        </p:nvSpPr>
        <p:spPr>
          <a:xfrm>
            <a:off x="6108192" y="3127248"/>
            <a:ext cx="969264"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310000</a:t>
            </a:r>
            <a:endParaRPr lang="en-US" sz="900" dirty="0"/>
          </a:p>
        </p:txBody>
      </p:sp>
      <p:sp>
        <p:nvSpPr>
          <p:cNvPr id="115" name="Shape 113"/>
          <p:cNvSpPr/>
          <p:nvPr/>
        </p:nvSpPr>
        <p:spPr>
          <a:xfrm>
            <a:off x="7114032" y="3127248"/>
            <a:ext cx="786384" cy="274320"/>
          </a:xfrm>
          <a:prstGeom prst="rect">
            <a:avLst/>
          </a:prstGeom>
          <a:solidFill>
            <a:srgbClr val="EAF4EE"/>
          </a:solidFill>
          <a:ln w="6350">
            <a:solidFill>
              <a:srgbClr val="C8E6D4"/>
            </a:solidFill>
            <a:prstDash val="solid"/>
          </a:ln>
        </p:spPr>
      </p:sp>
      <p:sp>
        <p:nvSpPr>
          <p:cNvPr id="116" name="Text 114"/>
          <p:cNvSpPr/>
          <p:nvPr/>
        </p:nvSpPr>
        <p:spPr>
          <a:xfrm>
            <a:off x="7114032" y="3127248"/>
            <a:ext cx="786384"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6.0</a:t>
            </a:r>
            <a:endParaRPr lang="en-US" sz="900" dirty="0"/>
          </a:p>
        </p:txBody>
      </p:sp>
      <p:sp>
        <p:nvSpPr>
          <p:cNvPr id="117" name="Shape 115"/>
          <p:cNvSpPr/>
          <p:nvPr/>
        </p:nvSpPr>
        <p:spPr>
          <a:xfrm>
            <a:off x="4773168" y="3419856"/>
            <a:ext cx="585216" cy="274320"/>
          </a:xfrm>
          <a:prstGeom prst="rect">
            <a:avLst/>
          </a:prstGeom>
          <a:solidFill>
            <a:srgbClr val="FFFFFF"/>
          </a:solidFill>
          <a:ln w="6350">
            <a:solidFill>
              <a:srgbClr val="C8E6D4"/>
            </a:solidFill>
            <a:prstDash val="solid"/>
          </a:ln>
        </p:spPr>
      </p:sp>
      <p:sp>
        <p:nvSpPr>
          <p:cNvPr id="118" name="Text 116"/>
          <p:cNvSpPr/>
          <p:nvPr/>
        </p:nvSpPr>
        <p:spPr>
          <a:xfrm>
            <a:off x="4773168" y="3419856"/>
            <a:ext cx="585216"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004</a:t>
            </a:r>
            <a:endParaRPr lang="en-US" sz="900" dirty="0"/>
          </a:p>
        </p:txBody>
      </p:sp>
      <p:sp>
        <p:nvSpPr>
          <p:cNvPr id="119" name="Shape 117"/>
          <p:cNvSpPr/>
          <p:nvPr/>
        </p:nvSpPr>
        <p:spPr>
          <a:xfrm>
            <a:off x="5394960" y="3419856"/>
            <a:ext cx="676656" cy="274320"/>
          </a:xfrm>
          <a:prstGeom prst="rect">
            <a:avLst/>
          </a:prstGeom>
          <a:solidFill>
            <a:srgbClr val="FFFFFF"/>
          </a:solidFill>
          <a:ln w="6350">
            <a:solidFill>
              <a:srgbClr val="C8E6D4"/>
            </a:solidFill>
            <a:prstDash val="solid"/>
          </a:ln>
        </p:spPr>
      </p:sp>
      <p:sp>
        <p:nvSpPr>
          <p:cNvPr id="120" name="Text 118"/>
          <p:cNvSpPr/>
          <p:nvPr/>
        </p:nvSpPr>
        <p:spPr>
          <a:xfrm>
            <a:off x="5394960" y="3419856"/>
            <a:ext cx="676656"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52</a:t>
            </a:r>
            <a:endParaRPr lang="en-US" sz="900" dirty="0"/>
          </a:p>
        </p:txBody>
      </p:sp>
      <p:sp>
        <p:nvSpPr>
          <p:cNvPr id="121" name="Shape 119"/>
          <p:cNvSpPr/>
          <p:nvPr/>
        </p:nvSpPr>
        <p:spPr>
          <a:xfrm>
            <a:off x="6108192" y="3419856"/>
            <a:ext cx="969264" cy="274320"/>
          </a:xfrm>
          <a:prstGeom prst="rect">
            <a:avLst/>
          </a:prstGeom>
          <a:solidFill>
            <a:srgbClr val="FFFFFF"/>
          </a:solidFill>
          <a:ln w="6350">
            <a:solidFill>
              <a:srgbClr val="C8E6D4"/>
            </a:solidFill>
            <a:prstDash val="solid"/>
          </a:ln>
        </p:spPr>
      </p:sp>
      <p:sp>
        <p:nvSpPr>
          <p:cNvPr id="122" name="Text 120"/>
          <p:cNvSpPr/>
          <p:nvPr/>
        </p:nvSpPr>
        <p:spPr>
          <a:xfrm>
            <a:off x="6108192" y="3419856"/>
            <a:ext cx="969264"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520000</a:t>
            </a:r>
            <a:endParaRPr lang="en-US" sz="900" dirty="0"/>
          </a:p>
        </p:txBody>
      </p:sp>
      <p:sp>
        <p:nvSpPr>
          <p:cNvPr id="123" name="Shape 121"/>
          <p:cNvSpPr/>
          <p:nvPr/>
        </p:nvSpPr>
        <p:spPr>
          <a:xfrm>
            <a:off x="7114032" y="3419856"/>
            <a:ext cx="786384" cy="274320"/>
          </a:xfrm>
          <a:prstGeom prst="rect">
            <a:avLst/>
          </a:prstGeom>
          <a:solidFill>
            <a:srgbClr val="FFFFFF"/>
          </a:solidFill>
          <a:ln w="6350">
            <a:solidFill>
              <a:srgbClr val="C8E6D4"/>
            </a:solidFill>
            <a:prstDash val="solid"/>
          </a:ln>
        </p:spPr>
      </p:sp>
      <p:sp>
        <p:nvSpPr>
          <p:cNvPr id="124" name="Text 122"/>
          <p:cNvSpPr/>
          <p:nvPr/>
        </p:nvSpPr>
        <p:spPr>
          <a:xfrm>
            <a:off x="7114032" y="3419856"/>
            <a:ext cx="786384" cy="274320"/>
          </a:xfrm>
          <a:prstGeom prst="rect">
            <a:avLst/>
          </a:prstGeom>
          <a:noFill/>
          <a:ln/>
        </p:spPr>
        <p:txBody>
          <a:bodyPr wrap="square" lIns="0" tIns="0" rIns="0" bIns="0" rtlCol="0" anchor="ctr"/>
          <a:lstStyle/>
          <a:p>
            <a:pPr algn="ctr" indent="0" marL="0">
              <a:buNone/>
            </a:pPr>
            <a:r>
              <a:rPr lang="en-US" sz="900" dirty="0">
                <a:solidFill>
                  <a:srgbClr val="0B2218"/>
                </a:solidFill>
                <a:latin typeface="Calibri" pitchFamily="34" charset="0"/>
                <a:ea typeface="Calibri" pitchFamily="34" charset="-122"/>
                <a:cs typeface="Calibri" pitchFamily="34" charset="-120"/>
              </a:rPr>
              <a:t>9.1</a:t>
            </a:r>
            <a:endParaRPr lang="en-US" sz="900" dirty="0"/>
          </a:p>
        </p:txBody>
      </p:sp>
      <p:sp>
        <p:nvSpPr>
          <p:cNvPr id="125" name="Shape 123"/>
          <p:cNvSpPr/>
          <p:nvPr/>
        </p:nvSpPr>
        <p:spPr>
          <a:xfrm>
            <a:off x="4754880" y="3794760"/>
            <a:ext cx="54864" cy="256032"/>
          </a:xfrm>
          <a:prstGeom prst="rect">
            <a:avLst/>
          </a:prstGeom>
          <a:solidFill>
            <a:srgbClr val="27AE60"/>
          </a:solidFill>
          <a:ln w="12700">
            <a:solidFill>
              <a:srgbClr val="27AE60"/>
            </a:solidFill>
            <a:prstDash val="solid"/>
          </a:ln>
        </p:spPr>
      </p:sp>
      <p:sp>
        <p:nvSpPr>
          <p:cNvPr id="126" name="Text 124"/>
          <p:cNvSpPr/>
          <p:nvPr/>
        </p:nvSpPr>
        <p:spPr>
          <a:xfrm>
            <a:off x="4882896" y="3767328"/>
            <a:ext cx="1261872" cy="256032"/>
          </a:xfrm>
          <a:prstGeom prst="rect">
            <a:avLst/>
          </a:prstGeom>
          <a:noFill/>
          <a:ln/>
        </p:spPr>
        <p:txBody>
          <a:bodyPr wrap="square" lIns="0" tIns="0" rIns="0" bIns="0" rtlCol="0" anchor="ctr"/>
          <a:lstStyle/>
          <a:p>
            <a:pPr indent="0" marL="0">
              <a:buNone/>
            </a:pPr>
            <a:r>
              <a:rPr lang="en-US" sz="950" b="1" dirty="0">
                <a:solidFill>
                  <a:srgbClr val="1A6B3C"/>
                </a:solidFill>
                <a:latin typeface="Calibri" pitchFamily="34" charset="0"/>
                <a:ea typeface="Calibri" pitchFamily="34" charset="-122"/>
                <a:cs typeface="Calibri" pitchFamily="34" charset="-120"/>
              </a:rPr>
              <a:t>Numeric variables: </a:t>
            </a:r>
            <a:endParaRPr lang="en-US" sz="950" dirty="0"/>
          </a:p>
        </p:txBody>
      </p:sp>
      <p:sp>
        <p:nvSpPr>
          <p:cNvPr id="127" name="Text 125"/>
          <p:cNvSpPr/>
          <p:nvPr/>
        </p:nvSpPr>
        <p:spPr>
          <a:xfrm>
            <a:off x="6181344" y="3767328"/>
            <a:ext cx="2542032" cy="256032"/>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Enter numbers only. Do not type 'N185,000' - just 185000</a:t>
            </a:r>
            <a:endParaRPr lang="en-US" sz="900" dirty="0"/>
          </a:p>
        </p:txBody>
      </p:sp>
      <p:sp>
        <p:nvSpPr>
          <p:cNvPr id="128" name="Shape 126"/>
          <p:cNvSpPr/>
          <p:nvPr/>
        </p:nvSpPr>
        <p:spPr>
          <a:xfrm>
            <a:off x="4754880" y="4123944"/>
            <a:ext cx="54864" cy="256032"/>
          </a:xfrm>
          <a:prstGeom prst="rect">
            <a:avLst/>
          </a:prstGeom>
          <a:solidFill>
            <a:srgbClr val="27AE60"/>
          </a:solidFill>
          <a:ln w="12700">
            <a:solidFill>
              <a:srgbClr val="27AE60"/>
            </a:solidFill>
            <a:prstDash val="solid"/>
          </a:ln>
        </p:spPr>
      </p:sp>
      <p:sp>
        <p:nvSpPr>
          <p:cNvPr id="129" name="Text 127"/>
          <p:cNvSpPr/>
          <p:nvPr/>
        </p:nvSpPr>
        <p:spPr>
          <a:xfrm>
            <a:off x="4882896" y="4096512"/>
            <a:ext cx="1261872" cy="256032"/>
          </a:xfrm>
          <a:prstGeom prst="rect">
            <a:avLst/>
          </a:prstGeom>
          <a:noFill/>
          <a:ln/>
        </p:spPr>
        <p:txBody>
          <a:bodyPr wrap="square" lIns="0" tIns="0" rIns="0" bIns="0" rtlCol="0" anchor="ctr"/>
          <a:lstStyle/>
          <a:p>
            <a:pPr indent="0" marL="0">
              <a:buNone/>
            </a:pPr>
            <a:r>
              <a:rPr lang="en-US" sz="950" b="1" dirty="0">
                <a:solidFill>
                  <a:srgbClr val="1A6B3C"/>
                </a:solidFill>
                <a:latin typeface="Calibri" pitchFamily="34" charset="0"/>
                <a:ea typeface="Calibri" pitchFamily="34" charset="-122"/>
                <a:cs typeface="Calibri" pitchFamily="34" charset="-120"/>
              </a:rPr>
              <a:t>Decimal places: </a:t>
            </a:r>
            <a:endParaRPr lang="en-US" sz="950" dirty="0"/>
          </a:p>
        </p:txBody>
      </p:sp>
      <p:sp>
        <p:nvSpPr>
          <p:cNvPr id="130" name="Text 128"/>
          <p:cNvSpPr/>
          <p:nvPr/>
        </p:nvSpPr>
        <p:spPr>
          <a:xfrm>
            <a:off x="6181344" y="4096512"/>
            <a:ext cx="2542032" cy="256032"/>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Set in Variable View (Decimals column). SPSS rounds display.</a:t>
            </a:r>
            <a:endParaRPr lang="en-US" sz="900" dirty="0"/>
          </a:p>
        </p:txBody>
      </p:sp>
      <p:sp>
        <p:nvSpPr>
          <p:cNvPr id="131" name="Shape 129"/>
          <p:cNvSpPr/>
          <p:nvPr/>
        </p:nvSpPr>
        <p:spPr>
          <a:xfrm>
            <a:off x="4754880" y="4453128"/>
            <a:ext cx="54864" cy="256032"/>
          </a:xfrm>
          <a:prstGeom prst="rect">
            <a:avLst/>
          </a:prstGeom>
          <a:solidFill>
            <a:srgbClr val="27AE60"/>
          </a:solidFill>
          <a:ln w="12700">
            <a:solidFill>
              <a:srgbClr val="27AE60"/>
            </a:solidFill>
            <a:prstDash val="solid"/>
          </a:ln>
        </p:spPr>
      </p:sp>
      <p:sp>
        <p:nvSpPr>
          <p:cNvPr id="132" name="Text 130"/>
          <p:cNvSpPr/>
          <p:nvPr/>
        </p:nvSpPr>
        <p:spPr>
          <a:xfrm>
            <a:off x="4882896" y="4425696"/>
            <a:ext cx="1261872" cy="256032"/>
          </a:xfrm>
          <a:prstGeom prst="rect">
            <a:avLst/>
          </a:prstGeom>
          <a:noFill/>
          <a:ln/>
        </p:spPr>
        <p:txBody>
          <a:bodyPr wrap="square" lIns="0" tIns="0" rIns="0" bIns="0" rtlCol="0" anchor="ctr"/>
          <a:lstStyle/>
          <a:p>
            <a:pPr indent="0" marL="0">
              <a:buNone/>
            </a:pPr>
            <a:r>
              <a:rPr lang="en-US" sz="950" b="1" dirty="0">
                <a:solidFill>
                  <a:srgbClr val="1A6B3C"/>
                </a:solidFill>
                <a:latin typeface="Calibri" pitchFamily="34" charset="0"/>
                <a:ea typeface="Calibri" pitchFamily="34" charset="-122"/>
                <a:cs typeface="Calibri" pitchFamily="34" charset="-120"/>
              </a:rPr>
              <a:t>Tab to navigate: </a:t>
            </a:r>
            <a:endParaRPr lang="en-US" sz="950" dirty="0"/>
          </a:p>
        </p:txBody>
      </p:sp>
      <p:sp>
        <p:nvSpPr>
          <p:cNvPr id="133" name="Text 131"/>
          <p:cNvSpPr/>
          <p:nvPr/>
        </p:nvSpPr>
        <p:spPr>
          <a:xfrm>
            <a:off x="6181344" y="4425696"/>
            <a:ext cx="2542032" cy="256032"/>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Press TAB to move right (next variable). ENTER to move down (next case).</a:t>
            </a:r>
            <a:endParaRPr lang="en-US" sz="900" dirty="0"/>
          </a:p>
        </p:txBody>
      </p:sp>
      <p:sp>
        <p:nvSpPr>
          <p:cNvPr id="134" name="Shape 132"/>
          <p:cNvSpPr/>
          <p:nvPr/>
        </p:nvSpPr>
        <p:spPr>
          <a:xfrm>
            <a:off x="4754880" y="4782312"/>
            <a:ext cx="54864" cy="256032"/>
          </a:xfrm>
          <a:prstGeom prst="rect">
            <a:avLst/>
          </a:prstGeom>
          <a:solidFill>
            <a:srgbClr val="27AE60"/>
          </a:solidFill>
          <a:ln w="12700">
            <a:solidFill>
              <a:srgbClr val="27AE60"/>
            </a:solidFill>
            <a:prstDash val="solid"/>
          </a:ln>
        </p:spPr>
      </p:sp>
      <p:sp>
        <p:nvSpPr>
          <p:cNvPr id="135" name="Text 133"/>
          <p:cNvSpPr/>
          <p:nvPr/>
        </p:nvSpPr>
        <p:spPr>
          <a:xfrm>
            <a:off x="4882896" y="4754880"/>
            <a:ext cx="1261872" cy="256032"/>
          </a:xfrm>
          <a:prstGeom prst="rect">
            <a:avLst/>
          </a:prstGeom>
          <a:noFill/>
          <a:ln/>
        </p:spPr>
        <p:txBody>
          <a:bodyPr wrap="square" lIns="0" tIns="0" rIns="0" bIns="0" rtlCol="0" anchor="ctr"/>
          <a:lstStyle/>
          <a:p>
            <a:pPr indent="0" marL="0">
              <a:buNone/>
            </a:pPr>
            <a:r>
              <a:rPr lang="en-US" sz="950" b="1" dirty="0">
                <a:solidFill>
                  <a:srgbClr val="1A6B3C"/>
                </a:solidFill>
                <a:latin typeface="Calibri" pitchFamily="34" charset="0"/>
                <a:ea typeface="Calibri" pitchFamily="34" charset="-122"/>
                <a:cs typeface="Calibri" pitchFamily="34" charset="-120"/>
              </a:rPr>
              <a:t>Missing values: </a:t>
            </a:r>
            <a:endParaRPr lang="en-US" sz="950" dirty="0"/>
          </a:p>
        </p:txBody>
      </p:sp>
      <p:sp>
        <p:nvSpPr>
          <p:cNvPr id="136" name="Text 134"/>
          <p:cNvSpPr/>
          <p:nvPr/>
        </p:nvSpPr>
        <p:spPr>
          <a:xfrm>
            <a:off x="6181344" y="4754880"/>
            <a:ext cx="2542032" cy="256032"/>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Leave blank (system-missing) OR enter your declared missing code (99, -1)</a:t>
            </a:r>
            <a:endParaRPr lang="en-US" sz="900" dirty="0"/>
          </a:p>
        </p:txBody>
      </p:sp>
      <p:sp>
        <p:nvSpPr>
          <p:cNvPr id="137" name="Shape 135"/>
          <p:cNvSpPr/>
          <p:nvPr/>
        </p:nvSpPr>
        <p:spPr>
          <a:xfrm>
            <a:off x="256032" y="5084064"/>
            <a:ext cx="8631936" cy="384048"/>
          </a:xfrm>
          <a:prstGeom prst="roundRect">
            <a:avLst>
              <a:gd name="adj" fmla="val 14286"/>
            </a:avLst>
          </a:prstGeom>
          <a:solidFill>
            <a:srgbClr val="FEF0ED"/>
          </a:solidFill>
          <a:ln w="19050">
            <a:solidFill>
              <a:srgbClr val="C0392B"/>
            </a:solidFill>
            <a:prstDash val="solid"/>
          </a:ln>
        </p:spPr>
      </p:sp>
      <p:sp>
        <p:nvSpPr>
          <p:cNvPr id="138" name="Text 136"/>
          <p:cNvSpPr/>
          <p:nvPr/>
        </p:nvSpPr>
        <p:spPr>
          <a:xfrm>
            <a:off x="384048" y="5084064"/>
            <a:ext cx="8449056" cy="384048"/>
          </a:xfrm>
          <a:prstGeom prst="rect">
            <a:avLst/>
          </a:prstGeom>
          <a:noFill/>
          <a:ln/>
        </p:spPr>
        <p:txBody>
          <a:bodyPr wrap="square" lIns="0" tIns="0" rIns="0" bIns="0" rtlCol="0" anchor="ctr"/>
          <a:lstStyle/>
          <a:p>
            <a:pPr indent="0" marL="0">
              <a:buNone/>
            </a:pPr>
            <a:r>
              <a:rPr lang="en-US" sz="1000" dirty="0">
                <a:solidFill>
                  <a:srgbClr val="7A1A0E"/>
                </a:solidFill>
                <a:latin typeface="Calibri" pitchFamily="34" charset="0"/>
                <a:ea typeface="Calibri" pitchFamily="34" charset="-122"/>
                <a:cs typeface="Calibri" pitchFamily="34" charset="-120"/>
              </a:rPr>
              <a:t>NEVER mix types: do not type 'Male' into a Numeric variable or '185,000' with a comma. Mixing types causes import errors, system-missing values, and analysis failures.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6B3C">
              <a:alpha val="18000"/>
            </a:srgbClr>
          </a:solidFill>
          <a:ln w="12700">
            <a:solidFill>
              <a:srgbClr val="1A6B3C"/>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2  |  SECTION 02</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Defining and Labelling Variables</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D4BC"/>
                </a:solidFill>
                <a:latin typeface="Calibri" pitchFamily="34" charset="0"/>
                <a:ea typeface="Calibri" pitchFamily="34" charset="-122"/>
                <a:cs typeface="Calibri" pitchFamily="34" charset="-120"/>
              </a:rPr>
              <a:t>The most important setup step - defining every variable completely before analysis begins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A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218"/>
          </a:solidFill>
          <a:ln w="12700">
            <a:solidFill>
              <a:srgbClr val="0B2218"/>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Defining Variables - Complete UAC Foods Setup Walkthrough</a:t>
            </a:r>
            <a:endParaRPr lang="en-US" sz="2200" dirty="0"/>
          </a:p>
        </p:txBody>
      </p:sp>
      <p:sp>
        <p:nvSpPr>
          <p:cNvPr id="4" name="Shape 2"/>
          <p:cNvSpPr/>
          <p:nvPr/>
        </p:nvSpPr>
        <p:spPr>
          <a:xfrm>
            <a:off x="228600" y="1005840"/>
            <a:ext cx="4160520" cy="1298448"/>
          </a:xfrm>
          <a:prstGeom prst="roundRect">
            <a:avLst>
              <a:gd name="adj" fmla="val 5634"/>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01752" y="1078992"/>
            <a:ext cx="4005072" cy="274320"/>
          </a:xfrm>
          <a:prstGeom prst="roundRect">
            <a:avLst>
              <a:gd name="adj" fmla="val 16667"/>
            </a:avLst>
          </a:prstGeom>
          <a:solidFill>
            <a:srgbClr val="1A6B3C"/>
          </a:solidFill>
          <a:ln w="12700">
            <a:solidFill>
              <a:srgbClr val="1A6B3C"/>
            </a:solidFill>
            <a:prstDash val="solid"/>
          </a:ln>
        </p:spPr>
      </p:sp>
      <p:sp>
        <p:nvSpPr>
          <p:cNvPr id="6" name="Text 4"/>
          <p:cNvSpPr/>
          <p:nvPr/>
        </p:nvSpPr>
        <p:spPr>
          <a:xfrm>
            <a:off x="301752" y="1078992"/>
            <a:ext cx="40050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1: Variable Name</a:t>
            </a:r>
            <a:endParaRPr lang="en-US" sz="1050" dirty="0"/>
          </a:p>
        </p:txBody>
      </p:sp>
      <p:sp>
        <p:nvSpPr>
          <p:cNvPr id="7" name="Text 5"/>
          <p:cNvSpPr/>
          <p:nvPr/>
        </p:nvSpPr>
        <p:spPr>
          <a:xfrm>
            <a:off x="338328" y="1408176"/>
            <a:ext cx="3913632" cy="502920"/>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Short, no spaces, starts with letter, max 64 chars. Use underscore for readability.</a:t>
            </a:r>
            <a:endParaRPr lang="en-US" sz="900" dirty="0"/>
          </a:p>
        </p:txBody>
      </p:sp>
      <p:sp>
        <p:nvSpPr>
          <p:cNvPr id="8" name="Text 6"/>
          <p:cNvSpPr/>
          <p:nvPr/>
        </p:nvSpPr>
        <p:spPr>
          <a:xfrm>
            <a:off x="338328" y="1929384"/>
            <a:ext cx="3913632" cy="310896"/>
          </a:xfrm>
          <a:prstGeom prst="rect">
            <a:avLst/>
          </a:prstGeom>
          <a:noFill/>
          <a:ln/>
        </p:spPr>
        <p:txBody>
          <a:bodyPr wrap="square" lIns="0" tIns="0" rIns="0" bIns="0" rtlCol="0" anchor="ctr"/>
          <a:lstStyle/>
          <a:p>
            <a:pPr indent="0" marL="0">
              <a:buNone/>
            </a:pPr>
            <a:r>
              <a:rPr lang="en-US" sz="850" b="1" dirty="0">
                <a:solidFill>
                  <a:srgbClr val="1A6B3C"/>
                </a:solidFill>
                <a:latin typeface="Calibri" pitchFamily="34" charset="0"/>
                <a:ea typeface="Calibri" pitchFamily="34" charset="-122"/>
                <a:cs typeface="Calibri" pitchFamily="34" charset="-120"/>
              </a:rPr>
              <a:t>e.g. </a:t>
            </a:r>
            <a:pPr indent="0" marL="0">
              <a:buNone/>
            </a:pPr>
            <a:r>
              <a:rPr lang="en-US" sz="850" i="1" dirty="0">
                <a:solidFill>
                  <a:srgbClr val="0B2218"/>
                </a:solidFill>
                <a:latin typeface="Calibri" pitchFamily="34" charset="0"/>
                <a:ea typeface="Calibri" pitchFamily="34" charset="-122"/>
                <a:cs typeface="Calibri" pitchFamily="34" charset="-120"/>
              </a:rPr>
              <a:t>respondent_id</a:t>
            </a:r>
            <a:endParaRPr lang="en-US" sz="850" dirty="0"/>
          </a:p>
        </p:txBody>
      </p:sp>
      <p:sp>
        <p:nvSpPr>
          <p:cNvPr id="9" name="Shape 7"/>
          <p:cNvSpPr/>
          <p:nvPr/>
        </p:nvSpPr>
        <p:spPr>
          <a:xfrm>
            <a:off x="4690872" y="1005840"/>
            <a:ext cx="4160520" cy="1298448"/>
          </a:xfrm>
          <a:prstGeom prst="roundRect">
            <a:avLst>
              <a:gd name="adj" fmla="val 5634"/>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0" name="Shape 8"/>
          <p:cNvSpPr/>
          <p:nvPr/>
        </p:nvSpPr>
        <p:spPr>
          <a:xfrm>
            <a:off x="4764024" y="1078992"/>
            <a:ext cx="4005072" cy="274320"/>
          </a:xfrm>
          <a:prstGeom prst="roundRect">
            <a:avLst>
              <a:gd name="adj" fmla="val 16667"/>
            </a:avLst>
          </a:prstGeom>
          <a:solidFill>
            <a:srgbClr val="0E7C7B"/>
          </a:solidFill>
          <a:ln w="12700">
            <a:solidFill>
              <a:srgbClr val="0E7C7B"/>
            </a:solidFill>
            <a:prstDash val="solid"/>
          </a:ln>
        </p:spPr>
      </p:sp>
      <p:sp>
        <p:nvSpPr>
          <p:cNvPr id="11" name="Text 9"/>
          <p:cNvSpPr/>
          <p:nvPr/>
        </p:nvSpPr>
        <p:spPr>
          <a:xfrm>
            <a:off x="4764024" y="1078992"/>
            <a:ext cx="40050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2: Type and Width</a:t>
            </a:r>
            <a:endParaRPr lang="en-US" sz="1050" dirty="0"/>
          </a:p>
        </p:txBody>
      </p:sp>
      <p:sp>
        <p:nvSpPr>
          <p:cNvPr id="12" name="Text 10"/>
          <p:cNvSpPr/>
          <p:nvPr/>
        </p:nvSpPr>
        <p:spPr>
          <a:xfrm>
            <a:off x="4800600" y="1408176"/>
            <a:ext cx="3913632" cy="502920"/>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Numeric for all numbers and coded categories. String ONLY for genuine text like names or free-text responses. Set decimals to 0 for whole numbers.</a:t>
            </a:r>
            <a:endParaRPr lang="en-US" sz="900" dirty="0"/>
          </a:p>
        </p:txBody>
      </p:sp>
      <p:sp>
        <p:nvSpPr>
          <p:cNvPr id="13" name="Text 11"/>
          <p:cNvSpPr/>
          <p:nvPr/>
        </p:nvSpPr>
        <p:spPr>
          <a:xfrm>
            <a:off x="4800600" y="1929384"/>
            <a:ext cx="3913632" cy="310896"/>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e.g. </a:t>
            </a:r>
            <a:pPr indent="0" marL="0">
              <a:buNone/>
            </a:pPr>
            <a:r>
              <a:rPr lang="en-US" sz="850" i="1" dirty="0">
                <a:solidFill>
                  <a:srgbClr val="0B2218"/>
                </a:solidFill>
                <a:latin typeface="Calibri" pitchFamily="34" charset="0"/>
                <a:ea typeface="Calibri" pitchFamily="34" charset="-122"/>
                <a:cs typeface="Calibri" pitchFamily="34" charset="-120"/>
              </a:rPr>
              <a:t>respondent_id: Numeric, Width 5, Decimal 0</a:t>
            </a:r>
            <a:endParaRPr lang="en-US" sz="850" dirty="0"/>
          </a:p>
        </p:txBody>
      </p:sp>
      <p:sp>
        <p:nvSpPr>
          <p:cNvPr id="14" name="Shape 12"/>
          <p:cNvSpPr/>
          <p:nvPr/>
        </p:nvSpPr>
        <p:spPr>
          <a:xfrm>
            <a:off x="228600" y="2395728"/>
            <a:ext cx="4160520" cy="1298448"/>
          </a:xfrm>
          <a:prstGeom prst="roundRect">
            <a:avLst>
              <a:gd name="adj" fmla="val 5634"/>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5" name="Shape 13"/>
          <p:cNvSpPr/>
          <p:nvPr/>
        </p:nvSpPr>
        <p:spPr>
          <a:xfrm>
            <a:off x="301752" y="2468880"/>
            <a:ext cx="4005072" cy="274320"/>
          </a:xfrm>
          <a:prstGeom prst="roundRect">
            <a:avLst>
              <a:gd name="adj" fmla="val 16667"/>
            </a:avLst>
          </a:prstGeom>
          <a:solidFill>
            <a:srgbClr val="1B5CA0"/>
          </a:solidFill>
          <a:ln w="12700">
            <a:solidFill>
              <a:srgbClr val="1B5CA0"/>
            </a:solidFill>
            <a:prstDash val="solid"/>
          </a:ln>
        </p:spPr>
      </p:sp>
      <p:sp>
        <p:nvSpPr>
          <p:cNvPr id="16" name="Text 14"/>
          <p:cNvSpPr/>
          <p:nvPr/>
        </p:nvSpPr>
        <p:spPr>
          <a:xfrm>
            <a:off x="301752" y="2468880"/>
            <a:ext cx="40050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3: Variable Label</a:t>
            </a:r>
            <a:endParaRPr lang="en-US" sz="1050" dirty="0"/>
          </a:p>
        </p:txBody>
      </p:sp>
      <p:sp>
        <p:nvSpPr>
          <p:cNvPr id="17" name="Text 15"/>
          <p:cNvSpPr/>
          <p:nvPr/>
        </p:nvSpPr>
        <p:spPr>
          <a:xfrm>
            <a:off x="338328" y="2798064"/>
            <a:ext cx="3913632" cy="502920"/>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Full, descriptive text that appears in all output. Any length allowed. Write it as you want it to appear in reports.</a:t>
            </a:r>
            <a:endParaRPr lang="en-US" sz="900" dirty="0"/>
          </a:p>
        </p:txBody>
      </p:sp>
      <p:sp>
        <p:nvSpPr>
          <p:cNvPr id="18" name="Text 16"/>
          <p:cNvSpPr/>
          <p:nvPr/>
        </p:nvSpPr>
        <p:spPr>
          <a:xfrm>
            <a:off x="338328" y="3319272"/>
            <a:ext cx="3913632" cy="310896"/>
          </a:xfrm>
          <a:prstGeom prst="rect">
            <a:avLst/>
          </a:prstGeom>
          <a:noFill/>
          <a:ln/>
        </p:spPr>
        <p:txBody>
          <a:bodyPr wrap="square" lIns="0" tIns="0" rIns="0" bIns="0" rtlCol="0" anchor="ctr"/>
          <a:lstStyle/>
          <a:p>
            <a:pPr indent="0" marL="0">
              <a:buNone/>
            </a:pPr>
            <a:r>
              <a:rPr lang="en-US" sz="850" b="1" dirty="0">
                <a:solidFill>
                  <a:srgbClr val="1B5CA0"/>
                </a:solidFill>
                <a:latin typeface="Calibri" pitchFamily="34" charset="0"/>
                <a:ea typeface="Calibri" pitchFamily="34" charset="-122"/>
                <a:cs typeface="Calibri" pitchFamily="34" charset="-120"/>
              </a:rPr>
              <a:t>e.g. </a:t>
            </a:r>
            <a:pPr indent="0" marL="0">
              <a:buNone/>
            </a:pPr>
            <a:r>
              <a:rPr lang="en-US" sz="850" i="1" dirty="0">
                <a:solidFill>
                  <a:srgbClr val="0B2218"/>
                </a:solidFill>
                <a:latin typeface="Calibri" pitchFamily="34" charset="0"/>
                <a:ea typeface="Calibri" pitchFamily="34" charset="-122"/>
                <a:cs typeface="Calibri" pitchFamily="34" charset="-120"/>
              </a:rPr>
              <a:t>Monthly Salary in Naira (NGN)</a:t>
            </a:r>
            <a:endParaRPr lang="en-US" sz="850" dirty="0"/>
          </a:p>
        </p:txBody>
      </p:sp>
      <p:sp>
        <p:nvSpPr>
          <p:cNvPr id="19" name="Shape 17"/>
          <p:cNvSpPr/>
          <p:nvPr/>
        </p:nvSpPr>
        <p:spPr>
          <a:xfrm>
            <a:off x="4690872" y="2395728"/>
            <a:ext cx="4160520" cy="1298448"/>
          </a:xfrm>
          <a:prstGeom prst="roundRect">
            <a:avLst>
              <a:gd name="adj" fmla="val 5634"/>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0" name="Shape 18"/>
          <p:cNvSpPr/>
          <p:nvPr/>
        </p:nvSpPr>
        <p:spPr>
          <a:xfrm>
            <a:off x="4764024" y="2468880"/>
            <a:ext cx="4005072" cy="274320"/>
          </a:xfrm>
          <a:prstGeom prst="roundRect">
            <a:avLst>
              <a:gd name="adj" fmla="val 16667"/>
            </a:avLst>
          </a:prstGeom>
          <a:solidFill>
            <a:srgbClr val="E67E22"/>
          </a:solidFill>
          <a:ln w="12700">
            <a:solidFill>
              <a:srgbClr val="E67E22"/>
            </a:solidFill>
            <a:prstDash val="solid"/>
          </a:ln>
        </p:spPr>
      </p:sp>
      <p:sp>
        <p:nvSpPr>
          <p:cNvPr id="21" name="Text 19"/>
          <p:cNvSpPr/>
          <p:nvPr/>
        </p:nvSpPr>
        <p:spPr>
          <a:xfrm>
            <a:off x="4764024" y="2468880"/>
            <a:ext cx="40050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4: Value Labels</a:t>
            </a:r>
            <a:endParaRPr lang="en-US" sz="1050" dirty="0"/>
          </a:p>
        </p:txBody>
      </p:sp>
      <p:sp>
        <p:nvSpPr>
          <p:cNvPr id="22" name="Text 20"/>
          <p:cNvSpPr/>
          <p:nvPr/>
        </p:nvSpPr>
        <p:spPr>
          <a:xfrm>
            <a:off x="4800600" y="2798064"/>
            <a:ext cx="3913632" cy="502920"/>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For nominal and ordinal variables ONLY. Click the gray button. Enter each code and its label, click Add. Label every possible value including missing codes.</a:t>
            </a:r>
            <a:endParaRPr lang="en-US" sz="900" dirty="0"/>
          </a:p>
        </p:txBody>
      </p:sp>
      <p:sp>
        <p:nvSpPr>
          <p:cNvPr id="23" name="Text 21"/>
          <p:cNvSpPr/>
          <p:nvPr/>
        </p:nvSpPr>
        <p:spPr>
          <a:xfrm>
            <a:off x="4800600" y="3319272"/>
            <a:ext cx="3913632" cy="310896"/>
          </a:xfrm>
          <a:prstGeom prst="rect">
            <a:avLst/>
          </a:prstGeom>
          <a:noFill/>
          <a:ln/>
        </p:spPr>
        <p:txBody>
          <a:bodyPr wrap="square" lIns="0" tIns="0" rIns="0" bIns="0" rtlCol="0" anchor="ctr"/>
          <a:lstStyle/>
          <a:p>
            <a:pPr indent="0" marL="0">
              <a:buNone/>
            </a:pPr>
            <a:r>
              <a:rPr lang="en-US" sz="850" b="1" dirty="0">
                <a:solidFill>
                  <a:srgbClr val="E67E22"/>
                </a:solidFill>
                <a:latin typeface="Calibri" pitchFamily="34" charset="0"/>
                <a:ea typeface="Calibri" pitchFamily="34" charset="-122"/>
                <a:cs typeface="Calibri" pitchFamily="34" charset="-120"/>
              </a:rPr>
              <a:t>e.g. </a:t>
            </a:r>
            <a:pPr indent="0" marL="0">
              <a:buNone/>
            </a:pPr>
            <a:r>
              <a:rPr lang="en-US" sz="850" i="1" dirty="0">
                <a:solidFill>
                  <a:srgbClr val="0B2218"/>
                </a:solidFill>
                <a:latin typeface="Calibri" pitchFamily="34" charset="0"/>
                <a:ea typeface="Calibri" pitchFamily="34" charset="-122"/>
                <a:cs typeface="Calibri" pitchFamily="34" charset="-120"/>
              </a:rPr>
              <a:t>1 = Male / 2 = Female / 3 = Prefer not to say / 9 = Not applicable</a:t>
            </a:r>
            <a:endParaRPr lang="en-US" sz="850" dirty="0"/>
          </a:p>
        </p:txBody>
      </p:sp>
      <p:sp>
        <p:nvSpPr>
          <p:cNvPr id="24" name="Shape 22"/>
          <p:cNvSpPr/>
          <p:nvPr/>
        </p:nvSpPr>
        <p:spPr>
          <a:xfrm>
            <a:off x="228600" y="3785616"/>
            <a:ext cx="4160520" cy="1298448"/>
          </a:xfrm>
          <a:prstGeom prst="roundRect">
            <a:avLst>
              <a:gd name="adj" fmla="val 5634"/>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5" name="Shape 23"/>
          <p:cNvSpPr/>
          <p:nvPr/>
        </p:nvSpPr>
        <p:spPr>
          <a:xfrm>
            <a:off x="301752" y="3858768"/>
            <a:ext cx="4005072" cy="274320"/>
          </a:xfrm>
          <a:prstGeom prst="roundRect">
            <a:avLst>
              <a:gd name="adj" fmla="val 16667"/>
            </a:avLst>
          </a:prstGeom>
          <a:solidFill>
            <a:srgbClr val="C0392B"/>
          </a:solidFill>
          <a:ln w="12700">
            <a:solidFill>
              <a:srgbClr val="C0392B"/>
            </a:solidFill>
            <a:prstDash val="solid"/>
          </a:ln>
        </p:spPr>
      </p:sp>
      <p:sp>
        <p:nvSpPr>
          <p:cNvPr id="26" name="Text 24"/>
          <p:cNvSpPr/>
          <p:nvPr/>
        </p:nvSpPr>
        <p:spPr>
          <a:xfrm>
            <a:off x="301752" y="3858768"/>
            <a:ext cx="40050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5: Missing Values</a:t>
            </a:r>
            <a:endParaRPr lang="en-US" sz="1050" dirty="0"/>
          </a:p>
        </p:txBody>
      </p:sp>
      <p:sp>
        <p:nvSpPr>
          <p:cNvPr id="27" name="Text 25"/>
          <p:cNvSpPr/>
          <p:nvPr/>
        </p:nvSpPr>
        <p:spPr>
          <a:xfrm>
            <a:off x="338328" y="4187952"/>
            <a:ext cx="3913632" cy="502920"/>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Declare codes that mean 'data is absent'. Click gray button &gt; Discrete missing values. SPSS will exclude these from all calculations. Common codes: 99, -1, 0.</a:t>
            </a:r>
            <a:endParaRPr lang="en-US" sz="900" dirty="0"/>
          </a:p>
        </p:txBody>
      </p:sp>
      <p:sp>
        <p:nvSpPr>
          <p:cNvPr id="28" name="Text 26"/>
          <p:cNvSpPr/>
          <p:nvPr/>
        </p:nvSpPr>
        <p:spPr>
          <a:xfrm>
            <a:off x="338328" y="4709160"/>
            <a:ext cx="3913632" cy="310896"/>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e.g. </a:t>
            </a:r>
            <a:pPr indent="0" marL="0">
              <a:buNone/>
            </a:pPr>
            <a:r>
              <a:rPr lang="en-US" sz="850" i="1" dirty="0">
                <a:solidFill>
                  <a:srgbClr val="0B2218"/>
                </a:solidFill>
                <a:latin typeface="Calibri" pitchFamily="34" charset="0"/>
                <a:ea typeface="Calibri" pitchFamily="34" charset="-122"/>
                <a:cs typeface="Calibri" pitchFamily="34" charset="-120"/>
              </a:rPr>
              <a:t>99 = Refused to answer</a:t>
            </a:r>
            <a:endParaRPr lang="en-US" sz="850" dirty="0"/>
          </a:p>
        </p:txBody>
      </p:sp>
      <p:sp>
        <p:nvSpPr>
          <p:cNvPr id="29" name="Shape 27"/>
          <p:cNvSpPr/>
          <p:nvPr/>
        </p:nvSpPr>
        <p:spPr>
          <a:xfrm>
            <a:off x="4690872" y="3785616"/>
            <a:ext cx="4160520" cy="1298448"/>
          </a:xfrm>
          <a:prstGeom prst="roundRect">
            <a:avLst>
              <a:gd name="adj" fmla="val 5634"/>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30" name="Shape 28"/>
          <p:cNvSpPr/>
          <p:nvPr/>
        </p:nvSpPr>
        <p:spPr>
          <a:xfrm>
            <a:off x="4764024" y="3858768"/>
            <a:ext cx="4005072" cy="274320"/>
          </a:xfrm>
          <a:prstGeom prst="roundRect">
            <a:avLst>
              <a:gd name="adj" fmla="val 16667"/>
            </a:avLst>
          </a:prstGeom>
          <a:solidFill>
            <a:srgbClr val="5B2D8E"/>
          </a:solidFill>
          <a:ln w="12700">
            <a:solidFill>
              <a:srgbClr val="5B2D8E"/>
            </a:solidFill>
            <a:prstDash val="solid"/>
          </a:ln>
        </p:spPr>
      </p:sp>
      <p:sp>
        <p:nvSpPr>
          <p:cNvPr id="31" name="Text 29"/>
          <p:cNvSpPr/>
          <p:nvPr/>
        </p:nvSpPr>
        <p:spPr>
          <a:xfrm>
            <a:off x="4764024" y="3858768"/>
            <a:ext cx="40050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6: Measure Level</a:t>
            </a:r>
            <a:endParaRPr lang="en-US" sz="1050" dirty="0"/>
          </a:p>
        </p:txBody>
      </p:sp>
      <p:sp>
        <p:nvSpPr>
          <p:cNvPr id="32" name="Text 30"/>
          <p:cNvSpPr/>
          <p:nvPr/>
        </p:nvSpPr>
        <p:spPr>
          <a:xfrm>
            <a:off x="4800600" y="4187952"/>
            <a:ext cx="3913632" cy="502920"/>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CRITICAL. Nominal = categories with no order. Ordinal = ordered categories. Scale = continuous numbers. Wrong setting hides valid tests and shows invalid ones.</a:t>
            </a:r>
            <a:endParaRPr lang="en-US" sz="900" dirty="0"/>
          </a:p>
        </p:txBody>
      </p:sp>
      <p:sp>
        <p:nvSpPr>
          <p:cNvPr id="33" name="Text 31"/>
          <p:cNvSpPr/>
          <p:nvPr/>
        </p:nvSpPr>
        <p:spPr>
          <a:xfrm>
            <a:off x="4800600" y="4709160"/>
            <a:ext cx="3913632" cy="310896"/>
          </a:xfrm>
          <a:prstGeom prst="rect">
            <a:avLst/>
          </a:prstGeom>
          <a:noFill/>
          <a:ln/>
        </p:spPr>
        <p:txBody>
          <a:bodyPr wrap="square" lIns="0" tIns="0" rIns="0" bIns="0" rtlCol="0" anchor="ctr"/>
          <a:lstStyle/>
          <a:p>
            <a:pPr indent="0" marL="0">
              <a:buNone/>
            </a:pPr>
            <a:r>
              <a:rPr lang="en-US" sz="850" b="1" dirty="0">
                <a:solidFill>
                  <a:srgbClr val="5B2D8E"/>
                </a:solidFill>
                <a:latin typeface="Calibri" pitchFamily="34" charset="0"/>
                <a:ea typeface="Calibri" pitchFamily="34" charset="-122"/>
                <a:cs typeface="Calibri" pitchFamily="34" charset="-120"/>
              </a:rPr>
              <a:t>e.g. </a:t>
            </a:r>
            <a:pPr indent="0" marL="0">
              <a:buNone/>
            </a:pPr>
            <a:r>
              <a:rPr lang="en-US" sz="850" i="1" dirty="0">
                <a:solidFill>
                  <a:srgbClr val="0B2218"/>
                </a:solidFill>
                <a:latin typeface="Calibri" pitchFamily="34" charset="0"/>
                <a:ea typeface="Calibri" pitchFamily="34" charset="-122"/>
                <a:cs typeface="Calibri" pitchFamily="34" charset="-120"/>
              </a:rPr>
              <a:t>gender = Nominal</a:t>
            </a:r>
            <a:endParaRPr lang="en-US" sz="850" dirty="0"/>
          </a:p>
        </p:txBody>
      </p:sp>
      <p:sp>
        <p:nvSpPr>
          <p:cNvPr id="34" name="Shape 32"/>
          <p:cNvSpPr/>
          <p:nvPr/>
        </p:nvSpPr>
        <p:spPr>
          <a:xfrm>
            <a:off x="256032" y="5102352"/>
            <a:ext cx="8631936" cy="384048"/>
          </a:xfrm>
          <a:prstGeom prst="roundRect">
            <a:avLst>
              <a:gd name="adj" fmla="val 14286"/>
            </a:avLst>
          </a:prstGeom>
          <a:solidFill>
            <a:srgbClr val="FFFBEC"/>
          </a:solidFill>
          <a:ln w="19050">
            <a:solidFill>
              <a:srgbClr val="D4A017"/>
            </a:solidFill>
            <a:prstDash val="solid"/>
          </a:ln>
        </p:spPr>
      </p:sp>
      <p:sp>
        <p:nvSpPr>
          <p:cNvPr id="35" name="Text 33"/>
          <p:cNvSpPr/>
          <p:nvPr/>
        </p:nvSpPr>
        <p:spPr>
          <a:xfrm>
            <a:off x="384048" y="5102352"/>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Golden Rule: Complete ALL six steps for EVERY variable before entering a single data value. This is the most time-saving discipline in SPSS.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E7C7B">
              <a:alpha val="16000"/>
            </a:srgbClr>
          </a:solidFill>
          <a:ln w="12700">
            <a:solidFill>
              <a:srgbClr val="0E7C7B"/>
            </a:solidFill>
            <a:prstDash val="solid"/>
          </a:ln>
        </p:spPr>
      </p:sp>
      <p:sp>
        <p:nvSpPr>
          <p:cNvPr id="3" name="Text 1"/>
          <p:cNvSpPr/>
          <p:nvPr/>
        </p:nvSpPr>
        <p:spPr>
          <a:xfrm>
            <a:off x="457200" y="201168"/>
            <a:ext cx="8229600" cy="621792"/>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Value Labels - The Art of Coding Categorical Data</a:t>
            </a:r>
            <a:endParaRPr lang="en-US" sz="2800" dirty="0"/>
          </a:p>
        </p:txBody>
      </p:sp>
      <p:sp>
        <p:nvSpPr>
          <p:cNvPr id="4" name="Shape 2"/>
          <p:cNvSpPr/>
          <p:nvPr/>
        </p:nvSpPr>
        <p:spPr>
          <a:xfrm>
            <a:off x="256032" y="960120"/>
            <a:ext cx="4160520" cy="1920240"/>
          </a:xfrm>
          <a:prstGeom prst="roundRect">
            <a:avLst>
              <a:gd name="adj" fmla="val 4286"/>
            </a:avLst>
          </a:prstGeom>
          <a:solidFill>
            <a:srgbClr val="113322"/>
          </a:solidFill>
          <a:ln w="12700">
            <a:solidFill>
              <a:srgbClr val="27AE60"/>
            </a:solidFill>
            <a:prstDash val="solid"/>
          </a:ln>
        </p:spPr>
      </p:sp>
      <p:sp>
        <p:nvSpPr>
          <p:cNvPr id="5" name="Text 3"/>
          <p:cNvSpPr/>
          <p:nvPr/>
        </p:nvSpPr>
        <p:spPr>
          <a:xfrm>
            <a:off x="365760" y="1033272"/>
            <a:ext cx="2011680" cy="256032"/>
          </a:xfrm>
          <a:prstGeom prst="rect">
            <a:avLst/>
          </a:prstGeom>
          <a:noFill/>
          <a:ln/>
        </p:spPr>
        <p:txBody>
          <a:bodyPr wrap="square" lIns="0" tIns="0" rIns="0" bIns="0" rtlCol="0" anchor="ctr"/>
          <a:lstStyle/>
          <a:p>
            <a:pPr indent="0" marL="0">
              <a:buNone/>
            </a:pPr>
            <a:r>
              <a:rPr lang="en-US" sz="1050" b="1" dirty="0">
                <a:solidFill>
                  <a:srgbClr val="27AE60"/>
                </a:solidFill>
                <a:latin typeface="Calibri" pitchFamily="34" charset="0"/>
                <a:ea typeface="Calibri" pitchFamily="34" charset="-122"/>
                <a:cs typeface="Calibri" pitchFamily="34" charset="-120"/>
              </a:rPr>
              <a:t>gender variable:</a:t>
            </a:r>
            <a:endParaRPr lang="en-US" sz="1050" dirty="0"/>
          </a:p>
        </p:txBody>
      </p:sp>
      <p:sp>
        <p:nvSpPr>
          <p:cNvPr id="6" name="Text 4"/>
          <p:cNvSpPr/>
          <p:nvPr/>
        </p:nvSpPr>
        <p:spPr>
          <a:xfrm>
            <a:off x="365760" y="1289304"/>
            <a:ext cx="3913632" cy="219456"/>
          </a:xfrm>
          <a:prstGeom prst="rect">
            <a:avLst/>
          </a:prstGeom>
          <a:noFill/>
          <a:ln/>
        </p:spPr>
        <p:txBody>
          <a:bodyPr wrap="square" lIns="0" tIns="0" rIns="0" bIns="0" rtlCol="0" anchor="ctr"/>
          <a:lstStyle/>
          <a:p>
            <a:pPr indent="0" marL="0">
              <a:buNone/>
            </a:pPr>
            <a:r>
              <a:rPr lang="en-US" sz="950" i="1" dirty="0">
                <a:solidFill>
                  <a:srgbClr val="A8D4BC"/>
                </a:solidFill>
                <a:latin typeface="Calibri" pitchFamily="34" charset="0"/>
                <a:ea typeface="Calibri" pitchFamily="34" charset="-122"/>
                <a:cs typeface="Calibri" pitchFamily="34" charset="-120"/>
              </a:rPr>
              <a:t>Respondent Gender</a:t>
            </a:r>
            <a:endParaRPr lang="en-US" sz="950" dirty="0"/>
          </a:p>
        </p:txBody>
      </p:sp>
      <p:sp>
        <p:nvSpPr>
          <p:cNvPr id="7" name="Text 5"/>
          <p:cNvSpPr/>
          <p:nvPr/>
        </p:nvSpPr>
        <p:spPr>
          <a:xfrm>
            <a:off x="365760" y="1545336"/>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1 = Male</a:t>
            </a:r>
            <a:endParaRPr lang="en-US" sz="900" dirty="0"/>
          </a:p>
        </p:txBody>
      </p:sp>
      <p:sp>
        <p:nvSpPr>
          <p:cNvPr id="8" name="Text 6"/>
          <p:cNvSpPr/>
          <p:nvPr/>
        </p:nvSpPr>
        <p:spPr>
          <a:xfrm>
            <a:off x="365760" y="1746504"/>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2 = Female</a:t>
            </a:r>
            <a:endParaRPr lang="en-US" sz="900" dirty="0"/>
          </a:p>
        </p:txBody>
      </p:sp>
      <p:sp>
        <p:nvSpPr>
          <p:cNvPr id="9" name="Text 7"/>
          <p:cNvSpPr/>
          <p:nvPr/>
        </p:nvSpPr>
        <p:spPr>
          <a:xfrm>
            <a:off x="365760" y="1947672"/>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3 = Prefer not to say</a:t>
            </a:r>
            <a:endParaRPr lang="en-US" sz="900" dirty="0"/>
          </a:p>
        </p:txBody>
      </p:sp>
      <p:sp>
        <p:nvSpPr>
          <p:cNvPr id="10" name="Text 8"/>
          <p:cNvSpPr/>
          <p:nvPr/>
        </p:nvSpPr>
        <p:spPr>
          <a:xfrm>
            <a:off x="365760" y="2148840"/>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9 = Not applicable</a:t>
            </a:r>
            <a:endParaRPr lang="en-US" sz="900" dirty="0"/>
          </a:p>
        </p:txBody>
      </p:sp>
      <p:sp>
        <p:nvSpPr>
          <p:cNvPr id="11" name="Text 9"/>
          <p:cNvSpPr/>
          <p:nvPr/>
        </p:nvSpPr>
        <p:spPr>
          <a:xfrm>
            <a:off x="365760" y="2569464"/>
            <a:ext cx="3913632" cy="256032"/>
          </a:xfrm>
          <a:prstGeom prst="rect">
            <a:avLst/>
          </a:prstGeom>
          <a:noFill/>
          <a:ln/>
        </p:spPr>
        <p:txBody>
          <a:bodyPr wrap="square" lIns="0" tIns="0" rIns="0" bIns="0" rtlCol="0" anchor="ctr"/>
          <a:lstStyle/>
          <a:p>
            <a:pPr indent="0" marL="0">
              <a:buNone/>
            </a:pPr>
            <a:r>
              <a:rPr lang="en-US" sz="850" i="1" dirty="0">
                <a:solidFill>
                  <a:srgbClr val="27AE60"/>
                </a:solidFill>
                <a:latin typeface="Calibri" pitchFamily="34" charset="0"/>
                <a:ea typeface="Calibri" pitchFamily="34" charset="-122"/>
                <a:cs typeface="Calibri" pitchFamily="34" charset="-120"/>
              </a:rPr>
              <a:t>Note: Always include a 'Prefer not to say' and 'Not applicable' option. Declare 9 as missing.</a:t>
            </a:r>
            <a:endParaRPr lang="en-US" sz="850" dirty="0"/>
          </a:p>
        </p:txBody>
      </p:sp>
      <p:sp>
        <p:nvSpPr>
          <p:cNvPr id="12" name="Shape 10"/>
          <p:cNvSpPr/>
          <p:nvPr/>
        </p:nvSpPr>
        <p:spPr>
          <a:xfrm>
            <a:off x="4718304" y="960120"/>
            <a:ext cx="4160520" cy="1920240"/>
          </a:xfrm>
          <a:prstGeom prst="roundRect">
            <a:avLst>
              <a:gd name="adj" fmla="val 4286"/>
            </a:avLst>
          </a:prstGeom>
          <a:solidFill>
            <a:srgbClr val="113322"/>
          </a:solidFill>
          <a:ln w="12700">
            <a:solidFill>
              <a:srgbClr val="D4A017"/>
            </a:solidFill>
            <a:prstDash val="solid"/>
          </a:ln>
        </p:spPr>
      </p:sp>
      <p:sp>
        <p:nvSpPr>
          <p:cNvPr id="13" name="Text 11"/>
          <p:cNvSpPr/>
          <p:nvPr/>
        </p:nvSpPr>
        <p:spPr>
          <a:xfrm>
            <a:off x="4828032" y="1033272"/>
            <a:ext cx="2011680" cy="256032"/>
          </a:xfrm>
          <a:prstGeom prst="rect">
            <a:avLst/>
          </a:prstGeom>
          <a:noFill/>
          <a:ln/>
        </p:spPr>
        <p:txBody>
          <a:bodyPr wrap="square" lIns="0" tIns="0" rIns="0" bIns="0" rtlCol="0" anchor="ctr"/>
          <a:lstStyle/>
          <a:p>
            <a:pPr indent="0" marL="0">
              <a:buNone/>
            </a:pPr>
            <a:r>
              <a:rPr lang="en-US" sz="1050" b="1" dirty="0">
                <a:solidFill>
                  <a:srgbClr val="D4A017"/>
                </a:solidFill>
                <a:latin typeface="Calibri" pitchFamily="34" charset="0"/>
                <a:ea typeface="Calibri" pitchFamily="34" charset="-122"/>
                <a:cs typeface="Calibri" pitchFamily="34" charset="-120"/>
              </a:rPr>
              <a:t>education_level variable:</a:t>
            </a:r>
            <a:endParaRPr lang="en-US" sz="1050" dirty="0"/>
          </a:p>
        </p:txBody>
      </p:sp>
      <p:sp>
        <p:nvSpPr>
          <p:cNvPr id="14" name="Text 12"/>
          <p:cNvSpPr/>
          <p:nvPr/>
        </p:nvSpPr>
        <p:spPr>
          <a:xfrm>
            <a:off x="4828032" y="1289304"/>
            <a:ext cx="3913632" cy="219456"/>
          </a:xfrm>
          <a:prstGeom prst="rect">
            <a:avLst/>
          </a:prstGeom>
          <a:noFill/>
          <a:ln/>
        </p:spPr>
        <p:txBody>
          <a:bodyPr wrap="square" lIns="0" tIns="0" rIns="0" bIns="0" rtlCol="0" anchor="ctr"/>
          <a:lstStyle/>
          <a:p>
            <a:pPr indent="0" marL="0">
              <a:buNone/>
            </a:pPr>
            <a:r>
              <a:rPr lang="en-US" sz="950" i="1" dirty="0">
                <a:solidFill>
                  <a:srgbClr val="A8D4BC"/>
                </a:solidFill>
                <a:latin typeface="Calibri" pitchFamily="34" charset="0"/>
                <a:ea typeface="Calibri" pitchFamily="34" charset="-122"/>
                <a:cs typeface="Calibri" pitchFamily="34" charset="-120"/>
              </a:rPr>
              <a:t>Highest Educational Qualification</a:t>
            </a:r>
            <a:endParaRPr lang="en-US" sz="950" dirty="0"/>
          </a:p>
        </p:txBody>
      </p:sp>
      <p:sp>
        <p:nvSpPr>
          <p:cNvPr id="15" name="Text 13"/>
          <p:cNvSpPr/>
          <p:nvPr/>
        </p:nvSpPr>
        <p:spPr>
          <a:xfrm>
            <a:off x="4828032" y="1545336"/>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1 = No formal education</a:t>
            </a:r>
            <a:endParaRPr lang="en-US" sz="900" dirty="0"/>
          </a:p>
        </p:txBody>
      </p:sp>
      <p:sp>
        <p:nvSpPr>
          <p:cNvPr id="16" name="Text 14"/>
          <p:cNvSpPr/>
          <p:nvPr/>
        </p:nvSpPr>
        <p:spPr>
          <a:xfrm>
            <a:off x="4828032" y="1746504"/>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2 = Primary school</a:t>
            </a:r>
            <a:endParaRPr lang="en-US" sz="900" dirty="0"/>
          </a:p>
        </p:txBody>
      </p:sp>
      <p:sp>
        <p:nvSpPr>
          <p:cNvPr id="17" name="Text 15"/>
          <p:cNvSpPr/>
          <p:nvPr/>
        </p:nvSpPr>
        <p:spPr>
          <a:xfrm>
            <a:off x="4828032" y="1947672"/>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3 = Secondary school</a:t>
            </a:r>
            <a:endParaRPr lang="en-US" sz="900" dirty="0"/>
          </a:p>
        </p:txBody>
      </p:sp>
      <p:sp>
        <p:nvSpPr>
          <p:cNvPr id="18" name="Text 16"/>
          <p:cNvSpPr/>
          <p:nvPr/>
        </p:nvSpPr>
        <p:spPr>
          <a:xfrm>
            <a:off x="4828032" y="2148840"/>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4 = OND / NCE</a:t>
            </a:r>
            <a:endParaRPr lang="en-US" sz="900" dirty="0"/>
          </a:p>
        </p:txBody>
      </p:sp>
      <p:sp>
        <p:nvSpPr>
          <p:cNvPr id="19" name="Text 17"/>
          <p:cNvSpPr/>
          <p:nvPr/>
        </p:nvSpPr>
        <p:spPr>
          <a:xfrm>
            <a:off x="4828032" y="2350008"/>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5 = BSc / HND</a:t>
            </a:r>
            <a:endParaRPr lang="en-US" sz="900" dirty="0"/>
          </a:p>
        </p:txBody>
      </p:sp>
      <p:sp>
        <p:nvSpPr>
          <p:cNvPr id="20" name="Text 18"/>
          <p:cNvSpPr/>
          <p:nvPr/>
        </p:nvSpPr>
        <p:spPr>
          <a:xfrm>
            <a:off x="4828032" y="2551176"/>
            <a:ext cx="3913632" cy="18288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 +2 more values</a:t>
            </a:r>
            <a:endParaRPr lang="en-US" sz="850" dirty="0"/>
          </a:p>
        </p:txBody>
      </p:sp>
      <p:sp>
        <p:nvSpPr>
          <p:cNvPr id="21" name="Text 19"/>
          <p:cNvSpPr/>
          <p:nvPr/>
        </p:nvSpPr>
        <p:spPr>
          <a:xfrm>
            <a:off x="4828032" y="2569464"/>
            <a:ext cx="3913632" cy="256032"/>
          </a:xfrm>
          <a:prstGeom prst="rect">
            <a:avLst/>
          </a:prstGeom>
          <a:noFill/>
          <a:ln/>
        </p:spPr>
        <p:txBody>
          <a:bodyPr wrap="square" lIns="0" tIns="0" rIns="0" bIns="0" rtlCol="0" anchor="ctr"/>
          <a:lstStyle/>
          <a:p>
            <a:pPr indent="0" marL="0">
              <a:buNone/>
            </a:pPr>
            <a:r>
              <a:rPr lang="en-US" sz="850" i="1" dirty="0">
                <a:solidFill>
                  <a:srgbClr val="D4A017"/>
                </a:solidFill>
                <a:latin typeface="Calibri" pitchFamily="34" charset="0"/>
                <a:ea typeface="Calibri" pitchFamily="34" charset="-122"/>
                <a:cs typeface="Calibri" pitchFamily="34" charset="-120"/>
              </a:rPr>
              <a:t>Note: Ordinal variable - codes must preserve natural order (1 = lowest, 6 = highest).</a:t>
            </a:r>
            <a:endParaRPr lang="en-US" sz="850" dirty="0"/>
          </a:p>
        </p:txBody>
      </p:sp>
      <p:sp>
        <p:nvSpPr>
          <p:cNvPr id="22" name="Shape 20"/>
          <p:cNvSpPr/>
          <p:nvPr/>
        </p:nvSpPr>
        <p:spPr>
          <a:xfrm>
            <a:off x="256032" y="2971800"/>
            <a:ext cx="4160520" cy="1920240"/>
          </a:xfrm>
          <a:prstGeom prst="roundRect">
            <a:avLst>
              <a:gd name="adj" fmla="val 4286"/>
            </a:avLst>
          </a:prstGeom>
          <a:solidFill>
            <a:srgbClr val="113322"/>
          </a:solidFill>
          <a:ln w="12700">
            <a:solidFill>
              <a:srgbClr val="0E7C7B"/>
            </a:solidFill>
            <a:prstDash val="solid"/>
          </a:ln>
        </p:spPr>
      </p:sp>
      <p:sp>
        <p:nvSpPr>
          <p:cNvPr id="23" name="Text 21"/>
          <p:cNvSpPr/>
          <p:nvPr/>
        </p:nvSpPr>
        <p:spPr>
          <a:xfrm>
            <a:off x="365760" y="3044952"/>
            <a:ext cx="2011680" cy="256032"/>
          </a:xfrm>
          <a:prstGeom prst="rect">
            <a:avLst/>
          </a:prstGeom>
          <a:noFill/>
          <a:ln/>
        </p:spPr>
        <p:txBody>
          <a:bodyPr wrap="square" lIns="0" tIns="0" rIns="0" bIns="0" rtlCol="0" anchor="ctr"/>
          <a:lstStyle/>
          <a:p>
            <a:pPr indent="0" marL="0">
              <a:buNone/>
            </a:pPr>
            <a:r>
              <a:rPr lang="en-US" sz="1050" b="1" dirty="0">
                <a:solidFill>
                  <a:srgbClr val="0E7C7B"/>
                </a:solidFill>
                <a:latin typeface="Calibri" pitchFamily="34" charset="0"/>
                <a:ea typeface="Calibri" pitchFamily="34" charset="-122"/>
                <a:cs typeface="Calibri" pitchFamily="34" charset="-120"/>
              </a:rPr>
              <a:t>uac_product_pref variable:</a:t>
            </a:r>
            <a:endParaRPr lang="en-US" sz="1050" dirty="0"/>
          </a:p>
        </p:txBody>
      </p:sp>
      <p:sp>
        <p:nvSpPr>
          <p:cNvPr id="24" name="Text 22"/>
          <p:cNvSpPr/>
          <p:nvPr/>
        </p:nvSpPr>
        <p:spPr>
          <a:xfrm>
            <a:off x="365760" y="3300984"/>
            <a:ext cx="3913632" cy="219456"/>
          </a:xfrm>
          <a:prstGeom prst="rect">
            <a:avLst/>
          </a:prstGeom>
          <a:noFill/>
          <a:ln/>
        </p:spPr>
        <p:txBody>
          <a:bodyPr wrap="square" lIns="0" tIns="0" rIns="0" bIns="0" rtlCol="0" anchor="ctr"/>
          <a:lstStyle/>
          <a:p>
            <a:pPr indent="0" marL="0">
              <a:buNone/>
            </a:pPr>
            <a:r>
              <a:rPr lang="en-US" sz="950" i="1" dirty="0">
                <a:solidFill>
                  <a:srgbClr val="A8D4BC"/>
                </a:solidFill>
                <a:latin typeface="Calibri" pitchFamily="34" charset="0"/>
                <a:ea typeface="Calibri" pitchFamily="34" charset="-122"/>
                <a:cs typeface="Calibri" pitchFamily="34" charset="-120"/>
              </a:rPr>
              <a:t>Preferred UAC Foods Product</a:t>
            </a:r>
            <a:endParaRPr lang="en-US" sz="950" dirty="0"/>
          </a:p>
        </p:txBody>
      </p:sp>
      <p:sp>
        <p:nvSpPr>
          <p:cNvPr id="25" name="Text 23"/>
          <p:cNvSpPr/>
          <p:nvPr/>
        </p:nvSpPr>
        <p:spPr>
          <a:xfrm>
            <a:off x="365760" y="3557016"/>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1 = Gala Sausage Roll</a:t>
            </a:r>
            <a:endParaRPr lang="en-US" sz="900" dirty="0"/>
          </a:p>
        </p:txBody>
      </p:sp>
      <p:sp>
        <p:nvSpPr>
          <p:cNvPr id="26" name="Text 24"/>
          <p:cNvSpPr/>
          <p:nvPr/>
        </p:nvSpPr>
        <p:spPr>
          <a:xfrm>
            <a:off x="365760" y="3758184"/>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2 = Deli Foods</a:t>
            </a:r>
            <a:endParaRPr lang="en-US" sz="900" dirty="0"/>
          </a:p>
        </p:txBody>
      </p:sp>
      <p:sp>
        <p:nvSpPr>
          <p:cNvPr id="27" name="Text 25"/>
          <p:cNvSpPr/>
          <p:nvPr/>
        </p:nvSpPr>
        <p:spPr>
          <a:xfrm>
            <a:off x="365760" y="3959352"/>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3 = Mr. Biggs products</a:t>
            </a:r>
            <a:endParaRPr lang="en-US" sz="900" dirty="0"/>
          </a:p>
        </p:txBody>
      </p:sp>
      <p:sp>
        <p:nvSpPr>
          <p:cNvPr id="28" name="Text 26"/>
          <p:cNvSpPr/>
          <p:nvPr/>
        </p:nvSpPr>
        <p:spPr>
          <a:xfrm>
            <a:off x="365760" y="4160520"/>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4 = Supreme Ice Cream</a:t>
            </a:r>
            <a:endParaRPr lang="en-US" sz="900" dirty="0"/>
          </a:p>
        </p:txBody>
      </p:sp>
      <p:sp>
        <p:nvSpPr>
          <p:cNvPr id="29" name="Text 27"/>
          <p:cNvSpPr/>
          <p:nvPr/>
        </p:nvSpPr>
        <p:spPr>
          <a:xfrm>
            <a:off x="365760" y="4361688"/>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5 = Other UAC product</a:t>
            </a:r>
            <a:endParaRPr lang="en-US" sz="900" dirty="0"/>
          </a:p>
        </p:txBody>
      </p:sp>
      <p:sp>
        <p:nvSpPr>
          <p:cNvPr id="30" name="Text 28"/>
          <p:cNvSpPr/>
          <p:nvPr/>
        </p:nvSpPr>
        <p:spPr>
          <a:xfrm>
            <a:off x="365760" y="4562856"/>
            <a:ext cx="3913632" cy="18288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 +1 more values</a:t>
            </a:r>
            <a:endParaRPr lang="en-US" sz="850" dirty="0"/>
          </a:p>
        </p:txBody>
      </p:sp>
      <p:sp>
        <p:nvSpPr>
          <p:cNvPr id="31" name="Text 29"/>
          <p:cNvSpPr/>
          <p:nvPr/>
        </p:nvSpPr>
        <p:spPr>
          <a:xfrm>
            <a:off x="365760" y="4581144"/>
            <a:ext cx="3913632" cy="256032"/>
          </a:xfrm>
          <a:prstGeom prst="rect">
            <a:avLst/>
          </a:prstGeom>
          <a:noFill/>
          <a:ln/>
        </p:spPr>
        <p:txBody>
          <a:bodyPr wrap="square" lIns="0" tIns="0" rIns="0" bIns="0" rtlCol="0" anchor="ctr"/>
          <a:lstStyle/>
          <a:p>
            <a:pPr indent="0" marL="0">
              <a:buNone/>
            </a:pPr>
            <a:r>
              <a:rPr lang="en-US" sz="850" i="1" dirty="0">
                <a:solidFill>
                  <a:srgbClr val="0E7C7B"/>
                </a:solidFill>
                <a:latin typeface="Calibri" pitchFamily="34" charset="0"/>
                <a:ea typeface="Calibri" pitchFamily="34" charset="-122"/>
                <a:cs typeface="Calibri" pitchFamily="34" charset="-120"/>
              </a:rPr>
              <a:t>Note: Nominal variable - codes are arbitrary labels. Order does not imply ranking.</a:t>
            </a:r>
            <a:endParaRPr lang="en-US" sz="850" dirty="0"/>
          </a:p>
        </p:txBody>
      </p:sp>
      <p:sp>
        <p:nvSpPr>
          <p:cNvPr id="32" name="Shape 30"/>
          <p:cNvSpPr/>
          <p:nvPr/>
        </p:nvSpPr>
        <p:spPr>
          <a:xfrm>
            <a:off x="4718304" y="2971800"/>
            <a:ext cx="4160520" cy="1920240"/>
          </a:xfrm>
          <a:prstGeom prst="roundRect">
            <a:avLst>
              <a:gd name="adj" fmla="val 4286"/>
            </a:avLst>
          </a:prstGeom>
          <a:solidFill>
            <a:srgbClr val="113322"/>
          </a:solidFill>
          <a:ln w="12700">
            <a:solidFill>
              <a:srgbClr val="E67E22"/>
            </a:solidFill>
            <a:prstDash val="solid"/>
          </a:ln>
        </p:spPr>
      </p:sp>
      <p:sp>
        <p:nvSpPr>
          <p:cNvPr id="33" name="Text 31"/>
          <p:cNvSpPr/>
          <p:nvPr/>
        </p:nvSpPr>
        <p:spPr>
          <a:xfrm>
            <a:off x="4828032" y="3044952"/>
            <a:ext cx="2011680" cy="256032"/>
          </a:xfrm>
          <a:prstGeom prst="rect">
            <a:avLst/>
          </a:prstGeom>
          <a:noFill/>
          <a:ln/>
        </p:spPr>
        <p:txBody>
          <a:bodyPr wrap="square" lIns="0" tIns="0" rIns="0" bIns="0" rtlCol="0" anchor="ctr"/>
          <a:lstStyle/>
          <a:p>
            <a:pPr indent="0" marL="0">
              <a:buNone/>
            </a:pPr>
            <a:r>
              <a:rPr lang="en-US" sz="1050" b="1" dirty="0">
                <a:solidFill>
                  <a:srgbClr val="E67E22"/>
                </a:solidFill>
                <a:latin typeface="Calibri" pitchFamily="34" charset="0"/>
                <a:ea typeface="Calibri" pitchFamily="34" charset="-122"/>
                <a:cs typeface="Calibri" pitchFamily="34" charset="-120"/>
              </a:rPr>
              <a:t>repurchase_intention variable:</a:t>
            </a:r>
            <a:endParaRPr lang="en-US" sz="1050" dirty="0"/>
          </a:p>
        </p:txBody>
      </p:sp>
      <p:sp>
        <p:nvSpPr>
          <p:cNvPr id="34" name="Text 32"/>
          <p:cNvSpPr/>
          <p:nvPr/>
        </p:nvSpPr>
        <p:spPr>
          <a:xfrm>
            <a:off x="4828032" y="3300984"/>
            <a:ext cx="3913632" cy="219456"/>
          </a:xfrm>
          <a:prstGeom prst="rect">
            <a:avLst/>
          </a:prstGeom>
          <a:noFill/>
          <a:ln/>
        </p:spPr>
        <p:txBody>
          <a:bodyPr wrap="square" lIns="0" tIns="0" rIns="0" bIns="0" rtlCol="0" anchor="ctr"/>
          <a:lstStyle/>
          <a:p>
            <a:pPr indent="0" marL="0">
              <a:buNone/>
            </a:pPr>
            <a:r>
              <a:rPr lang="en-US" sz="950" i="1" dirty="0">
                <a:solidFill>
                  <a:srgbClr val="A8D4BC"/>
                </a:solidFill>
                <a:latin typeface="Calibri" pitchFamily="34" charset="0"/>
                <a:ea typeface="Calibri" pitchFamily="34" charset="-122"/>
                <a:cs typeface="Calibri" pitchFamily="34" charset="-120"/>
              </a:rPr>
              <a:t>Intention to Repurchase (Likert)</a:t>
            </a:r>
            <a:endParaRPr lang="en-US" sz="950" dirty="0"/>
          </a:p>
        </p:txBody>
      </p:sp>
      <p:sp>
        <p:nvSpPr>
          <p:cNvPr id="35" name="Text 33"/>
          <p:cNvSpPr/>
          <p:nvPr/>
        </p:nvSpPr>
        <p:spPr>
          <a:xfrm>
            <a:off x="4828032" y="3557016"/>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1 = Definitely will NOT</a:t>
            </a:r>
            <a:endParaRPr lang="en-US" sz="900" dirty="0"/>
          </a:p>
        </p:txBody>
      </p:sp>
      <p:sp>
        <p:nvSpPr>
          <p:cNvPr id="36" name="Text 34"/>
          <p:cNvSpPr/>
          <p:nvPr/>
        </p:nvSpPr>
        <p:spPr>
          <a:xfrm>
            <a:off x="4828032" y="3758184"/>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2 = Probably will not</a:t>
            </a:r>
            <a:endParaRPr lang="en-US" sz="900" dirty="0"/>
          </a:p>
        </p:txBody>
      </p:sp>
      <p:sp>
        <p:nvSpPr>
          <p:cNvPr id="37" name="Text 35"/>
          <p:cNvSpPr/>
          <p:nvPr/>
        </p:nvSpPr>
        <p:spPr>
          <a:xfrm>
            <a:off x="4828032" y="3959352"/>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3 = Undecided</a:t>
            </a:r>
            <a:endParaRPr lang="en-US" sz="900" dirty="0"/>
          </a:p>
        </p:txBody>
      </p:sp>
      <p:sp>
        <p:nvSpPr>
          <p:cNvPr id="38" name="Text 36"/>
          <p:cNvSpPr/>
          <p:nvPr/>
        </p:nvSpPr>
        <p:spPr>
          <a:xfrm>
            <a:off x="4828032" y="4160520"/>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4 = Probably will</a:t>
            </a:r>
            <a:endParaRPr lang="en-US" sz="900" dirty="0"/>
          </a:p>
        </p:txBody>
      </p:sp>
      <p:sp>
        <p:nvSpPr>
          <p:cNvPr id="39" name="Text 37"/>
          <p:cNvSpPr/>
          <p:nvPr/>
        </p:nvSpPr>
        <p:spPr>
          <a:xfrm>
            <a:off x="4828032" y="4361688"/>
            <a:ext cx="3913632"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5 = Definitely WILL</a:t>
            </a:r>
            <a:endParaRPr lang="en-US" sz="900" dirty="0"/>
          </a:p>
        </p:txBody>
      </p:sp>
      <p:sp>
        <p:nvSpPr>
          <p:cNvPr id="40" name="Text 38"/>
          <p:cNvSpPr/>
          <p:nvPr/>
        </p:nvSpPr>
        <p:spPr>
          <a:xfrm>
            <a:off x="4828032" y="4581144"/>
            <a:ext cx="3913632" cy="256032"/>
          </a:xfrm>
          <a:prstGeom prst="rect">
            <a:avLst/>
          </a:prstGeom>
          <a:noFill/>
          <a:ln/>
        </p:spPr>
        <p:txBody>
          <a:bodyPr wrap="square" lIns="0" tIns="0" rIns="0" bIns="0" rtlCol="0" anchor="ctr"/>
          <a:lstStyle/>
          <a:p>
            <a:pPr indent="0" marL="0">
              <a:buNone/>
            </a:pPr>
            <a:r>
              <a:rPr lang="en-US" sz="850" i="1" dirty="0">
                <a:solidFill>
                  <a:srgbClr val="E67E22"/>
                </a:solidFill>
                <a:latin typeface="Calibri" pitchFamily="34" charset="0"/>
                <a:ea typeface="Calibri" pitchFamily="34" charset="-122"/>
                <a:cs typeface="Calibri" pitchFamily="34" charset="-120"/>
              </a:rPr>
              <a:t>Note: Ordinal variable - anchor labels at both ends essential for correct interpretation.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6B3C">
              <a:alpha val="18000"/>
            </a:srgbClr>
          </a:solidFill>
          <a:ln w="12700">
            <a:solidFill>
              <a:srgbClr val="1A6B3C"/>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2  |  SECTION 03</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Validation and Sorting Variables</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D4BC"/>
                </a:solidFill>
                <a:latin typeface="Calibri" pitchFamily="34" charset="0"/>
                <a:ea typeface="Calibri" pitchFamily="34" charset="-122"/>
                <a:cs typeface="Calibri" pitchFamily="34" charset="-120"/>
              </a:rPr>
              <a:t>Ensuring data quality before any analysis - the professional analyst's non-negotiable step</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A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6B3C"/>
          </a:solidFill>
          <a:ln w="12700">
            <a:solidFill>
              <a:srgbClr val="1A6B3C"/>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Data Validation - Checking Data Quality After Entry or Import</a:t>
            </a:r>
            <a:endParaRPr lang="en-US" sz="2200" dirty="0"/>
          </a:p>
        </p:txBody>
      </p:sp>
      <p:sp>
        <p:nvSpPr>
          <p:cNvPr id="4" name="Shape 2"/>
          <p:cNvSpPr/>
          <p:nvPr/>
        </p:nvSpPr>
        <p:spPr>
          <a:xfrm>
            <a:off x="228600" y="1024128"/>
            <a:ext cx="4160520" cy="1261872"/>
          </a:xfrm>
          <a:prstGeom prst="roundRect">
            <a:avLst>
              <a:gd name="adj" fmla="val 5797"/>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01752" y="1097280"/>
            <a:ext cx="3017520" cy="256032"/>
          </a:xfrm>
          <a:prstGeom prst="roundRect">
            <a:avLst>
              <a:gd name="adj" fmla="val 17857"/>
            </a:avLst>
          </a:prstGeom>
          <a:solidFill>
            <a:srgbClr val="1A6B3C"/>
          </a:solidFill>
          <a:ln w="12700">
            <a:solidFill>
              <a:srgbClr val="1A6B3C"/>
            </a:solidFill>
            <a:prstDash val="solid"/>
          </a:ln>
        </p:spPr>
      </p:sp>
      <p:sp>
        <p:nvSpPr>
          <p:cNvPr id="6" name="Text 4"/>
          <p:cNvSpPr/>
          <p:nvPr/>
        </p:nvSpPr>
        <p:spPr>
          <a:xfrm>
            <a:off x="301752" y="1097280"/>
            <a:ext cx="3017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 Frequency Check for All Variables</a:t>
            </a:r>
            <a:endParaRPr lang="en-US" sz="900" dirty="0"/>
          </a:p>
        </p:txBody>
      </p:sp>
      <p:sp>
        <p:nvSpPr>
          <p:cNvPr id="7" name="Text 5"/>
          <p:cNvSpPr/>
          <p:nvPr/>
        </p:nvSpPr>
        <p:spPr>
          <a:xfrm>
            <a:off x="3392424" y="1097280"/>
            <a:ext cx="914400" cy="256032"/>
          </a:xfrm>
          <a:prstGeom prst="rect">
            <a:avLst/>
          </a:prstGeom>
          <a:noFill/>
          <a:ln/>
        </p:spPr>
        <p:txBody>
          <a:bodyPr wrap="square" lIns="0" tIns="0" rIns="0" bIns="0" rtlCol="0" anchor="ctr"/>
          <a:lstStyle/>
          <a:p>
            <a:pPr algn="r" indent="0" marL="0">
              <a:buNone/>
            </a:pPr>
            <a:r>
              <a:rPr lang="en-US" sz="750" i="1" dirty="0">
                <a:solidFill>
                  <a:srgbClr val="1A6B3C"/>
                </a:solidFill>
                <a:latin typeface="Calibri" pitchFamily="34" charset="0"/>
                <a:ea typeface="Calibri" pitchFamily="34" charset="-122"/>
                <a:cs typeface="Calibri" pitchFamily="34" charset="-120"/>
              </a:rPr>
              <a:t>Analyze &gt; Descriptive Statistics &gt; Frequencies</a:t>
            </a:r>
            <a:endParaRPr lang="en-US" sz="750" dirty="0"/>
          </a:p>
        </p:txBody>
      </p:sp>
      <p:sp>
        <p:nvSpPr>
          <p:cNvPr id="8" name="Text 6"/>
          <p:cNvSpPr/>
          <p:nvPr/>
        </p:nvSpPr>
        <p:spPr>
          <a:xfrm>
            <a:off x="320040" y="1408176"/>
            <a:ext cx="3950208" cy="475488"/>
          </a:xfrm>
          <a:prstGeom prst="rect">
            <a:avLst/>
          </a:prstGeom>
          <a:noFill/>
          <a:ln/>
        </p:spPr>
        <p:txBody>
          <a:bodyPr wrap="square" lIns="0" tIns="0" rIns="0" bIns="0" rtlCol="0" anchor="ctr"/>
          <a:lstStyle/>
          <a:p>
            <a:pPr indent="0" marL="0">
              <a:buNone/>
            </a:pPr>
            <a:r>
              <a:rPr lang="en-US" sz="850" dirty="0">
                <a:solidFill>
                  <a:srgbClr val="1E3A2E"/>
                </a:solidFill>
                <a:latin typeface="Calibri" pitchFamily="34" charset="0"/>
                <a:ea typeface="Calibri" pitchFamily="34" charset="-122"/>
                <a:cs typeface="Calibri" pitchFamily="34" charset="-120"/>
              </a:rPr>
              <a:t>Run frequencies on EVERY variable immediately after data entry or import. Look for: codes that do not appear in your Value Labels (e.g., a 6 in a 1-5 scale), impossible minimum or maximum values, unexpected high missing rates.</a:t>
            </a:r>
            <a:endParaRPr lang="en-US" sz="850" dirty="0"/>
          </a:p>
        </p:txBody>
      </p:sp>
      <p:sp>
        <p:nvSpPr>
          <p:cNvPr id="9" name="Text 7"/>
          <p:cNvSpPr/>
          <p:nvPr/>
        </p:nvSpPr>
        <p:spPr>
          <a:xfrm>
            <a:off x="320040" y="1901952"/>
            <a:ext cx="3950208" cy="320040"/>
          </a:xfrm>
          <a:prstGeom prst="rect">
            <a:avLst/>
          </a:prstGeom>
          <a:noFill/>
          <a:ln/>
        </p:spPr>
        <p:txBody>
          <a:bodyPr wrap="square" lIns="0" tIns="0" rIns="0" bIns="0" rtlCol="0" anchor="ctr"/>
          <a:lstStyle/>
          <a:p>
            <a:pPr indent="0" marL="0">
              <a:buNone/>
            </a:pPr>
            <a:r>
              <a:rPr lang="en-US" sz="800" b="1" dirty="0">
                <a:solidFill>
                  <a:srgbClr val="1A6B3C"/>
                </a:solidFill>
                <a:latin typeface="Calibri" pitchFamily="34" charset="0"/>
                <a:ea typeface="Calibri" pitchFamily="34" charset="-122"/>
                <a:cs typeface="Calibri" pitchFamily="34" charset="-120"/>
              </a:rPr>
              <a:t>UAC: </a:t>
            </a:r>
            <a:pPr indent="0" marL="0">
              <a:buNone/>
            </a:pPr>
            <a:r>
              <a:rPr lang="en-US" sz="800" i="1" dirty="0">
                <a:solidFill>
                  <a:srgbClr val="64748B"/>
                </a:solidFill>
                <a:latin typeface="Calibri" pitchFamily="34" charset="0"/>
                <a:ea typeface="Calibri" pitchFamily="34" charset="-122"/>
                <a:cs typeface="Calibri" pitchFamily="34" charset="-120"/>
              </a:rPr>
              <a:t>UAC Foods: Running Frequencies on gender reveals code '4' for 3 cases - this is an error. Valid codes are 1, 2, 3 only. Those 3 cases need to be investigated and corrected.</a:t>
            </a:r>
            <a:endParaRPr lang="en-US" sz="800" dirty="0"/>
          </a:p>
        </p:txBody>
      </p:sp>
      <p:sp>
        <p:nvSpPr>
          <p:cNvPr id="10" name="Shape 8"/>
          <p:cNvSpPr/>
          <p:nvPr/>
        </p:nvSpPr>
        <p:spPr>
          <a:xfrm>
            <a:off x="4690872" y="1024128"/>
            <a:ext cx="4160520" cy="1261872"/>
          </a:xfrm>
          <a:prstGeom prst="roundRect">
            <a:avLst>
              <a:gd name="adj" fmla="val 5797"/>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4764024" y="1097280"/>
            <a:ext cx="3017520" cy="256032"/>
          </a:xfrm>
          <a:prstGeom prst="roundRect">
            <a:avLst>
              <a:gd name="adj" fmla="val 17857"/>
            </a:avLst>
          </a:prstGeom>
          <a:solidFill>
            <a:srgbClr val="0E7C7B"/>
          </a:solidFill>
          <a:ln w="12700">
            <a:solidFill>
              <a:srgbClr val="0E7C7B"/>
            </a:solidFill>
            <a:prstDash val="solid"/>
          </a:ln>
        </p:spPr>
      </p:sp>
      <p:sp>
        <p:nvSpPr>
          <p:cNvPr id="12" name="Text 10"/>
          <p:cNvSpPr/>
          <p:nvPr/>
        </p:nvSpPr>
        <p:spPr>
          <a:xfrm>
            <a:off x="4764024" y="1097280"/>
            <a:ext cx="3017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 Descriptive Statistics Range Check</a:t>
            </a:r>
            <a:endParaRPr lang="en-US" sz="900" dirty="0"/>
          </a:p>
        </p:txBody>
      </p:sp>
      <p:sp>
        <p:nvSpPr>
          <p:cNvPr id="13" name="Text 11"/>
          <p:cNvSpPr/>
          <p:nvPr/>
        </p:nvSpPr>
        <p:spPr>
          <a:xfrm>
            <a:off x="7854696" y="1097280"/>
            <a:ext cx="914400" cy="256032"/>
          </a:xfrm>
          <a:prstGeom prst="rect">
            <a:avLst/>
          </a:prstGeom>
          <a:noFill/>
          <a:ln/>
        </p:spPr>
        <p:txBody>
          <a:bodyPr wrap="square" lIns="0" tIns="0" rIns="0" bIns="0" rtlCol="0" anchor="ctr"/>
          <a:lstStyle/>
          <a:p>
            <a:pPr algn="r" indent="0" marL="0">
              <a:buNone/>
            </a:pPr>
            <a:r>
              <a:rPr lang="en-US" sz="750" i="1" dirty="0">
                <a:solidFill>
                  <a:srgbClr val="0E7C7B"/>
                </a:solidFill>
                <a:latin typeface="Calibri" pitchFamily="34" charset="0"/>
                <a:ea typeface="Calibri" pitchFamily="34" charset="-122"/>
                <a:cs typeface="Calibri" pitchFamily="34" charset="-120"/>
              </a:rPr>
              <a:t>Analyze &gt; Descriptive Statistics &gt; Descriptives</a:t>
            </a:r>
            <a:endParaRPr lang="en-US" sz="750" dirty="0"/>
          </a:p>
        </p:txBody>
      </p:sp>
      <p:sp>
        <p:nvSpPr>
          <p:cNvPr id="14" name="Text 12"/>
          <p:cNvSpPr/>
          <p:nvPr/>
        </p:nvSpPr>
        <p:spPr>
          <a:xfrm>
            <a:off x="4782312" y="1408176"/>
            <a:ext cx="3950208" cy="475488"/>
          </a:xfrm>
          <a:prstGeom prst="rect">
            <a:avLst/>
          </a:prstGeom>
          <a:noFill/>
          <a:ln/>
        </p:spPr>
        <p:txBody>
          <a:bodyPr wrap="square" lIns="0" tIns="0" rIns="0" bIns="0" rtlCol="0" anchor="ctr"/>
          <a:lstStyle/>
          <a:p>
            <a:pPr indent="0" marL="0">
              <a:buNone/>
            </a:pPr>
            <a:r>
              <a:rPr lang="en-US" sz="850" dirty="0">
                <a:solidFill>
                  <a:srgbClr val="1E3A2E"/>
                </a:solidFill>
                <a:latin typeface="Calibri" pitchFamily="34" charset="0"/>
                <a:ea typeface="Calibri" pitchFamily="34" charset="-122"/>
                <a:cs typeface="Calibri" pitchFamily="34" charset="-120"/>
              </a:rPr>
              <a:t>For scale variables, check Minimum and Maximum. Any value outside the valid range is an entry error. Example: age = -5, salary = 0, satisfaction = 11 on a 1-10 scale.</a:t>
            </a:r>
            <a:endParaRPr lang="en-US" sz="850" dirty="0"/>
          </a:p>
        </p:txBody>
      </p:sp>
      <p:sp>
        <p:nvSpPr>
          <p:cNvPr id="15" name="Text 13"/>
          <p:cNvSpPr/>
          <p:nvPr/>
        </p:nvSpPr>
        <p:spPr>
          <a:xfrm>
            <a:off x="4782312" y="1901952"/>
            <a:ext cx="3950208" cy="320040"/>
          </a:xfrm>
          <a:prstGeom prst="rect">
            <a:avLst/>
          </a:prstGeom>
          <a:noFill/>
          <a:ln/>
        </p:spPr>
        <p:txBody>
          <a:bodyPr wrap="square" lIns="0" tIns="0" rIns="0" bIns="0" rtlCol="0" anchor="ctr"/>
          <a:lstStyle/>
          <a:p>
            <a:pPr indent="0" marL="0">
              <a:buNone/>
            </a:pPr>
            <a:r>
              <a:rPr lang="en-US" sz="800" b="1" dirty="0">
                <a:solidFill>
                  <a:srgbClr val="0E7C7B"/>
                </a:solidFill>
                <a:latin typeface="Calibri" pitchFamily="34" charset="0"/>
                <a:ea typeface="Calibri" pitchFamily="34" charset="-122"/>
                <a:cs typeface="Calibri" pitchFamily="34" charset="-120"/>
              </a:rPr>
              <a:t>UAC: </a:t>
            </a:r>
            <a:pPr indent="0" marL="0">
              <a:buNone/>
            </a:pPr>
            <a:r>
              <a:rPr lang="en-US" sz="800" i="1" dirty="0">
                <a:solidFill>
                  <a:srgbClr val="64748B"/>
                </a:solidFill>
                <a:latin typeface="Calibri" pitchFamily="34" charset="0"/>
                <a:ea typeface="Calibri" pitchFamily="34" charset="-122"/>
                <a:cs typeface="Calibri" pitchFamily="34" charset="-120"/>
              </a:rPr>
              <a:t>UAC Foods: Descriptives reveals age_in_years has a minimum of 8. UAC Foods targets adult consumers 18+. The 8-year-old record must be identified and either corrected or excluded.</a:t>
            </a:r>
            <a:endParaRPr lang="en-US" sz="800" dirty="0"/>
          </a:p>
        </p:txBody>
      </p:sp>
      <p:sp>
        <p:nvSpPr>
          <p:cNvPr id="16" name="Shape 14"/>
          <p:cNvSpPr/>
          <p:nvPr/>
        </p:nvSpPr>
        <p:spPr>
          <a:xfrm>
            <a:off x="228600" y="2377440"/>
            <a:ext cx="4160520" cy="1261872"/>
          </a:xfrm>
          <a:prstGeom prst="roundRect">
            <a:avLst>
              <a:gd name="adj" fmla="val 5797"/>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01752" y="2450592"/>
            <a:ext cx="3017520" cy="256032"/>
          </a:xfrm>
          <a:prstGeom prst="roundRect">
            <a:avLst>
              <a:gd name="adj" fmla="val 17857"/>
            </a:avLst>
          </a:prstGeom>
          <a:solidFill>
            <a:srgbClr val="1B5CA0"/>
          </a:solidFill>
          <a:ln w="12700">
            <a:solidFill>
              <a:srgbClr val="1B5CA0"/>
            </a:solidFill>
            <a:prstDash val="solid"/>
          </a:ln>
        </p:spPr>
      </p:sp>
      <p:sp>
        <p:nvSpPr>
          <p:cNvPr id="18" name="Text 16"/>
          <p:cNvSpPr/>
          <p:nvPr/>
        </p:nvSpPr>
        <p:spPr>
          <a:xfrm>
            <a:off x="301752" y="2450592"/>
            <a:ext cx="3017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 Cross-Check with Skip Logic</a:t>
            </a:r>
            <a:endParaRPr lang="en-US" sz="900" dirty="0"/>
          </a:p>
        </p:txBody>
      </p:sp>
      <p:sp>
        <p:nvSpPr>
          <p:cNvPr id="19" name="Text 17"/>
          <p:cNvSpPr/>
          <p:nvPr/>
        </p:nvSpPr>
        <p:spPr>
          <a:xfrm>
            <a:off x="3392424" y="2450592"/>
            <a:ext cx="914400" cy="256032"/>
          </a:xfrm>
          <a:prstGeom prst="rect">
            <a:avLst/>
          </a:prstGeom>
          <a:noFill/>
          <a:ln/>
        </p:spPr>
        <p:txBody>
          <a:bodyPr wrap="square" lIns="0" tIns="0" rIns="0" bIns="0" rtlCol="0" anchor="ctr"/>
          <a:lstStyle/>
          <a:p>
            <a:pPr algn="r" indent="0" marL="0">
              <a:buNone/>
            </a:pPr>
            <a:r>
              <a:rPr lang="en-US" sz="750" i="1" dirty="0">
                <a:solidFill>
                  <a:srgbClr val="1B5CA0"/>
                </a:solidFill>
                <a:latin typeface="Calibri" pitchFamily="34" charset="0"/>
                <a:ea typeface="Calibri" pitchFamily="34" charset="-122"/>
                <a:cs typeface="Calibri" pitchFamily="34" charset="-120"/>
              </a:rPr>
              <a:t>Analyze &gt; Descriptive Statistics &gt; Crosstabs</a:t>
            </a:r>
            <a:endParaRPr lang="en-US" sz="750" dirty="0"/>
          </a:p>
        </p:txBody>
      </p:sp>
      <p:sp>
        <p:nvSpPr>
          <p:cNvPr id="20" name="Text 18"/>
          <p:cNvSpPr/>
          <p:nvPr/>
        </p:nvSpPr>
        <p:spPr>
          <a:xfrm>
            <a:off x="320040" y="2761488"/>
            <a:ext cx="3950208" cy="475488"/>
          </a:xfrm>
          <a:prstGeom prst="rect">
            <a:avLst/>
          </a:prstGeom>
          <a:noFill/>
          <a:ln/>
        </p:spPr>
        <p:txBody>
          <a:bodyPr wrap="square" lIns="0" tIns="0" rIns="0" bIns="0" rtlCol="0" anchor="ctr"/>
          <a:lstStyle/>
          <a:p>
            <a:pPr indent="0" marL="0">
              <a:buNone/>
            </a:pPr>
            <a:r>
              <a:rPr lang="en-US" sz="850" dirty="0">
                <a:solidFill>
                  <a:srgbClr val="1E3A2E"/>
                </a:solidFill>
                <a:latin typeface="Calibri" pitchFamily="34" charset="0"/>
                <a:ea typeface="Calibri" pitchFamily="34" charset="-122"/>
                <a:cs typeface="Calibri" pitchFamily="34" charset="-120"/>
              </a:rPr>
              <a:t>If your questionnaire has skip logic (e.g., 'If No, skip to Q10'), verify that respondents who answered No actually skipped Q10. Use Crosstabs to check the relationship between the routing question and the skipped question.</a:t>
            </a:r>
            <a:endParaRPr lang="en-US" sz="850" dirty="0"/>
          </a:p>
        </p:txBody>
      </p:sp>
      <p:sp>
        <p:nvSpPr>
          <p:cNvPr id="21" name="Text 19"/>
          <p:cNvSpPr/>
          <p:nvPr/>
        </p:nvSpPr>
        <p:spPr>
          <a:xfrm>
            <a:off x="320040" y="3255264"/>
            <a:ext cx="3950208" cy="320040"/>
          </a:xfrm>
          <a:prstGeom prst="rect">
            <a:avLst/>
          </a:prstGeom>
          <a:noFill/>
          <a:ln/>
        </p:spPr>
        <p:txBody>
          <a:bodyPr wrap="square" lIns="0" tIns="0" rIns="0" bIns="0" rtlCol="0" anchor="ctr"/>
          <a:lstStyle/>
          <a:p>
            <a:pPr indent="0" marL="0">
              <a:buNone/>
            </a:pPr>
            <a:r>
              <a:rPr lang="en-US" sz="800" b="1" dirty="0">
                <a:solidFill>
                  <a:srgbClr val="1B5CA0"/>
                </a:solidFill>
                <a:latin typeface="Calibri" pitchFamily="34" charset="0"/>
                <a:ea typeface="Calibri" pitchFamily="34" charset="-122"/>
                <a:cs typeface="Calibri" pitchFamily="34" charset="-120"/>
              </a:rPr>
              <a:t>UAC: </a:t>
            </a:r>
            <a:pPr indent="0" marL="0">
              <a:buNone/>
            </a:pPr>
            <a:r>
              <a:rPr lang="en-US" sz="800" i="1" dirty="0">
                <a:solidFill>
                  <a:srgbClr val="64748B"/>
                </a:solidFill>
                <a:latin typeface="Calibri" pitchFamily="34" charset="0"/>
                <a:ea typeface="Calibri" pitchFamily="34" charset="-122"/>
                <a:cs typeface="Calibri" pitchFamily="34" charset="-120"/>
              </a:rPr>
              <a:t>UAC Foods: If Q3 asks 'Do you purchase UAC products?' and No routes to Q15, any respondent with No in Q3 should have all blank values from Q4 to Q14.</a:t>
            </a:r>
            <a:endParaRPr lang="en-US" sz="800" dirty="0"/>
          </a:p>
        </p:txBody>
      </p:sp>
      <p:sp>
        <p:nvSpPr>
          <p:cNvPr id="22" name="Shape 20"/>
          <p:cNvSpPr/>
          <p:nvPr/>
        </p:nvSpPr>
        <p:spPr>
          <a:xfrm>
            <a:off x="4690872" y="2377440"/>
            <a:ext cx="4160520" cy="1261872"/>
          </a:xfrm>
          <a:prstGeom prst="roundRect">
            <a:avLst>
              <a:gd name="adj" fmla="val 5797"/>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4764024" y="2450592"/>
            <a:ext cx="3017520" cy="256032"/>
          </a:xfrm>
          <a:prstGeom prst="roundRect">
            <a:avLst>
              <a:gd name="adj" fmla="val 17857"/>
            </a:avLst>
          </a:prstGeom>
          <a:solidFill>
            <a:srgbClr val="E67E22"/>
          </a:solidFill>
          <a:ln w="12700">
            <a:solidFill>
              <a:srgbClr val="E67E22"/>
            </a:solidFill>
            <a:prstDash val="solid"/>
          </a:ln>
        </p:spPr>
      </p:sp>
      <p:sp>
        <p:nvSpPr>
          <p:cNvPr id="24" name="Text 22"/>
          <p:cNvSpPr/>
          <p:nvPr/>
        </p:nvSpPr>
        <p:spPr>
          <a:xfrm>
            <a:off x="4764024" y="2450592"/>
            <a:ext cx="3017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 Identify Duplicate Cases</a:t>
            </a:r>
            <a:endParaRPr lang="en-US" sz="900" dirty="0"/>
          </a:p>
        </p:txBody>
      </p:sp>
      <p:sp>
        <p:nvSpPr>
          <p:cNvPr id="25" name="Text 23"/>
          <p:cNvSpPr/>
          <p:nvPr/>
        </p:nvSpPr>
        <p:spPr>
          <a:xfrm>
            <a:off x="7854696" y="2450592"/>
            <a:ext cx="914400" cy="256032"/>
          </a:xfrm>
          <a:prstGeom prst="rect">
            <a:avLst/>
          </a:prstGeom>
          <a:noFill/>
          <a:ln/>
        </p:spPr>
        <p:txBody>
          <a:bodyPr wrap="square" lIns="0" tIns="0" rIns="0" bIns="0" rtlCol="0" anchor="ctr"/>
          <a:lstStyle/>
          <a:p>
            <a:pPr algn="r" indent="0" marL="0">
              <a:buNone/>
            </a:pPr>
            <a:r>
              <a:rPr lang="en-US" sz="750" i="1" dirty="0">
                <a:solidFill>
                  <a:srgbClr val="E67E22"/>
                </a:solidFill>
                <a:latin typeface="Calibri" pitchFamily="34" charset="0"/>
                <a:ea typeface="Calibri" pitchFamily="34" charset="-122"/>
                <a:cs typeface="Calibri" pitchFamily="34" charset="-120"/>
              </a:rPr>
              <a:t>Data &gt; Identify Duplicate Cases</a:t>
            </a:r>
            <a:endParaRPr lang="en-US" sz="750" dirty="0"/>
          </a:p>
        </p:txBody>
      </p:sp>
      <p:sp>
        <p:nvSpPr>
          <p:cNvPr id="26" name="Text 24"/>
          <p:cNvSpPr/>
          <p:nvPr/>
        </p:nvSpPr>
        <p:spPr>
          <a:xfrm>
            <a:off x="4782312" y="2761488"/>
            <a:ext cx="3950208" cy="475488"/>
          </a:xfrm>
          <a:prstGeom prst="rect">
            <a:avLst/>
          </a:prstGeom>
          <a:noFill/>
          <a:ln/>
        </p:spPr>
        <p:txBody>
          <a:bodyPr wrap="square" lIns="0" tIns="0" rIns="0" bIns="0" rtlCol="0" anchor="ctr"/>
          <a:lstStyle/>
          <a:p>
            <a:pPr indent="0" marL="0">
              <a:buNone/>
            </a:pPr>
            <a:r>
              <a:rPr lang="en-US" sz="850" dirty="0">
                <a:solidFill>
                  <a:srgbClr val="1E3A2E"/>
                </a:solidFill>
                <a:latin typeface="Calibri" pitchFamily="34" charset="0"/>
                <a:ea typeface="Calibri" pitchFamily="34" charset="-122"/>
                <a:cs typeface="Calibri" pitchFamily="34" charset="-120"/>
              </a:rPr>
              <a:t>Detect respondents who accidentally submitted the survey twice. Select the key variable (respondent_id, phone number, or email code). SPSS flags duplicates and allows you to mark or delete them.</a:t>
            </a:r>
            <a:endParaRPr lang="en-US" sz="850" dirty="0"/>
          </a:p>
        </p:txBody>
      </p:sp>
      <p:sp>
        <p:nvSpPr>
          <p:cNvPr id="27" name="Text 25"/>
          <p:cNvSpPr/>
          <p:nvPr/>
        </p:nvSpPr>
        <p:spPr>
          <a:xfrm>
            <a:off x="4782312" y="3255264"/>
            <a:ext cx="3950208" cy="320040"/>
          </a:xfrm>
          <a:prstGeom prst="rect">
            <a:avLst/>
          </a:prstGeom>
          <a:noFill/>
          <a:ln/>
        </p:spPr>
        <p:txBody>
          <a:bodyPr wrap="square" lIns="0" tIns="0" rIns="0" bIns="0" rtlCol="0" anchor="ctr"/>
          <a:lstStyle/>
          <a:p>
            <a:pPr indent="0" marL="0">
              <a:buNone/>
            </a:pPr>
            <a:r>
              <a:rPr lang="en-US" sz="800" b="1" dirty="0">
                <a:solidFill>
                  <a:srgbClr val="E67E22"/>
                </a:solidFill>
                <a:latin typeface="Calibri" pitchFamily="34" charset="0"/>
                <a:ea typeface="Calibri" pitchFamily="34" charset="-122"/>
                <a:cs typeface="Calibri" pitchFamily="34" charset="-120"/>
              </a:rPr>
              <a:t>UAC: </a:t>
            </a:r>
            <a:pPr indent="0" marL="0">
              <a:buNone/>
            </a:pPr>
            <a:r>
              <a:rPr lang="en-US" sz="800" i="1" dirty="0">
                <a:solidFill>
                  <a:srgbClr val="64748B"/>
                </a:solidFill>
                <a:latin typeface="Calibri" pitchFamily="34" charset="0"/>
                <a:ea typeface="Calibri" pitchFamily="34" charset="-122"/>
                <a:cs typeface="Calibri" pitchFamily="34" charset="-120"/>
              </a:rPr>
              <a:t>UAC Foods online survey: 12 respondents submitted the form twice. The Identify Duplicates command flags the second submission for deletion, keeping the first complete response.</a:t>
            </a:r>
            <a:endParaRPr lang="en-US" sz="800" dirty="0"/>
          </a:p>
        </p:txBody>
      </p:sp>
      <p:sp>
        <p:nvSpPr>
          <p:cNvPr id="28" name="Shape 26"/>
          <p:cNvSpPr/>
          <p:nvPr/>
        </p:nvSpPr>
        <p:spPr>
          <a:xfrm>
            <a:off x="228600" y="3730752"/>
            <a:ext cx="4160520" cy="1261872"/>
          </a:xfrm>
          <a:prstGeom prst="roundRect">
            <a:avLst>
              <a:gd name="adj" fmla="val 5797"/>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9" name="Shape 27"/>
          <p:cNvSpPr/>
          <p:nvPr/>
        </p:nvSpPr>
        <p:spPr>
          <a:xfrm>
            <a:off x="301752" y="3803904"/>
            <a:ext cx="3017520" cy="256032"/>
          </a:xfrm>
          <a:prstGeom prst="roundRect">
            <a:avLst>
              <a:gd name="adj" fmla="val 17857"/>
            </a:avLst>
          </a:prstGeom>
          <a:solidFill>
            <a:srgbClr val="5B2D8E"/>
          </a:solidFill>
          <a:ln w="12700">
            <a:solidFill>
              <a:srgbClr val="5B2D8E"/>
            </a:solidFill>
            <a:prstDash val="solid"/>
          </a:ln>
        </p:spPr>
      </p:sp>
      <p:sp>
        <p:nvSpPr>
          <p:cNvPr id="30" name="Text 28"/>
          <p:cNvSpPr/>
          <p:nvPr/>
        </p:nvSpPr>
        <p:spPr>
          <a:xfrm>
            <a:off x="301752" y="3803904"/>
            <a:ext cx="3017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Define Variable Properties Scan</a:t>
            </a:r>
            <a:endParaRPr lang="en-US" sz="900" dirty="0"/>
          </a:p>
        </p:txBody>
      </p:sp>
      <p:sp>
        <p:nvSpPr>
          <p:cNvPr id="31" name="Text 29"/>
          <p:cNvSpPr/>
          <p:nvPr/>
        </p:nvSpPr>
        <p:spPr>
          <a:xfrm>
            <a:off x="3392424" y="3803904"/>
            <a:ext cx="914400" cy="256032"/>
          </a:xfrm>
          <a:prstGeom prst="rect">
            <a:avLst/>
          </a:prstGeom>
          <a:noFill/>
          <a:ln/>
        </p:spPr>
        <p:txBody>
          <a:bodyPr wrap="square" lIns="0" tIns="0" rIns="0" bIns="0" rtlCol="0" anchor="ctr"/>
          <a:lstStyle/>
          <a:p>
            <a:pPr algn="r" indent="0" marL="0">
              <a:buNone/>
            </a:pPr>
            <a:r>
              <a:rPr lang="en-US" sz="750" i="1" dirty="0">
                <a:solidFill>
                  <a:srgbClr val="5B2D8E"/>
                </a:solidFill>
                <a:latin typeface="Calibri" pitchFamily="34" charset="0"/>
                <a:ea typeface="Calibri" pitchFamily="34" charset="-122"/>
                <a:cs typeface="Calibri" pitchFamily="34" charset="-120"/>
              </a:rPr>
              <a:t>Data &gt; Define Variable Properties</a:t>
            </a:r>
            <a:endParaRPr lang="en-US" sz="750" dirty="0"/>
          </a:p>
        </p:txBody>
      </p:sp>
      <p:sp>
        <p:nvSpPr>
          <p:cNvPr id="32" name="Text 30"/>
          <p:cNvSpPr/>
          <p:nvPr/>
        </p:nvSpPr>
        <p:spPr>
          <a:xfrm>
            <a:off x="320040" y="4114800"/>
            <a:ext cx="3950208" cy="475488"/>
          </a:xfrm>
          <a:prstGeom prst="rect">
            <a:avLst/>
          </a:prstGeom>
          <a:noFill/>
          <a:ln/>
        </p:spPr>
        <p:txBody>
          <a:bodyPr wrap="square" lIns="0" tIns="0" rIns="0" bIns="0" rtlCol="0" anchor="ctr"/>
          <a:lstStyle/>
          <a:p>
            <a:pPr indent="0" marL="0">
              <a:buNone/>
            </a:pPr>
            <a:r>
              <a:rPr lang="en-US" sz="850" dirty="0">
                <a:solidFill>
                  <a:srgbClr val="1E3A2E"/>
                </a:solidFill>
                <a:latin typeface="Calibri" pitchFamily="34" charset="0"/>
                <a:ea typeface="Calibri" pitchFamily="34" charset="-122"/>
                <a:cs typeface="Calibri" pitchFamily="34" charset="-120"/>
              </a:rPr>
              <a:t>After importing from Excel, use this tool to scan your data. SPSS suggests appropriate value labels for variables with few unique values and flags potential missing value codes (e.g., 99 appearing infrequently).</a:t>
            </a:r>
            <a:endParaRPr lang="en-US" sz="850" dirty="0"/>
          </a:p>
        </p:txBody>
      </p:sp>
      <p:sp>
        <p:nvSpPr>
          <p:cNvPr id="33" name="Text 31"/>
          <p:cNvSpPr/>
          <p:nvPr/>
        </p:nvSpPr>
        <p:spPr>
          <a:xfrm>
            <a:off x="320040" y="4608576"/>
            <a:ext cx="3950208" cy="320040"/>
          </a:xfrm>
          <a:prstGeom prst="rect">
            <a:avLst/>
          </a:prstGeom>
          <a:noFill/>
          <a:ln/>
        </p:spPr>
        <p:txBody>
          <a:bodyPr wrap="square" lIns="0" tIns="0" rIns="0" bIns="0" rtlCol="0" anchor="ctr"/>
          <a:lstStyle/>
          <a:p>
            <a:pPr indent="0" marL="0">
              <a:buNone/>
            </a:pPr>
            <a:r>
              <a:rPr lang="en-US" sz="800" b="1" dirty="0">
                <a:solidFill>
                  <a:srgbClr val="5B2D8E"/>
                </a:solidFill>
                <a:latin typeface="Calibri" pitchFamily="34" charset="0"/>
                <a:ea typeface="Calibri" pitchFamily="34" charset="-122"/>
                <a:cs typeface="Calibri" pitchFamily="34" charset="-120"/>
              </a:rPr>
              <a:t>UAC: </a:t>
            </a:r>
            <a:pPr indent="0" marL="0">
              <a:buNone/>
            </a:pPr>
            <a:r>
              <a:rPr lang="en-US" sz="800" i="1" dirty="0">
                <a:solidFill>
                  <a:srgbClr val="64748B"/>
                </a:solidFill>
                <a:latin typeface="Calibri" pitchFamily="34" charset="0"/>
                <a:ea typeface="Calibri" pitchFamily="34" charset="-122"/>
                <a:cs typeface="Calibri" pitchFamily="34" charset="-120"/>
              </a:rPr>
              <a:t>After importing UAC Foods Excel file: SPSS detects that the 'region' variable has values 1-6 and suggests adding value labels. Saves time versus doing it manually.</a:t>
            </a:r>
            <a:endParaRPr lang="en-US" sz="800" dirty="0"/>
          </a:p>
        </p:txBody>
      </p:sp>
      <p:sp>
        <p:nvSpPr>
          <p:cNvPr id="34" name="Shape 32"/>
          <p:cNvSpPr/>
          <p:nvPr/>
        </p:nvSpPr>
        <p:spPr>
          <a:xfrm>
            <a:off x="4690872" y="3730752"/>
            <a:ext cx="4160520" cy="1261872"/>
          </a:xfrm>
          <a:prstGeom prst="roundRect">
            <a:avLst>
              <a:gd name="adj" fmla="val 5797"/>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35" name="Shape 33"/>
          <p:cNvSpPr/>
          <p:nvPr/>
        </p:nvSpPr>
        <p:spPr>
          <a:xfrm>
            <a:off x="4764024" y="3803904"/>
            <a:ext cx="3017520" cy="256032"/>
          </a:xfrm>
          <a:prstGeom prst="roundRect">
            <a:avLst>
              <a:gd name="adj" fmla="val 17857"/>
            </a:avLst>
          </a:prstGeom>
          <a:solidFill>
            <a:srgbClr val="C0392B"/>
          </a:solidFill>
          <a:ln w="12700">
            <a:solidFill>
              <a:srgbClr val="C0392B"/>
            </a:solidFill>
            <a:prstDash val="solid"/>
          </a:ln>
        </p:spPr>
      </p:sp>
      <p:sp>
        <p:nvSpPr>
          <p:cNvPr id="36" name="Text 34"/>
          <p:cNvSpPr/>
          <p:nvPr/>
        </p:nvSpPr>
        <p:spPr>
          <a:xfrm>
            <a:off x="4764024" y="3803904"/>
            <a:ext cx="3017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 Compute Validation Flags</a:t>
            </a:r>
            <a:endParaRPr lang="en-US" sz="900" dirty="0"/>
          </a:p>
        </p:txBody>
      </p:sp>
      <p:sp>
        <p:nvSpPr>
          <p:cNvPr id="37" name="Text 35"/>
          <p:cNvSpPr/>
          <p:nvPr/>
        </p:nvSpPr>
        <p:spPr>
          <a:xfrm>
            <a:off x="7854696" y="3803904"/>
            <a:ext cx="914400" cy="256032"/>
          </a:xfrm>
          <a:prstGeom prst="rect">
            <a:avLst/>
          </a:prstGeom>
          <a:noFill/>
          <a:ln/>
        </p:spPr>
        <p:txBody>
          <a:bodyPr wrap="square" lIns="0" tIns="0" rIns="0" bIns="0" rtlCol="0" anchor="ctr"/>
          <a:lstStyle/>
          <a:p>
            <a:pPr algn="r" indent="0" marL="0">
              <a:buNone/>
            </a:pPr>
            <a:r>
              <a:rPr lang="en-US" sz="750" i="1" dirty="0">
                <a:solidFill>
                  <a:srgbClr val="C0392B"/>
                </a:solidFill>
                <a:latin typeface="Calibri" pitchFamily="34" charset="0"/>
                <a:ea typeface="Calibri" pitchFamily="34" charset="-122"/>
                <a:cs typeface="Calibri" pitchFamily="34" charset="-120"/>
              </a:rPr>
              <a:t>Transform &gt; Compute Variable</a:t>
            </a:r>
            <a:endParaRPr lang="en-US" sz="750" dirty="0"/>
          </a:p>
        </p:txBody>
      </p:sp>
      <p:sp>
        <p:nvSpPr>
          <p:cNvPr id="38" name="Text 36"/>
          <p:cNvSpPr/>
          <p:nvPr/>
        </p:nvSpPr>
        <p:spPr>
          <a:xfrm>
            <a:off x="4782312" y="4114800"/>
            <a:ext cx="3950208" cy="475488"/>
          </a:xfrm>
          <a:prstGeom prst="rect">
            <a:avLst/>
          </a:prstGeom>
          <a:noFill/>
          <a:ln/>
        </p:spPr>
        <p:txBody>
          <a:bodyPr wrap="square" lIns="0" tIns="0" rIns="0" bIns="0" rtlCol="0" anchor="ctr"/>
          <a:lstStyle/>
          <a:p>
            <a:pPr indent="0" marL="0">
              <a:buNone/>
            </a:pPr>
            <a:r>
              <a:rPr lang="en-US" sz="850" dirty="0">
                <a:solidFill>
                  <a:srgbClr val="1E3A2E"/>
                </a:solidFill>
                <a:latin typeface="Calibri" pitchFamily="34" charset="0"/>
                <a:ea typeface="Calibri" pitchFamily="34" charset="-122"/>
                <a:cs typeface="Calibri" pitchFamily="34" charset="-120"/>
              </a:rPr>
              <a:t>Create flag variables that identify invalid records. Condition: (age &lt; 18 OR age &gt; 75). Any case where the flag = 1 needs review. This is systematic and auditable.</a:t>
            </a:r>
            <a:endParaRPr lang="en-US" sz="850" dirty="0"/>
          </a:p>
        </p:txBody>
      </p:sp>
      <p:sp>
        <p:nvSpPr>
          <p:cNvPr id="39" name="Text 37"/>
          <p:cNvSpPr/>
          <p:nvPr/>
        </p:nvSpPr>
        <p:spPr>
          <a:xfrm>
            <a:off x="4782312" y="4608576"/>
            <a:ext cx="3950208" cy="320040"/>
          </a:xfrm>
          <a:prstGeom prst="rect">
            <a:avLst/>
          </a:prstGeom>
          <a:noFill/>
          <a:ln/>
        </p:spPr>
        <p:txBody>
          <a:bodyPr wrap="square" lIns="0" tIns="0" rIns="0" bIns="0" rtlCol="0" anchor="ctr"/>
          <a:lstStyle/>
          <a:p>
            <a:pPr indent="0" marL="0">
              <a:buNone/>
            </a:pPr>
            <a:r>
              <a:rPr lang="en-US" sz="800" b="1" dirty="0">
                <a:solidFill>
                  <a:srgbClr val="C0392B"/>
                </a:solidFill>
                <a:latin typeface="Calibri" pitchFamily="34" charset="0"/>
                <a:ea typeface="Calibri" pitchFamily="34" charset="-122"/>
                <a:cs typeface="Calibri" pitchFamily="34" charset="-120"/>
              </a:rPr>
              <a:t>UAC: </a:t>
            </a:r>
            <a:pPr indent="0" marL="0">
              <a:buNone/>
            </a:pPr>
            <a:r>
              <a:rPr lang="en-US" sz="800" i="1" dirty="0">
                <a:solidFill>
                  <a:srgbClr val="64748B"/>
                </a:solidFill>
                <a:latin typeface="Calibri" pitchFamily="34" charset="0"/>
                <a:ea typeface="Calibri" pitchFamily="34" charset="-122"/>
                <a:cs typeface="Calibri" pitchFamily="34" charset="-120"/>
              </a:rPr>
              <a:t>COMPUTE invalid_age = (age_in_years &lt; 18 OR age_in_years &gt; 75). COMPUTE invalid_salary = (monthly_salary_ngn &lt; 10000 OR monthly_salary_ngn &gt; 10000000).</a:t>
            </a:r>
            <a:endParaRPr lang="en-US" sz="800" dirty="0"/>
          </a:p>
        </p:txBody>
      </p:sp>
      <p:sp>
        <p:nvSpPr>
          <p:cNvPr id="40" name="Shape 38"/>
          <p:cNvSpPr/>
          <p:nvPr/>
        </p:nvSpPr>
        <p:spPr>
          <a:xfrm>
            <a:off x="256032" y="5084064"/>
            <a:ext cx="8631936" cy="384048"/>
          </a:xfrm>
          <a:prstGeom prst="roundRect">
            <a:avLst>
              <a:gd name="adj" fmla="val 14286"/>
            </a:avLst>
          </a:prstGeom>
          <a:solidFill>
            <a:srgbClr val="FFFBEC"/>
          </a:solidFill>
          <a:ln w="19050">
            <a:solidFill>
              <a:srgbClr val="D4A017"/>
            </a:solidFill>
            <a:prstDash val="solid"/>
          </a:ln>
        </p:spPr>
      </p:sp>
      <p:sp>
        <p:nvSpPr>
          <p:cNvPr id="41" name="Text 39"/>
          <p:cNvSpPr/>
          <p:nvPr/>
        </p:nvSpPr>
        <p:spPr>
          <a:xfrm>
            <a:off x="384048" y="5084064"/>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Best Practice: Create a 'Data Validation Report' - run all six checks and document findings before starting any analysis. This protects you professionally.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914400" y="3200400"/>
            <a:ext cx="3657600" cy="3657600"/>
          </a:xfrm>
          <a:prstGeom prst="ellipse">
            <a:avLst/>
          </a:prstGeom>
          <a:solidFill>
            <a:srgbClr val="D4A017">
              <a:alpha val="14000"/>
            </a:srgbClr>
          </a:solidFill>
          <a:ln w="12700">
            <a:solidFill>
              <a:srgbClr val="D4A017"/>
            </a:solidFill>
            <a:prstDash val="solid"/>
          </a:ln>
        </p:spPr>
      </p:sp>
      <p:sp>
        <p:nvSpPr>
          <p:cNvPr id="3" name="Text 1"/>
          <p:cNvSpPr/>
          <p:nvPr/>
        </p:nvSpPr>
        <p:spPr>
          <a:xfrm>
            <a:off x="457200" y="201168"/>
            <a:ext cx="8229600" cy="621792"/>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Sorting Cases and Variables in SPSS</a:t>
            </a:r>
            <a:endParaRPr lang="en-US" sz="2800" dirty="0"/>
          </a:p>
        </p:txBody>
      </p:sp>
      <p:sp>
        <p:nvSpPr>
          <p:cNvPr id="4" name="Shape 2"/>
          <p:cNvSpPr/>
          <p:nvPr/>
        </p:nvSpPr>
        <p:spPr>
          <a:xfrm>
            <a:off x="274320" y="914400"/>
            <a:ext cx="4160520" cy="4041648"/>
          </a:xfrm>
          <a:prstGeom prst="roundRect">
            <a:avLst>
              <a:gd name="adj" fmla="val 2262"/>
            </a:avLst>
          </a:prstGeom>
          <a:solidFill>
            <a:srgbClr val="113322"/>
          </a:solidFill>
          <a:ln w="12700">
            <a:solidFill>
              <a:srgbClr val="27AE60"/>
            </a:solidFill>
            <a:prstDash val="solid"/>
          </a:ln>
        </p:spPr>
      </p:sp>
      <p:sp>
        <p:nvSpPr>
          <p:cNvPr id="5" name="Shape 3"/>
          <p:cNvSpPr/>
          <p:nvPr/>
        </p:nvSpPr>
        <p:spPr>
          <a:xfrm>
            <a:off x="347472" y="987552"/>
            <a:ext cx="4005072" cy="365760"/>
          </a:xfrm>
          <a:prstGeom prst="roundRect">
            <a:avLst>
              <a:gd name="adj" fmla="val 15000"/>
            </a:avLst>
          </a:prstGeom>
          <a:solidFill>
            <a:srgbClr val="1A6B3C"/>
          </a:solidFill>
          <a:ln w="12700">
            <a:solidFill>
              <a:srgbClr val="1A6B3C"/>
            </a:solidFill>
            <a:prstDash val="solid"/>
          </a:ln>
        </p:spPr>
      </p:sp>
      <p:sp>
        <p:nvSpPr>
          <p:cNvPr id="6" name="Text 4"/>
          <p:cNvSpPr/>
          <p:nvPr/>
        </p:nvSpPr>
        <p:spPr>
          <a:xfrm>
            <a:off x="347472" y="987552"/>
            <a:ext cx="4005072"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SORT CASES  -  Data &gt; Sort Cases</a:t>
            </a:r>
            <a:endParaRPr lang="en-US" sz="1200" dirty="0"/>
          </a:p>
        </p:txBody>
      </p:sp>
      <p:sp>
        <p:nvSpPr>
          <p:cNvPr id="7" name="Text 5"/>
          <p:cNvSpPr/>
          <p:nvPr/>
        </p:nvSpPr>
        <p:spPr>
          <a:xfrm>
            <a:off x="384048" y="1426464"/>
            <a:ext cx="3913632" cy="5029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Rearranges dataset rows by the values of one or more variables, either ascending (A to Z, 1 to 9) or descending (Z to A, 9 to 1).</a:t>
            </a:r>
            <a:endParaRPr lang="en-US" sz="1000" dirty="0"/>
          </a:p>
        </p:txBody>
      </p:sp>
      <p:sp>
        <p:nvSpPr>
          <p:cNvPr id="8" name="Text 6"/>
          <p:cNvSpPr/>
          <p:nvPr/>
        </p:nvSpPr>
        <p:spPr>
          <a:xfrm>
            <a:off x="384048" y="1993392"/>
            <a:ext cx="3913632" cy="237744"/>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Before Merge Files &gt; Add Variables:</a:t>
            </a:r>
            <a:endParaRPr lang="en-US" sz="1000" dirty="0"/>
          </a:p>
        </p:txBody>
      </p:sp>
      <p:sp>
        <p:nvSpPr>
          <p:cNvPr id="9" name="Text 7"/>
          <p:cNvSpPr/>
          <p:nvPr/>
        </p:nvSpPr>
        <p:spPr>
          <a:xfrm>
            <a:off x="384048" y="2249424"/>
            <a:ext cx="3913632" cy="384048"/>
          </a:xfrm>
          <a:prstGeom prst="rect">
            <a:avLst/>
          </a:prstGeom>
          <a:noFill/>
          <a:ln/>
        </p:spPr>
        <p:txBody>
          <a:bodyPr wrap="square" lIns="0" tIns="0" rIns="0" bIns="0" rtlCol="0" anchor="ctr"/>
          <a:lstStyle/>
          <a:p>
            <a:pPr indent="0" marL="0">
              <a:buNone/>
            </a:pPr>
            <a:r>
              <a:rPr lang="en-US" sz="900" dirty="0">
                <a:solidFill>
                  <a:srgbClr val="A8D4BC"/>
                </a:solidFill>
                <a:latin typeface="Calibri" pitchFamily="34" charset="0"/>
                <a:ea typeface="Calibri" pitchFamily="34" charset="-122"/>
                <a:cs typeface="Calibri" pitchFamily="34" charset="-120"/>
              </a:rPr>
              <a:t>Both datasets must be sorted by the same key variable (respondent_id) before merging. Mismatched sort order causes cases to be joined incorrectly.</a:t>
            </a:r>
            <a:endParaRPr lang="en-US" sz="900" dirty="0"/>
          </a:p>
        </p:txBody>
      </p:sp>
      <p:sp>
        <p:nvSpPr>
          <p:cNvPr id="10" name="Text 8"/>
          <p:cNvSpPr/>
          <p:nvPr/>
        </p:nvSpPr>
        <p:spPr>
          <a:xfrm>
            <a:off x="384048" y="2670048"/>
            <a:ext cx="3913632" cy="237744"/>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Finding extreme values:</a:t>
            </a:r>
            <a:endParaRPr lang="en-US" sz="1000" dirty="0"/>
          </a:p>
        </p:txBody>
      </p:sp>
      <p:sp>
        <p:nvSpPr>
          <p:cNvPr id="11" name="Text 9"/>
          <p:cNvSpPr/>
          <p:nvPr/>
        </p:nvSpPr>
        <p:spPr>
          <a:xfrm>
            <a:off x="384048" y="2926080"/>
            <a:ext cx="3913632" cy="384048"/>
          </a:xfrm>
          <a:prstGeom prst="rect">
            <a:avLst/>
          </a:prstGeom>
          <a:noFill/>
          <a:ln/>
        </p:spPr>
        <p:txBody>
          <a:bodyPr wrap="square" lIns="0" tIns="0" rIns="0" bIns="0" rtlCol="0" anchor="ctr"/>
          <a:lstStyle/>
          <a:p>
            <a:pPr indent="0" marL="0">
              <a:buNone/>
            </a:pPr>
            <a:r>
              <a:rPr lang="en-US" sz="900" dirty="0">
                <a:solidFill>
                  <a:srgbClr val="A8D4BC"/>
                </a:solidFill>
                <a:latin typeface="Calibri" pitchFamily="34" charset="0"/>
                <a:ea typeface="Calibri" pitchFamily="34" charset="-122"/>
                <a:cs typeface="Calibri" pitchFamily="34" charset="-120"/>
              </a:rPr>
              <a:t>Sort ascending on monthly_salary to find the lowest earners, descending to find the highest. Quick way to spot outliers.</a:t>
            </a:r>
            <a:endParaRPr lang="en-US" sz="900" dirty="0"/>
          </a:p>
        </p:txBody>
      </p:sp>
      <p:sp>
        <p:nvSpPr>
          <p:cNvPr id="12" name="Text 10"/>
          <p:cNvSpPr/>
          <p:nvPr/>
        </p:nvSpPr>
        <p:spPr>
          <a:xfrm>
            <a:off x="384048" y="3346704"/>
            <a:ext cx="3913632" cy="237744"/>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Identifying duplicates:</a:t>
            </a:r>
            <a:endParaRPr lang="en-US" sz="1000" dirty="0"/>
          </a:p>
        </p:txBody>
      </p:sp>
      <p:sp>
        <p:nvSpPr>
          <p:cNvPr id="13" name="Text 11"/>
          <p:cNvSpPr/>
          <p:nvPr/>
        </p:nvSpPr>
        <p:spPr>
          <a:xfrm>
            <a:off x="384048" y="3602736"/>
            <a:ext cx="3913632" cy="384048"/>
          </a:xfrm>
          <a:prstGeom prst="rect">
            <a:avLst/>
          </a:prstGeom>
          <a:noFill/>
          <a:ln/>
        </p:spPr>
        <p:txBody>
          <a:bodyPr wrap="square" lIns="0" tIns="0" rIns="0" bIns="0" rtlCol="0" anchor="ctr"/>
          <a:lstStyle/>
          <a:p>
            <a:pPr indent="0" marL="0">
              <a:buNone/>
            </a:pPr>
            <a:r>
              <a:rPr lang="en-US" sz="900" dirty="0">
                <a:solidFill>
                  <a:srgbClr val="A8D4BC"/>
                </a:solidFill>
                <a:latin typeface="Calibri" pitchFamily="34" charset="0"/>
                <a:ea typeface="Calibri" pitchFamily="34" charset="-122"/>
                <a:cs typeface="Calibri" pitchFamily="34" charset="-120"/>
              </a:rPr>
              <a:t>Sort by respondent_id - duplicate IDs appear adjacent to each other, making them easy to spot and investigate.</a:t>
            </a:r>
            <a:endParaRPr lang="en-US" sz="900" dirty="0"/>
          </a:p>
        </p:txBody>
      </p:sp>
      <p:sp>
        <p:nvSpPr>
          <p:cNvPr id="14" name="Text 12"/>
          <p:cNvSpPr/>
          <p:nvPr/>
        </p:nvSpPr>
        <p:spPr>
          <a:xfrm>
            <a:off x="384048" y="4023360"/>
            <a:ext cx="3913632" cy="237744"/>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Organising panel data:</a:t>
            </a:r>
            <a:endParaRPr lang="en-US" sz="1000" dirty="0"/>
          </a:p>
        </p:txBody>
      </p:sp>
      <p:sp>
        <p:nvSpPr>
          <p:cNvPr id="15" name="Text 13"/>
          <p:cNvSpPr/>
          <p:nvPr/>
        </p:nvSpPr>
        <p:spPr>
          <a:xfrm>
            <a:off x="384048" y="4279392"/>
            <a:ext cx="3913632" cy="384048"/>
          </a:xfrm>
          <a:prstGeom prst="rect">
            <a:avLst/>
          </a:prstGeom>
          <a:noFill/>
          <a:ln/>
        </p:spPr>
        <p:txBody>
          <a:bodyPr wrap="square" lIns="0" tIns="0" rIns="0" bIns="0" rtlCol="0" anchor="ctr"/>
          <a:lstStyle/>
          <a:p>
            <a:pPr indent="0" marL="0">
              <a:buNone/>
            </a:pPr>
            <a:r>
              <a:rPr lang="en-US" sz="900" dirty="0">
                <a:solidFill>
                  <a:srgbClr val="A8D4BC"/>
                </a:solidFill>
                <a:latin typeface="Calibri" pitchFamily="34" charset="0"/>
                <a:ea typeface="Calibri" pitchFamily="34" charset="-122"/>
                <a:cs typeface="Calibri" pitchFamily="34" charset="-120"/>
              </a:rPr>
              <a:t>Sort by respondent_id then by survey_wave to ensure longitudinal data is correctly ordered before repeated measures analysis.</a:t>
            </a:r>
            <a:endParaRPr lang="en-US" sz="900" dirty="0"/>
          </a:p>
        </p:txBody>
      </p:sp>
      <p:sp>
        <p:nvSpPr>
          <p:cNvPr id="16" name="Shape 14"/>
          <p:cNvSpPr/>
          <p:nvPr/>
        </p:nvSpPr>
        <p:spPr>
          <a:xfrm>
            <a:off x="4681728" y="914400"/>
            <a:ext cx="4160520" cy="2029968"/>
          </a:xfrm>
          <a:prstGeom prst="roundRect">
            <a:avLst>
              <a:gd name="adj" fmla="val 4505"/>
            </a:avLst>
          </a:prstGeom>
          <a:solidFill>
            <a:srgbClr val="113322"/>
          </a:solidFill>
          <a:ln w="12700">
            <a:solidFill>
              <a:srgbClr val="D4A017"/>
            </a:solidFill>
            <a:prstDash val="solid"/>
          </a:ln>
        </p:spPr>
      </p:sp>
      <p:sp>
        <p:nvSpPr>
          <p:cNvPr id="17" name="Shape 15"/>
          <p:cNvSpPr/>
          <p:nvPr/>
        </p:nvSpPr>
        <p:spPr>
          <a:xfrm>
            <a:off x="4754880" y="987552"/>
            <a:ext cx="4005072" cy="365760"/>
          </a:xfrm>
          <a:prstGeom prst="roundRect">
            <a:avLst>
              <a:gd name="adj" fmla="val 15000"/>
            </a:avLst>
          </a:prstGeom>
          <a:solidFill>
            <a:srgbClr val="D4A017"/>
          </a:solidFill>
          <a:ln w="12700">
            <a:solidFill>
              <a:srgbClr val="D4A017"/>
            </a:solidFill>
            <a:prstDash val="solid"/>
          </a:ln>
        </p:spPr>
      </p:sp>
      <p:sp>
        <p:nvSpPr>
          <p:cNvPr id="18" name="Text 16"/>
          <p:cNvSpPr/>
          <p:nvPr/>
        </p:nvSpPr>
        <p:spPr>
          <a:xfrm>
            <a:off x="4754880" y="987552"/>
            <a:ext cx="4005072" cy="365760"/>
          </a:xfrm>
          <a:prstGeom prst="rect">
            <a:avLst/>
          </a:prstGeom>
          <a:noFill/>
          <a:ln/>
        </p:spPr>
        <p:txBody>
          <a:bodyPr wrap="square" lIns="0" tIns="0" rIns="0" bIns="0" rtlCol="0" anchor="ctr"/>
          <a:lstStyle/>
          <a:p>
            <a:pPr algn="ctr" indent="0" marL="0">
              <a:buNone/>
            </a:pPr>
            <a:r>
              <a:rPr lang="en-US" sz="1150" b="1" dirty="0">
                <a:solidFill>
                  <a:srgbClr val="0B2218"/>
                </a:solidFill>
                <a:latin typeface="Calibri" pitchFamily="34" charset="0"/>
                <a:ea typeface="Calibri" pitchFamily="34" charset="-122"/>
                <a:cs typeface="Calibri" pitchFamily="34" charset="-120"/>
              </a:rPr>
              <a:t>SORT VARIABLES  -  Data &gt; Sort Variables</a:t>
            </a:r>
            <a:endParaRPr lang="en-US" sz="1150" dirty="0"/>
          </a:p>
        </p:txBody>
      </p:sp>
      <p:sp>
        <p:nvSpPr>
          <p:cNvPr id="19" name="Text 17"/>
          <p:cNvSpPr/>
          <p:nvPr/>
        </p:nvSpPr>
        <p:spPr>
          <a:xfrm>
            <a:off x="4773168" y="1426464"/>
            <a:ext cx="3913632" cy="65836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Reorders the COLUMNS (variables) in your dataset alphabetically, by measurement level, or by other variable properties. Useful for navigating large datasets with 50+ variables.</a:t>
            </a:r>
            <a:endParaRPr lang="en-US" sz="1000" dirty="0"/>
          </a:p>
        </p:txBody>
      </p:sp>
      <p:sp>
        <p:nvSpPr>
          <p:cNvPr id="20" name="Text 18"/>
          <p:cNvSpPr/>
          <p:nvPr/>
        </p:nvSpPr>
        <p:spPr>
          <a:xfrm>
            <a:off x="4773168" y="2176272"/>
            <a:ext cx="3913632" cy="347472"/>
          </a:xfrm>
          <a:prstGeom prst="rect">
            <a:avLst/>
          </a:prstGeom>
          <a:noFill/>
          <a:ln/>
        </p:spPr>
        <p:txBody>
          <a:bodyPr wrap="square" lIns="0" tIns="0" rIns="0" bIns="0" rtlCol="0" anchor="ctr"/>
          <a:lstStyle/>
          <a:p>
            <a:pPr indent="0" marL="0">
              <a:buNone/>
            </a:pPr>
            <a:r>
              <a:rPr lang="en-US" sz="950" b="1" dirty="0">
                <a:solidFill>
                  <a:srgbClr val="D4A017"/>
                </a:solidFill>
                <a:latin typeface="Calibri" pitchFamily="34" charset="0"/>
                <a:ea typeface="Calibri" pitchFamily="34" charset="-122"/>
                <a:cs typeface="Calibri" pitchFamily="34" charset="-120"/>
              </a:rPr>
              <a:t>Sort by Name: </a:t>
            </a:r>
            <a:pPr indent="0" marL="0">
              <a:buNone/>
            </a:pPr>
            <a:r>
              <a:rPr lang="en-US" sz="950" dirty="0">
                <a:solidFill>
                  <a:srgbClr val="A8D4BC"/>
                </a:solidFill>
                <a:latin typeface="Calibri" pitchFamily="34" charset="0"/>
                <a:ea typeface="Calibri" pitchFamily="34" charset="-122"/>
                <a:cs typeface="Calibri" pitchFamily="34" charset="-120"/>
              </a:rPr>
              <a:t>Alphabetically groups all 'q_' variables together, all demographic variables together.</a:t>
            </a:r>
            <a:endParaRPr lang="en-US" sz="950" dirty="0"/>
          </a:p>
        </p:txBody>
      </p:sp>
      <p:sp>
        <p:nvSpPr>
          <p:cNvPr id="21" name="Text 19"/>
          <p:cNvSpPr/>
          <p:nvPr/>
        </p:nvSpPr>
        <p:spPr>
          <a:xfrm>
            <a:off x="4773168" y="2542032"/>
            <a:ext cx="3913632" cy="347472"/>
          </a:xfrm>
          <a:prstGeom prst="rect">
            <a:avLst/>
          </a:prstGeom>
          <a:noFill/>
          <a:ln/>
        </p:spPr>
        <p:txBody>
          <a:bodyPr wrap="square" lIns="0" tIns="0" rIns="0" bIns="0" rtlCol="0" anchor="ctr"/>
          <a:lstStyle/>
          <a:p>
            <a:pPr indent="0" marL="0">
              <a:buNone/>
            </a:pPr>
            <a:r>
              <a:rPr lang="en-US" sz="950" b="1" dirty="0">
                <a:solidFill>
                  <a:srgbClr val="D4A017"/>
                </a:solidFill>
                <a:latin typeface="Calibri" pitchFamily="34" charset="0"/>
                <a:ea typeface="Calibri" pitchFamily="34" charset="-122"/>
                <a:cs typeface="Calibri" pitchFamily="34" charset="-120"/>
              </a:rPr>
              <a:t>Sort by Measurement Level: </a:t>
            </a:r>
            <a:pPr indent="0" marL="0">
              <a:buNone/>
            </a:pPr>
            <a:r>
              <a:rPr lang="en-US" sz="950" dirty="0">
                <a:solidFill>
                  <a:srgbClr val="A8D4BC"/>
                </a:solidFill>
                <a:latin typeface="Calibri" pitchFamily="34" charset="0"/>
                <a:ea typeface="Calibri" pitchFamily="34" charset="-122"/>
                <a:cs typeface="Calibri" pitchFamily="34" charset="-120"/>
              </a:rPr>
              <a:t>Groups all Scale variables, then all Ordinal, then all Nominal - useful before running specific analyses.</a:t>
            </a:r>
            <a:endParaRPr lang="en-US" sz="950" dirty="0"/>
          </a:p>
        </p:txBody>
      </p:sp>
      <p:sp>
        <p:nvSpPr>
          <p:cNvPr id="22" name="Shape 20"/>
          <p:cNvSpPr/>
          <p:nvPr/>
        </p:nvSpPr>
        <p:spPr>
          <a:xfrm>
            <a:off x="4681728" y="3035808"/>
            <a:ext cx="4160520" cy="1938528"/>
          </a:xfrm>
          <a:prstGeom prst="roundRect">
            <a:avLst>
              <a:gd name="adj" fmla="val 4717"/>
            </a:avLst>
          </a:prstGeom>
          <a:solidFill>
            <a:srgbClr val="0A1A12"/>
          </a:solidFill>
          <a:ln w="12700">
            <a:solidFill>
              <a:srgbClr val="27AE60"/>
            </a:solidFill>
            <a:prstDash val="solid"/>
          </a:ln>
          <a:effectLst>
            <a:outerShdw sx="100000" sy="100000" kx="0" ky="0" algn="bl" rotWithShape="0" blurRad="76200" dist="25400" dir="2700000">
              <a:srgbClr val="000000">
                <a:alpha val="12000"/>
              </a:srgbClr>
            </a:outerShdw>
          </a:effectLst>
        </p:spPr>
      </p:sp>
      <p:sp>
        <p:nvSpPr>
          <p:cNvPr id="23" name="Text 21"/>
          <p:cNvSpPr/>
          <p:nvPr/>
        </p:nvSpPr>
        <p:spPr>
          <a:xfrm>
            <a:off x="4809744" y="3127248"/>
            <a:ext cx="3977640" cy="256032"/>
          </a:xfrm>
          <a:prstGeom prst="rect">
            <a:avLst/>
          </a:prstGeom>
          <a:noFill/>
          <a:ln/>
        </p:spPr>
        <p:txBody>
          <a:bodyPr wrap="square" lIns="0" tIns="0" rIns="0" bIns="0" rtlCol="0" anchor="ctr"/>
          <a:lstStyle/>
          <a:p>
            <a:pPr indent="0" marL="0">
              <a:buNone/>
            </a:pPr>
            <a:r>
              <a:rPr lang="en-US" sz="950" b="1" dirty="0">
                <a:solidFill>
                  <a:srgbClr val="F0C040"/>
                </a:solidFill>
                <a:latin typeface="Calibri" pitchFamily="34" charset="0"/>
                <a:ea typeface="Calibri" pitchFamily="34" charset="-122"/>
                <a:cs typeface="Calibri" pitchFamily="34" charset="-120"/>
              </a:rPr>
              <a:t>Sort Cases Syntax (.sps):</a:t>
            </a:r>
            <a:endParaRPr lang="en-US" sz="950" dirty="0"/>
          </a:p>
        </p:txBody>
      </p:sp>
      <p:sp>
        <p:nvSpPr>
          <p:cNvPr id="24" name="Text 22"/>
          <p:cNvSpPr/>
          <p:nvPr/>
        </p:nvSpPr>
        <p:spPr>
          <a:xfrm>
            <a:off x="4809744" y="3438144"/>
            <a:ext cx="3959352"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Sort by respondent_id ascending.</a:t>
            </a:r>
            <a:endParaRPr lang="en-US" sz="850" dirty="0"/>
          </a:p>
        </p:txBody>
      </p:sp>
      <p:sp>
        <p:nvSpPr>
          <p:cNvPr id="25" name="Text 23"/>
          <p:cNvSpPr/>
          <p:nvPr/>
        </p:nvSpPr>
        <p:spPr>
          <a:xfrm>
            <a:off x="4809744" y="3621024"/>
            <a:ext cx="3959352"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SORT CASES BY respondent_id (A).</a:t>
            </a:r>
            <a:endParaRPr lang="en-US" sz="850" dirty="0"/>
          </a:p>
        </p:txBody>
      </p:sp>
      <p:sp>
        <p:nvSpPr>
          <p:cNvPr id="26" name="Text 24"/>
          <p:cNvSpPr/>
          <p:nvPr/>
        </p:nvSpPr>
        <p:spPr>
          <a:xfrm>
            <a:off x="4809744" y="3803904"/>
            <a:ext cx="3959352" cy="182880"/>
          </a:xfrm>
          <a:prstGeom prst="rect">
            <a:avLst/>
          </a:prstGeom>
          <a:noFill/>
          <a:ln/>
        </p:spPr>
        <p:txBody>
          <a:bodyPr wrap="square" lIns="0" tIns="0" rIns="0" bIns="0" rtlCol="0" anchor="ctr"/>
          <a:lstStyle/>
          <a:p>
            <a:pPr indent="0" marL="0">
              <a:buNone/>
            </a:pPr>
            <a:r>
              <a:rPr lang="en-US" sz="850" dirty="0">
                <a:solidFill>
                  <a:srgbClr val="569CD6"/>
                </a:solidFill>
                <a:latin typeface="Courier New" pitchFamily="34" charset="0"/>
                <a:ea typeface="Courier New" pitchFamily="34" charset="-122"/>
                <a:cs typeface="Courier New" pitchFamily="34" charset="-120"/>
              </a:rPr>
              <a:t>EXECUTE.</a:t>
            </a:r>
            <a:endParaRPr lang="en-US" sz="850" dirty="0"/>
          </a:p>
        </p:txBody>
      </p:sp>
      <p:sp>
        <p:nvSpPr>
          <p:cNvPr id="27" name="Text 25"/>
          <p:cNvSpPr/>
          <p:nvPr/>
        </p:nvSpPr>
        <p:spPr>
          <a:xfrm>
            <a:off x="4809744" y="3986784"/>
            <a:ext cx="3959352" cy="182880"/>
          </a:xfrm>
          <a:prstGeom prst="rect">
            <a:avLst/>
          </a:prstGeom>
          <a:noFill/>
          <a:ln/>
        </p:spPr>
        <p:txBody>
          <a:bodyPr wrap="square" lIns="0" tIns="0" rIns="0" bIns="0" rtlCol="0" anchor="ctr"/>
          <a:lstStyle/>
          <a:p>
            <a:pPr indent="0" marL="0">
              <a:buNone/>
            </a:pPr>
            <a:endParaRPr lang="en-US" sz="850" dirty="0"/>
          </a:p>
        </p:txBody>
      </p:sp>
      <p:sp>
        <p:nvSpPr>
          <p:cNvPr id="28" name="Text 26"/>
          <p:cNvSpPr/>
          <p:nvPr/>
        </p:nvSpPr>
        <p:spPr>
          <a:xfrm>
            <a:off x="4809744" y="4169664"/>
            <a:ext cx="3959352"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Sort by salary descending, then by age.</a:t>
            </a:r>
            <a:endParaRPr lang="en-US" sz="850" dirty="0"/>
          </a:p>
        </p:txBody>
      </p:sp>
      <p:sp>
        <p:nvSpPr>
          <p:cNvPr id="29" name="Text 27"/>
          <p:cNvSpPr/>
          <p:nvPr/>
        </p:nvSpPr>
        <p:spPr>
          <a:xfrm>
            <a:off x="4809744" y="4352544"/>
            <a:ext cx="3959352"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SORT CASES BY monthly_salary (D) age (A).</a:t>
            </a:r>
            <a:endParaRPr lang="en-US" sz="850" dirty="0"/>
          </a:p>
        </p:txBody>
      </p:sp>
      <p:sp>
        <p:nvSpPr>
          <p:cNvPr id="30" name="Text 28"/>
          <p:cNvSpPr/>
          <p:nvPr/>
        </p:nvSpPr>
        <p:spPr>
          <a:xfrm>
            <a:off x="4809744" y="4535424"/>
            <a:ext cx="3959352" cy="182880"/>
          </a:xfrm>
          <a:prstGeom prst="rect">
            <a:avLst/>
          </a:prstGeom>
          <a:noFill/>
          <a:ln/>
        </p:spPr>
        <p:txBody>
          <a:bodyPr wrap="square" lIns="0" tIns="0" rIns="0" bIns="0" rtlCol="0" anchor="ctr"/>
          <a:lstStyle/>
          <a:p>
            <a:pPr indent="0" marL="0">
              <a:buNone/>
            </a:pPr>
            <a:r>
              <a:rPr lang="en-US" sz="850" dirty="0">
                <a:solidFill>
                  <a:srgbClr val="569CD6"/>
                </a:solidFill>
                <a:latin typeface="Courier New" pitchFamily="34" charset="0"/>
                <a:ea typeface="Courier New" pitchFamily="34" charset="-122"/>
                <a:cs typeface="Courier New" pitchFamily="34" charset="-120"/>
              </a:rPr>
              <a:t>EXECUTE.</a:t>
            </a:r>
            <a:endParaRPr lang="en-US" sz="850" dirty="0"/>
          </a:p>
        </p:txBody>
      </p:sp>
      <p:sp>
        <p:nvSpPr>
          <p:cNvPr id="31" name="Text 29"/>
          <p:cNvSpPr/>
          <p:nvPr/>
        </p:nvSpPr>
        <p:spPr>
          <a:xfrm>
            <a:off x="4809744" y="4718304"/>
            <a:ext cx="3959352" cy="182880"/>
          </a:xfrm>
          <a:prstGeom prst="rect">
            <a:avLst/>
          </a:prstGeom>
          <a:noFill/>
          <a:ln/>
        </p:spPr>
        <p:txBody>
          <a:bodyPr wrap="square" lIns="0" tIns="0" rIns="0" bIns="0" rtlCol="0" anchor="ctr"/>
          <a:lstStyle/>
          <a:p>
            <a:pPr indent="0" marL="0">
              <a:buNone/>
            </a:pPr>
            <a:endParaRPr lang="en-US" sz="850" dirty="0"/>
          </a:p>
        </p:txBody>
      </p:sp>
      <p:sp>
        <p:nvSpPr>
          <p:cNvPr id="32" name="Text 30"/>
          <p:cNvSpPr/>
          <p:nvPr/>
        </p:nvSpPr>
        <p:spPr>
          <a:xfrm>
            <a:off x="4809744" y="4901184"/>
            <a:ext cx="3959352"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A = Ascending, D = Descending.</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6B3C">
              <a:alpha val="18000"/>
            </a:srgbClr>
          </a:solidFill>
          <a:ln w="12700">
            <a:solidFill>
              <a:srgbClr val="1A6B3C"/>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2  |  SECTION 04</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Transforming, Recoding and Computing</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D4BC"/>
                </a:solidFill>
                <a:latin typeface="Calibri" pitchFamily="34" charset="0"/>
                <a:ea typeface="Calibri" pitchFamily="34" charset="-122"/>
                <a:cs typeface="Calibri" pitchFamily="34" charset="-120"/>
              </a:rPr>
              <a:t>Creating new variables from existing ones - the core of analytical data preparation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A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218"/>
          </a:solidFill>
          <a:ln w="12700">
            <a:solidFill>
              <a:srgbClr val="0B2218"/>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Recode into Different Variables - Transform &gt; Recode into Different Variables</a:t>
            </a:r>
            <a:endParaRPr lang="en-US" sz="2200" dirty="0"/>
          </a:p>
        </p:txBody>
      </p:sp>
      <p:sp>
        <p:nvSpPr>
          <p:cNvPr id="4" name="Shape 2"/>
          <p:cNvSpPr/>
          <p:nvPr/>
        </p:nvSpPr>
        <p:spPr>
          <a:xfrm>
            <a:off x="256032" y="1024128"/>
            <a:ext cx="8631936" cy="749808"/>
          </a:xfrm>
          <a:prstGeom prst="roundRect">
            <a:avLst>
              <a:gd name="adj" fmla="val 9756"/>
            </a:avLst>
          </a:prstGeom>
          <a:solidFill>
            <a:srgbClr val="EAF4EE"/>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51560"/>
            <a:ext cx="8357616" cy="694944"/>
          </a:xfrm>
          <a:prstGeom prst="rect">
            <a:avLst/>
          </a:prstGeom>
          <a:noFill/>
          <a:ln/>
        </p:spPr>
        <p:txBody>
          <a:bodyPr wrap="square" lIns="0" tIns="0" rIns="0" bIns="0" rtlCol="0" anchor="ctr"/>
          <a:lstStyle/>
          <a:p>
            <a:pPr indent="0" marL="0">
              <a:buNone/>
            </a:pPr>
            <a:r>
              <a:rPr lang="en-US" sz="1050" b="1" dirty="0">
                <a:solidFill>
                  <a:srgbClr val="0B2218"/>
                </a:solidFill>
                <a:latin typeface="Calibri" pitchFamily="34" charset="0"/>
                <a:ea typeface="Calibri" pitchFamily="34" charset="-122"/>
                <a:cs typeface="Calibri" pitchFamily="34" charset="-120"/>
              </a:rPr>
              <a:t>What: </a:t>
            </a:r>
            <a:pPr indent="0" marL="0">
              <a:buNone/>
            </a:pPr>
            <a:r>
              <a:rPr lang="en-US" sz="1050" dirty="0">
                <a:solidFill>
                  <a:srgbClr val="1E3A2E"/>
                </a:solidFill>
                <a:latin typeface="Calibri" pitchFamily="34" charset="0"/>
                <a:ea typeface="Calibri" pitchFamily="34" charset="-122"/>
                <a:cs typeface="Calibri" pitchFamily="34" charset="-120"/>
              </a:rPr>
              <a:t>Creates a NEW variable by changing the coding scheme of an existing variable - WITHOUT overwriting the original. </a:t>
            </a:r>
            <a:pPr indent="0" marL="0">
              <a:buNone/>
            </a:pPr>
            <a:r>
              <a:rPr lang="en-US" sz="1050" b="1" dirty="0">
                <a:solidFill>
                  <a:srgbClr val="C0392B"/>
                </a:solidFill>
                <a:latin typeface="Calibri" pitchFamily="34" charset="0"/>
                <a:ea typeface="Calibri" pitchFamily="34" charset="-122"/>
                <a:cs typeface="Calibri" pitchFamily="34" charset="-120"/>
              </a:rPr>
              <a:t>Always use 'Different Variables' (NOT 'Same Variables') to preserve raw data.</a:t>
            </a:r>
            <a:endParaRPr lang="en-US" sz="1050" dirty="0"/>
          </a:p>
        </p:txBody>
      </p:sp>
      <p:sp>
        <p:nvSpPr>
          <p:cNvPr id="6" name="Shape 4"/>
          <p:cNvSpPr/>
          <p:nvPr/>
        </p:nvSpPr>
        <p:spPr>
          <a:xfrm>
            <a:off x="228600" y="1828800"/>
            <a:ext cx="2834640" cy="3108960"/>
          </a:xfrm>
          <a:prstGeom prst="roundRect">
            <a:avLst>
              <a:gd name="adj" fmla="val 2581"/>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283464" y="1901952"/>
            <a:ext cx="2724912" cy="274320"/>
          </a:xfrm>
          <a:prstGeom prst="roundRect">
            <a:avLst>
              <a:gd name="adj" fmla="val 16667"/>
            </a:avLst>
          </a:prstGeom>
          <a:solidFill>
            <a:srgbClr val="1A6B3C"/>
          </a:solidFill>
          <a:ln w="12700">
            <a:solidFill>
              <a:srgbClr val="1A6B3C"/>
            </a:solidFill>
            <a:prstDash val="solid"/>
          </a:ln>
        </p:spPr>
      </p:sp>
      <p:sp>
        <p:nvSpPr>
          <p:cNvPr id="8" name="Text 6"/>
          <p:cNvSpPr/>
          <p:nvPr/>
        </p:nvSpPr>
        <p:spPr>
          <a:xfrm>
            <a:off x="283464" y="1901952"/>
            <a:ext cx="272491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Age Groups from Continuous Age</a:t>
            </a:r>
            <a:endParaRPr lang="en-US" sz="1000" dirty="0"/>
          </a:p>
        </p:txBody>
      </p:sp>
      <p:sp>
        <p:nvSpPr>
          <p:cNvPr id="9" name="Text 7"/>
          <p:cNvSpPr/>
          <p:nvPr/>
        </p:nvSpPr>
        <p:spPr>
          <a:xfrm>
            <a:off x="320040" y="2231136"/>
            <a:ext cx="2633472" cy="475488"/>
          </a:xfrm>
          <a:prstGeom prst="rect">
            <a:avLst/>
          </a:prstGeom>
          <a:noFill/>
          <a:ln/>
        </p:spPr>
        <p:txBody>
          <a:bodyPr wrap="square" lIns="0" tIns="0" rIns="0" bIns="0" rtlCol="0" anchor="ctr"/>
          <a:lstStyle/>
          <a:p>
            <a:pPr indent="0" marL="0">
              <a:buNone/>
            </a:pPr>
            <a:r>
              <a:rPr lang="en-US" sz="850" b="1" dirty="0">
                <a:solidFill>
                  <a:srgbClr val="1A6B3C"/>
                </a:solidFill>
                <a:latin typeface="Calibri" pitchFamily="34" charset="0"/>
                <a:ea typeface="Calibri" pitchFamily="34" charset="-122"/>
                <a:cs typeface="Calibri" pitchFamily="34" charset="-120"/>
              </a:rPr>
              <a:t>FROM: </a:t>
            </a:r>
            <a:pPr indent="0" marL="0">
              <a:buNone/>
            </a:pPr>
            <a:r>
              <a:rPr lang="en-US" sz="850" dirty="0">
                <a:solidFill>
                  <a:srgbClr val="1E3A2E"/>
                </a:solidFill>
                <a:latin typeface="Calibri" pitchFamily="34" charset="0"/>
                <a:ea typeface="Calibri" pitchFamily="34" charset="-122"/>
                <a:cs typeface="Calibri" pitchFamily="34" charset="-120"/>
              </a:rPr>
              <a:t>age_in_years (Scale): 18, 24, 31, 29, 45, 52, 38, 67...</a:t>
            </a:r>
            <a:endParaRPr lang="en-US" sz="850" dirty="0"/>
          </a:p>
        </p:txBody>
      </p:sp>
      <p:sp>
        <p:nvSpPr>
          <p:cNvPr id="10" name="Text 8"/>
          <p:cNvSpPr/>
          <p:nvPr/>
        </p:nvSpPr>
        <p:spPr>
          <a:xfrm>
            <a:off x="320040" y="2743200"/>
            <a:ext cx="2633472" cy="475488"/>
          </a:xfrm>
          <a:prstGeom prst="rect">
            <a:avLst/>
          </a:prstGeom>
          <a:noFill/>
          <a:ln/>
        </p:spPr>
        <p:txBody>
          <a:bodyPr wrap="square" lIns="0" tIns="0" rIns="0" bIns="0" rtlCol="0" anchor="ctr"/>
          <a:lstStyle/>
          <a:p>
            <a:pPr indent="0" marL="0">
              <a:buNone/>
            </a:pPr>
            <a:r>
              <a:rPr lang="en-US" sz="850" b="1" dirty="0">
                <a:solidFill>
                  <a:srgbClr val="1A6B3C"/>
                </a:solidFill>
                <a:latin typeface="Calibri" pitchFamily="34" charset="0"/>
                <a:ea typeface="Calibri" pitchFamily="34" charset="-122"/>
                <a:cs typeface="Calibri" pitchFamily="34" charset="-120"/>
              </a:rPr>
              <a:t>TO: </a:t>
            </a:r>
            <a:pPr indent="0" marL="0">
              <a:buNone/>
            </a:pPr>
            <a:r>
              <a:rPr lang="en-US" sz="850" dirty="0">
                <a:solidFill>
                  <a:srgbClr val="1E3A2E"/>
                </a:solidFill>
                <a:latin typeface="Calibri" pitchFamily="34" charset="0"/>
                <a:ea typeface="Calibri" pitchFamily="34" charset="-122"/>
                <a:cs typeface="Calibri" pitchFamily="34" charset="-120"/>
              </a:rPr>
              <a:t>age_group (Ordinal): 1=Youth(18-30), 2=Adult(31-45), 3=Mature(46-60), 4=Senior(60+)</a:t>
            </a:r>
            <a:endParaRPr lang="en-US" sz="850" dirty="0"/>
          </a:p>
        </p:txBody>
      </p:sp>
      <p:sp>
        <p:nvSpPr>
          <p:cNvPr id="11" name="Text 9"/>
          <p:cNvSpPr/>
          <p:nvPr/>
        </p:nvSpPr>
        <p:spPr>
          <a:xfrm>
            <a:off x="320040" y="3255264"/>
            <a:ext cx="2633472" cy="347472"/>
          </a:xfrm>
          <a:prstGeom prst="rect">
            <a:avLst/>
          </a:prstGeom>
          <a:noFill/>
          <a:ln/>
        </p:spPr>
        <p:txBody>
          <a:bodyPr wrap="square" lIns="0" tIns="0" rIns="0" bIns="0" rtlCol="0" anchor="ctr"/>
          <a:lstStyle/>
          <a:p>
            <a:pPr indent="0" marL="0">
              <a:buNone/>
            </a:pPr>
            <a:r>
              <a:rPr lang="en-US" sz="850" b="1" dirty="0">
                <a:solidFill>
                  <a:srgbClr val="1B5CA0"/>
                </a:solidFill>
                <a:latin typeface="Calibri" pitchFamily="34" charset="0"/>
                <a:ea typeface="Calibri" pitchFamily="34" charset="-122"/>
                <a:cs typeface="Calibri" pitchFamily="34" charset="-120"/>
              </a:rPr>
              <a:t>Why: </a:t>
            </a:r>
            <a:pPr indent="0" marL="0">
              <a:buNone/>
            </a:pPr>
            <a:r>
              <a:rPr lang="en-US" sz="850" i="1" dirty="0">
                <a:solidFill>
                  <a:srgbClr val="64748B"/>
                </a:solidFill>
                <a:latin typeface="Calibri" pitchFamily="34" charset="0"/>
                <a:ea typeface="Calibri" pitchFamily="34" charset="-122"/>
                <a:cs typeface="Calibri" pitchFamily="34" charset="-120"/>
              </a:rPr>
              <a:t>Needed for crosstabs, chi-square tests, and ANOVA comparing different age groups</a:t>
            </a:r>
            <a:endParaRPr lang="en-US" sz="850" dirty="0"/>
          </a:p>
        </p:txBody>
      </p:sp>
      <p:sp>
        <p:nvSpPr>
          <p:cNvPr id="12" name="Text 10"/>
          <p:cNvSpPr/>
          <p:nvPr/>
        </p:nvSpPr>
        <p:spPr>
          <a:xfrm>
            <a:off x="320040" y="3657600"/>
            <a:ext cx="2633472" cy="201168"/>
          </a:xfrm>
          <a:prstGeom prst="rect">
            <a:avLst/>
          </a:prstGeom>
          <a:noFill/>
          <a:ln/>
        </p:spPr>
        <p:txBody>
          <a:bodyPr wrap="square" lIns="0" tIns="0" rIns="0" bIns="0" rtlCol="0" anchor="ctr"/>
          <a:lstStyle/>
          <a:p>
            <a:pPr indent="0" marL="0">
              <a:buNone/>
            </a:pPr>
            <a:r>
              <a:rPr lang="en-US" sz="800" dirty="0">
                <a:solidFill>
                  <a:srgbClr val="1A6B3C"/>
                </a:solidFill>
                <a:latin typeface="Calibri" pitchFamily="34" charset="0"/>
                <a:ea typeface="Calibri" pitchFamily="34" charset="-122"/>
                <a:cs typeface="Calibri" pitchFamily="34" charset="-120"/>
              </a:rPr>
              <a:t>1. Transform &gt; Recode into Different Variables</a:t>
            </a:r>
            <a:endParaRPr lang="en-US" sz="800" dirty="0"/>
          </a:p>
        </p:txBody>
      </p:sp>
      <p:sp>
        <p:nvSpPr>
          <p:cNvPr id="13" name="Text 11"/>
          <p:cNvSpPr/>
          <p:nvPr/>
        </p:nvSpPr>
        <p:spPr>
          <a:xfrm>
            <a:off x="320040" y="3877056"/>
            <a:ext cx="2633472" cy="201168"/>
          </a:xfrm>
          <a:prstGeom prst="rect">
            <a:avLst/>
          </a:prstGeom>
          <a:noFill/>
          <a:ln/>
        </p:spPr>
        <p:txBody>
          <a:bodyPr wrap="square" lIns="0" tIns="0" rIns="0" bIns="0" rtlCol="0" anchor="ctr"/>
          <a:lstStyle/>
          <a:p>
            <a:pPr indent="0" marL="0">
              <a:buNone/>
            </a:pPr>
            <a:r>
              <a:rPr lang="en-US" sz="800" dirty="0">
                <a:solidFill>
                  <a:srgbClr val="1A6B3C"/>
                </a:solidFill>
                <a:latin typeface="Calibri" pitchFamily="34" charset="0"/>
                <a:ea typeface="Calibri" pitchFamily="34" charset="-122"/>
                <a:cs typeface="Calibri" pitchFamily="34" charset="-120"/>
              </a:rPr>
              <a:t>2. Move age_in_years to Input Variable box</a:t>
            </a:r>
            <a:endParaRPr lang="en-US" sz="800" dirty="0"/>
          </a:p>
        </p:txBody>
      </p:sp>
      <p:sp>
        <p:nvSpPr>
          <p:cNvPr id="14" name="Text 12"/>
          <p:cNvSpPr/>
          <p:nvPr/>
        </p:nvSpPr>
        <p:spPr>
          <a:xfrm>
            <a:off x="320040" y="4096512"/>
            <a:ext cx="2633472" cy="201168"/>
          </a:xfrm>
          <a:prstGeom prst="rect">
            <a:avLst/>
          </a:prstGeom>
          <a:noFill/>
          <a:ln/>
        </p:spPr>
        <p:txBody>
          <a:bodyPr wrap="square" lIns="0" tIns="0" rIns="0" bIns="0" rtlCol="0" anchor="ctr"/>
          <a:lstStyle/>
          <a:p>
            <a:pPr indent="0" marL="0">
              <a:buNone/>
            </a:pPr>
            <a:r>
              <a:rPr lang="en-US" sz="800" dirty="0">
                <a:solidFill>
                  <a:srgbClr val="1A6B3C"/>
                </a:solidFill>
                <a:latin typeface="Calibri" pitchFamily="34" charset="0"/>
                <a:ea typeface="Calibri" pitchFamily="34" charset="-122"/>
                <a:cs typeface="Calibri" pitchFamily="34" charset="-120"/>
              </a:rPr>
              <a:t>3. Type 'age_group' in Output Variable Name</a:t>
            </a:r>
            <a:endParaRPr lang="en-US" sz="800" dirty="0"/>
          </a:p>
        </p:txBody>
      </p:sp>
      <p:sp>
        <p:nvSpPr>
          <p:cNvPr id="15" name="Text 13"/>
          <p:cNvSpPr/>
          <p:nvPr/>
        </p:nvSpPr>
        <p:spPr>
          <a:xfrm>
            <a:off x="320040" y="4315968"/>
            <a:ext cx="2633472" cy="201168"/>
          </a:xfrm>
          <a:prstGeom prst="rect">
            <a:avLst/>
          </a:prstGeom>
          <a:noFill/>
          <a:ln/>
        </p:spPr>
        <p:txBody>
          <a:bodyPr wrap="square" lIns="0" tIns="0" rIns="0" bIns="0" rtlCol="0" anchor="ctr"/>
          <a:lstStyle/>
          <a:p>
            <a:pPr indent="0" marL="0">
              <a:buNone/>
            </a:pPr>
            <a:r>
              <a:rPr lang="en-US" sz="800" dirty="0">
                <a:solidFill>
                  <a:srgbClr val="1A6B3C"/>
                </a:solidFill>
                <a:latin typeface="Calibri" pitchFamily="34" charset="0"/>
                <a:ea typeface="Calibri" pitchFamily="34" charset="-122"/>
                <a:cs typeface="Calibri" pitchFamily="34" charset="-120"/>
              </a:rPr>
              <a:t>4. Click Change, then Old and New Values</a:t>
            </a:r>
            <a:endParaRPr lang="en-US" sz="800" dirty="0"/>
          </a:p>
        </p:txBody>
      </p:sp>
      <p:sp>
        <p:nvSpPr>
          <p:cNvPr id="16" name="Shape 14"/>
          <p:cNvSpPr/>
          <p:nvPr/>
        </p:nvSpPr>
        <p:spPr>
          <a:xfrm>
            <a:off x="3200400" y="1828800"/>
            <a:ext cx="2834640" cy="3108960"/>
          </a:xfrm>
          <a:prstGeom prst="roundRect">
            <a:avLst>
              <a:gd name="adj" fmla="val 2581"/>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255264" y="1901952"/>
            <a:ext cx="2724912" cy="274320"/>
          </a:xfrm>
          <a:prstGeom prst="roundRect">
            <a:avLst>
              <a:gd name="adj" fmla="val 16667"/>
            </a:avLst>
          </a:prstGeom>
          <a:solidFill>
            <a:srgbClr val="E67E22"/>
          </a:solidFill>
          <a:ln w="12700">
            <a:solidFill>
              <a:srgbClr val="E67E22"/>
            </a:solidFill>
            <a:prstDash val="solid"/>
          </a:ln>
        </p:spPr>
      </p:sp>
      <p:sp>
        <p:nvSpPr>
          <p:cNvPr id="18" name="Text 16"/>
          <p:cNvSpPr/>
          <p:nvPr/>
        </p:nvSpPr>
        <p:spPr>
          <a:xfrm>
            <a:off x="3255264" y="1901952"/>
            <a:ext cx="272491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Reverse-Code Negative Likert Items</a:t>
            </a:r>
            <a:endParaRPr lang="en-US" sz="1000" dirty="0"/>
          </a:p>
        </p:txBody>
      </p:sp>
      <p:sp>
        <p:nvSpPr>
          <p:cNvPr id="19" name="Text 17"/>
          <p:cNvSpPr/>
          <p:nvPr/>
        </p:nvSpPr>
        <p:spPr>
          <a:xfrm>
            <a:off x="3291840" y="2231136"/>
            <a:ext cx="2633472" cy="475488"/>
          </a:xfrm>
          <a:prstGeom prst="rect">
            <a:avLst/>
          </a:prstGeom>
          <a:noFill/>
          <a:ln/>
        </p:spPr>
        <p:txBody>
          <a:bodyPr wrap="square" lIns="0" tIns="0" rIns="0" bIns="0" rtlCol="0" anchor="ctr"/>
          <a:lstStyle/>
          <a:p>
            <a:pPr indent="0" marL="0">
              <a:buNone/>
            </a:pPr>
            <a:r>
              <a:rPr lang="en-US" sz="850" b="1" dirty="0">
                <a:solidFill>
                  <a:srgbClr val="E67E22"/>
                </a:solidFill>
                <a:latin typeface="Calibri" pitchFamily="34" charset="0"/>
                <a:ea typeface="Calibri" pitchFamily="34" charset="-122"/>
                <a:cs typeface="Calibri" pitchFamily="34" charset="-120"/>
              </a:rPr>
              <a:t>FROM: </a:t>
            </a:r>
            <a:pPr indent="0" marL="0">
              <a:buNone/>
            </a:pPr>
            <a:r>
              <a:rPr lang="en-US" sz="850" dirty="0">
                <a:solidFill>
                  <a:srgbClr val="1E3A2E"/>
                </a:solidFill>
                <a:latin typeface="Calibri" pitchFamily="34" charset="0"/>
                <a:ea typeface="Calibri" pitchFamily="34" charset="-122"/>
                <a:cs typeface="Calibri" pitchFamily="34" charset="-120"/>
              </a:rPr>
              <a:t>q5_negative: 'UAC Foods products are overpriced' (1=Strongly Agree to 5=Strongly Disagree)</a:t>
            </a:r>
            <a:endParaRPr lang="en-US" sz="850" dirty="0"/>
          </a:p>
        </p:txBody>
      </p:sp>
      <p:sp>
        <p:nvSpPr>
          <p:cNvPr id="20" name="Text 18"/>
          <p:cNvSpPr/>
          <p:nvPr/>
        </p:nvSpPr>
        <p:spPr>
          <a:xfrm>
            <a:off x="3291840" y="2743200"/>
            <a:ext cx="2633472" cy="475488"/>
          </a:xfrm>
          <a:prstGeom prst="rect">
            <a:avLst/>
          </a:prstGeom>
          <a:noFill/>
          <a:ln/>
        </p:spPr>
        <p:txBody>
          <a:bodyPr wrap="square" lIns="0" tIns="0" rIns="0" bIns="0" rtlCol="0" anchor="ctr"/>
          <a:lstStyle/>
          <a:p>
            <a:pPr indent="0" marL="0">
              <a:buNone/>
            </a:pPr>
            <a:r>
              <a:rPr lang="en-US" sz="850" b="1" dirty="0">
                <a:solidFill>
                  <a:srgbClr val="1A6B3C"/>
                </a:solidFill>
                <a:latin typeface="Calibri" pitchFamily="34" charset="0"/>
                <a:ea typeface="Calibri" pitchFamily="34" charset="-122"/>
                <a:cs typeface="Calibri" pitchFamily="34" charset="-120"/>
              </a:rPr>
              <a:t>TO: </a:t>
            </a:r>
            <a:pPr indent="0" marL="0">
              <a:buNone/>
            </a:pPr>
            <a:r>
              <a:rPr lang="en-US" sz="850" dirty="0">
                <a:solidFill>
                  <a:srgbClr val="1E3A2E"/>
                </a:solidFill>
                <a:latin typeface="Calibri" pitchFamily="34" charset="0"/>
                <a:ea typeface="Calibri" pitchFamily="34" charset="-122"/>
                <a:cs typeface="Calibri" pitchFamily="34" charset="-120"/>
              </a:rPr>
              <a:t>q5_reversed: Flip scale so 1=Strongly Disagree, 5=Strongly Agree - same direction as other items</a:t>
            </a:r>
            <a:endParaRPr lang="en-US" sz="850" dirty="0"/>
          </a:p>
        </p:txBody>
      </p:sp>
      <p:sp>
        <p:nvSpPr>
          <p:cNvPr id="21" name="Text 19"/>
          <p:cNvSpPr/>
          <p:nvPr/>
        </p:nvSpPr>
        <p:spPr>
          <a:xfrm>
            <a:off x="3291840" y="3255264"/>
            <a:ext cx="2633472" cy="347472"/>
          </a:xfrm>
          <a:prstGeom prst="rect">
            <a:avLst/>
          </a:prstGeom>
          <a:noFill/>
          <a:ln/>
        </p:spPr>
        <p:txBody>
          <a:bodyPr wrap="square" lIns="0" tIns="0" rIns="0" bIns="0" rtlCol="0" anchor="ctr"/>
          <a:lstStyle/>
          <a:p>
            <a:pPr indent="0" marL="0">
              <a:buNone/>
            </a:pPr>
            <a:r>
              <a:rPr lang="en-US" sz="850" b="1" dirty="0">
                <a:solidFill>
                  <a:srgbClr val="1B5CA0"/>
                </a:solidFill>
                <a:latin typeface="Calibri" pitchFamily="34" charset="0"/>
                <a:ea typeface="Calibri" pitchFamily="34" charset="-122"/>
                <a:cs typeface="Calibri" pitchFamily="34" charset="-120"/>
              </a:rPr>
              <a:t>Why: </a:t>
            </a:r>
            <a:pPr indent="0" marL="0">
              <a:buNone/>
            </a:pPr>
            <a:r>
              <a:rPr lang="en-US" sz="850" i="1" dirty="0">
                <a:solidFill>
                  <a:srgbClr val="64748B"/>
                </a:solidFill>
                <a:latin typeface="Calibri" pitchFamily="34" charset="0"/>
                <a:ea typeface="Calibri" pitchFamily="34" charset="-122"/>
                <a:cs typeface="Calibri" pitchFamily="34" charset="-120"/>
              </a:rPr>
              <a:t>Necessary before computing a composite satisfaction score. All items must point the same direction.</a:t>
            </a:r>
            <a:endParaRPr lang="en-US" sz="850" dirty="0"/>
          </a:p>
        </p:txBody>
      </p:sp>
      <p:sp>
        <p:nvSpPr>
          <p:cNvPr id="22" name="Text 20"/>
          <p:cNvSpPr/>
          <p:nvPr/>
        </p:nvSpPr>
        <p:spPr>
          <a:xfrm>
            <a:off x="3291840" y="3657600"/>
            <a:ext cx="2633472" cy="201168"/>
          </a:xfrm>
          <a:prstGeom prst="rect">
            <a:avLst/>
          </a:prstGeom>
          <a:noFill/>
          <a:ln/>
        </p:spPr>
        <p:txBody>
          <a:bodyPr wrap="square" lIns="0" tIns="0" rIns="0" bIns="0" rtlCol="0" anchor="ctr"/>
          <a:lstStyle/>
          <a:p>
            <a:pPr indent="0" marL="0">
              <a:buNone/>
            </a:pPr>
            <a:r>
              <a:rPr lang="en-US" sz="800" dirty="0">
                <a:solidFill>
                  <a:srgbClr val="E67E22"/>
                </a:solidFill>
                <a:latin typeface="Calibri" pitchFamily="34" charset="0"/>
                <a:ea typeface="Calibri" pitchFamily="34" charset="-122"/>
                <a:cs typeface="Calibri" pitchFamily="34" charset="-120"/>
              </a:rPr>
              <a:t>1. Transform &gt; Recode into Different Variables</a:t>
            </a:r>
            <a:endParaRPr lang="en-US" sz="800" dirty="0"/>
          </a:p>
        </p:txBody>
      </p:sp>
      <p:sp>
        <p:nvSpPr>
          <p:cNvPr id="23" name="Text 21"/>
          <p:cNvSpPr/>
          <p:nvPr/>
        </p:nvSpPr>
        <p:spPr>
          <a:xfrm>
            <a:off x="3291840" y="3877056"/>
            <a:ext cx="2633472" cy="201168"/>
          </a:xfrm>
          <a:prstGeom prst="rect">
            <a:avLst/>
          </a:prstGeom>
          <a:noFill/>
          <a:ln/>
        </p:spPr>
        <p:txBody>
          <a:bodyPr wrap="square" lIns="0" tIns="0" rIns="0" bIns="0" rtlCol="0" anchor="ctr"/>
          <a:lstStyle/>
          <a:p>
            <a:pPr indent="0" marL="0">
              <a:buNone/>
            </a:pPr>
            <a:r>
              <a:rPr lang="en-US" sz="800" dirty="0">
                <a:solidFill>
                  <a:srgbClr val="E67E22"/>
                </a:solidFill>
                <a:latin typeface="Calibri" pitchFamily="34" charset="0"/>
                <a:ea typeface="Calibri" pitchFamily="34" charset="-122"/>
                <a:cs typeface="Calibri" pitchFamily="34" charset="-120"/>
              </a:rPr>
              <a:t>2. Move q5_negative to Input Variable</a:t>
            </a:r>
            <a:endParaRPr lang="en-US" sz="800" dirty="0"/>
          </a:p>
        </p:txBody>
      </p:sp>
      <p:sp>
        <p:nvSpPr>
          <p:cNvPr id="24" name="Text 22"/>
          <p:cNvSpPr/>
          <p:nvPr/>
        </p:nvSpPr>
        <p:spPr>
          <a:xfrm>
            <a:off x="3291840" y="4096512"/>
            <a:ext cx="2633472" cy="201168"/>
          </a:xfrm>
          <a:prstGeom prst="rect">
            <a:avLst/>
          </a:prstGeom>
          <a:noFill/>
          <a:ln/>
        </p:spPr>
        <p:txBody>
          <a:bodyPr wrap="square" lIns="0" tIns="0" rIns="0" bIns="0" rtlCol="0" anchor="ctr"/>
          <a:lstStyle/>
          <a:p>
            <a:pPr indent="0" marL="0">
              <a:buNone/>
            </a:pPr>
            <a:r>
              <a:rPr lang="en-US" sz="800" dirty="0">
                <a:solidFill>
                  <a:srgbClr val="E67E22"/>
                </a:solidFill>
                <a:latin typeface="Calibri" pitchFamily="34" charset="0"/>
                <a:ea typeface="Calibri" pitchFamily="34" charset="-122"/>
                <a:cs typeface="Calibri" pitchFamily="34" charset="-120"/>
              </a:rPr>
              <a:t>3. Name output: q5_reversed. Click Change.</a:t>
            </a:r>
            <a:endParaRPr lang="en-US" sz="800" dirty="0"/>
          </a:p>
        </p:txBody>
      </p:sp>
      <p:sp>
        <p:nvSpPr>
          <p:cNvPr id="25" name="Text 23"/>
          <p:cNvSpPr/>
          <p:nvPr/>
        </p:nvSpPr>
        <p:spPr>
          <a:xfrm>
            <a:off x="3291840" y="4315968"/>
            <a:ext cx="2633472" cy="201168"/>
          </a:xfrm>
          <a:prstGeom prst="rect">
            <a:avLst/>
          </a:prstGeom>
          <a:noFill/>
          <a:ln/>
        </p:spPr>
        <p:txBody>
          <a:bodyPr wrap="square" lIns="0" tIns="0" rIns="0" bIns="0" rtlCol="0" anchor="ctr"/>
          <a:lstStyle/>
          <a:p>
            <a:pPr indent="0" marL="0">
              <a:buNone/>
            </a:pPr>
            <a:r>
              <a:rPr lang="en-US" sz="800" dirty="0">
                <a:solidFill>
                  <a:srgbClr val="E67E22"/>
                </a:solidFill>
                <a:latin typeface="Calibri" pitchFamily="34" charset="0"/>
                <a:ea typeface="Calibri" pitchFamily="34" charset="-122"/>
                <a:cs typeface="Calibri" pitchFamily="34" charset="-120"/>
              </a:rPr>
              <a:t>4. Old Value 1 &gt; New Value 5. Add.</a:t>
            </a:r>
            <a:endParaRPr lang="en-US" sz="800" dirty="0"/>
          </a:p>
        </p:txBody>
      </p:sp>
      <p:sp>
        <p:nvSpPr>
          <p:cNvPr id="26" name="Shape 24"/>
          <p:cNvSpPr/>
          <p:nvPr/>
        </p:nvSpPr>
        <p:spPr>
          <a:xfrm>
            <a:off x="6172200" y="1828800"/>
            <a:ext cx="2834640" cy="3108960"/>
          </a:xfrm>
          <a:prstGeom prst="roundRect">
            <a:avLst>
              <a:gd name="adj" fmla="val 2581"/>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7" name="Shape 25"/>
          <p:cNvSpPr/>
          <p:nvPr/>
        </p:nvSpPr>
        <p:spPr>
          <a:xfrm>
            <a:off x="6227064" y="1901952"/>
            <a:ext cx="2724912" cy="274320"/>
          </a:xfrm>
          <a:prstGeom prst="roundRect">
            <a:avLst>
              <a:gd name="adj" fmla="val 16667"/>
            </a:avLst>
          </a:prstGeom>
          <a:solidFill>
            <a:srgbClr val="1B5CA0"/>
          </a:solidFill>
          <a:ln w="12700">
            <a:solidFill>
              <a:srgbClr val="1B5CA0"/>
            </a:solidFill>
            <a:prstDash val="solid"/>
          </a:ln>
        </p:spPr>
      </p:sp>
      <p:sp>
        <p:nvSpPr>
          <p:cNvPr id="28" name="Text 26"/>
          <p:cNvSpPr/>
          <p:nvPr/>
        </p:nvSpPr>
        <p:spPr>
          <a:xfrm>
            <a:off x="6227064" y="1901952"/>
            <a:ext cx="272491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Collapse Ordinal Categories</a:t>
            </a:r>
            <a:endParaRPr lang="en-US" sz="1000" dirty="0"/>
          </a:p>
        </p:txBody>
      </p:sp>
      <p:sp>
        <p:nvSpPr>
          <p:cNvPr id="29" name="Text 27"/>
          <p:cNvSpPr/>
          <p:nvPr/>
        </p:nvSpPr>
        <p:spPr>
          <a:xfrm>
            <a:off x="6263640" y="2231136"/>
            <a:ext cx="2633472" cy="475488"/>
          </a:xfrm>
          <a:prstGeom prst="rect">
            <a:avLst/>
          </a:prstGeom>
          <a:noFill/>
          <a:ln/>
        </p:spPr>
        <p:txBody>
          <a:bodyPr wrap="square" lIns="0" tIns="0" rIns="0" bIns="0" rtlCol="0" anchor="ctr"/>
          <a:lstStyle/>
          <a:p>
            <a:pPr indent="0" marL="0">
              <a:buNone/>
            </a:pPr>
            <a:r>
              <a:rPr lang="en-US" sz="850" b="1" dirty="0">
                <a:solidFill>
                  <a:srgbClr val="1B5CA0"/>
                </a:solidFill>
                <a:latin typeface="Calibri" pitchFamily="34" charset="0"/>
                <a:ea typeface="Calibri" pitchFamily="34" charset="-122"/>
                <a:cs typeface="Calibri" pitchFamily="34" charset="-120"/>
              </a:rPr>
              <a:t>FROM: </a:t>
            </a:r>
            <a:pPr indent="0" marL="0">
              <a:buNone/>
            </a:pPr>
            <a:r>
              <a:rPr lang="en-US" sz="850" dirty="0">
                <a:solidFill>
                  <a:srgbClr val="1E3A2E"/>
                </a:solidFill>
                <a:latin typeface="Calibri" pitchFamily="34" charset="0"/>
                <a:ea typeface="Calibri" pitchFamily="34" charset="-122"/>
                <a:cs typeface="Calibri" pitchFamily="34" charset="-120"/>
              </a:rPr>
              <a:t>education_level (1-6 ordinal): No formal / Primary / Secondary / OND / BSc / Postgraduate</a:t>
            </a:r>
            <a:endParaRPr lang="en-US" sz="850" dirty="0"/>
          </a:p>
        </p:txBody>
      </p:sp>
      <p:sp>
        <p:nvSpPr>
          <p:cNvPr id="30" name="Text 28"/>
          <p:cNvSpPr/>
          <p:nvPr/>
        </p:nvSpPr>
        <p:spPr>
          <a:xfrm>
            <a:off x="6263640" y="2743200"/>
            <a:ext cx="2633472" cy="475488"/>
          </a:xfrm>
          <a:prstGeom prst="rect">
            <a:avLst/>
          </a:prstGeom>
          <a:noFill/>
          <a:ln/>
        </p:spPr>
        <p:txBody>
          <a:bodyPr wrap="square" lIns="0" tIns="0" rIns="0" bIns="0" rtlCol="0" anchor="ctr"/>
          <a:lstStyle/>
          <a:p>
            <a:pPr indent="0" marL="0">
              <a:buNone/>
            </a:pPr>
            <a:r>
              <a:rPr lang="en-US" sz="850" b="1" dirty="0">
                <a:solidFill>
                  <a:srgbClr val="1A6B3C"/>
                </a:solidFill>
                <a:latin typeface="Calibri" pitchFamily="34" charset="0"/>
                <a:ea typeface="Calibri" pitchFamily="34" charset="-122"/>
                <a:cs typeface="Calibri" pitchFamily="34" charset="-120"/>
              </a:rPr>
              <a:t>TO: </a:t>
            </a:r>
            <a:pPr indent="0" marL="0">
              <a:buNone/>
            </a:pPr>
            <a:r>
              <a:rPr lang="en-US" sz="850" dirty="0">
                <a:solidFill>
                  <a:srgbClr val="1E3A2E"/>
                </a:solidFill>
                <a:latin typeface="Calibri" pitchFamily="34" charset="0"/>
                <a:ea typeface="Calibri" pitchFamily="34" charset="-122"/>
                <a:cs typeface="Calibri" pitchFamily="34" charset="-120"/>
              </a:rPr>
              <a:t>edu_3cat: 1=Low(1-2), 2=Middle(3-4), 3=High(5-6) - simpler 3-category version</a:t>
            </a:r>
            <a:endParaRPr lang="en-US" sz="850" dirty="0"/>
          </a:p>
        </p:txBody>
      </p:sp>
      <p:sp>
        <p:nvSpPr>
          <p:cNvPr id="31" name="Text 29"/>
          <p:cNvSpPr/>
          <p:nvPr/>
        </p:nvSpPr>
        <p:spPr>
          <a:xfrm>
            <a:off x="6263640" y="3255264"/>
            <a:ext cx="2633472" cy="347472"/>
          </a:xfrm>
          <a:prstGeom prst="rect">
            <a:avLst/>
          </a:prstGeom>
          <a:noFill/>
          <a:ln/>
        </p:spPr>
        <p:txBody>
          <a:bodyPr wrap="square" lIns="0" tIns="0" rIns="0" bIns="0" rtlCol="0" anchor="ctr"/>
          <a:lstStyle/>
          <a:p>
            <a:pPr indent="0" marL="0">
              <a:buNone/>
            </a:pPr>
            <a:r>
              <a:rPr lang="en-US" sz="850" b="1" dirty="0">
                <a:solidFill>
                  <a:srgbClr val="1B5CA0"/>
                </a:solidFill>
                <a:latin typeface="Calibri" pitchFamily="34" charset="0"/>
                <a:ea typeface="Calibri" pitchFamily="34" charset="-122"/>
                <a:cs typeface="Calibri" pitchFamily="34" charset="-120"/>
              </a:rPr>
              <a:t>Why: </a:t>
            </a:r>
            <a:pPr indent="0" marL="0">
              <a:buNone/>
            </a:pPr>
            <a:r>
              <a:rPr lang="en-US" sz="850" i="1" dirty="0">
                <a:solidFill>
                  <a:srgbClr val="64748B"/>
                </a:solidFill>
                <a:latin typeface="Calibri" pitchFamily="34" charset="0"/>
                <a:ea typeface="Calibri" pitchFamily="34" charset="-122"/>
                <a:cs typeface="Calibri" pitchFamily="34" charset="-120"/>
              </a:rPr>
              <a:t>When cell sizes are too small for 6 categories in chi-square. Combine to meet expected count assumption.</a:t>
            </a:r>
            <a:endParaRPr lang="en-US" sz="850" dirty="0"/>
          </a:p>
        </p:txBody>
      </p:sp>
      <p:sp>
        <p:nvSpPr>
          <p:cNvPr id="32" name="Text 30"/>
          <p:cNvSpPr/>
          <p:nvPr/>
        </p:nvSpPr>
        <p:spPr>
          <a:xfrm>
            <a:off x="6263640" y="3657600"/>
            <a:ext cx="2633472" cy="201168"/>
          </a:xfrm>
          <a:prstGeom prst="rect">
            <a:avLst/>
          </a:prstGeom>
          <a:noFill/>
          <a:ln/>
        </p:spPr>
        <p:txBody>
          <a:bodyPr wrap="square" lIns="0" tIns="0" rIns="0" bIns="0" rtlCol="0" anchor="ctr"/>
          <a:lstStyle/>
          <a:p>
            <a:pPr indent="0" marL="0">
              <a:buNone/>
            </a:pPr>
            <a:r>
              <a:rPr lang="en-US" sz="800" dirty="0">
                <a:solidFill>
                  <a:srgbClr val="1B5CA0"/>
                </a:solidFill>
                <a:latin typeface="Calibri" pitchFamily="34" charset="0"/>
                <a:ea typeface="Calibri" pitchFamily="34" charset="-122"/>
                <a:cs typeface="Calibri" pitchFamily="34" charset="-120"/>
              </a:rPr>
              <a:t>1. Transform &gt; Recode into Different Variables</a:t>
            </a:r>
            <a:endParaRPr lang="en-US" sz="800" dirty="0"/>
          </a:p>
        </p:txBody>
      </p:sp>
      <p:sp>
        <p:nvSpPr>
          <p:cNvPr id="33" name="Text 31"/>
          <p:cNvSpPr/>
          <p:nvPr/>
        </p:nvSpPr>
        <p:spPr>
          <a:xfrm>
            <a:off x="6263640" y="3877056"/>
            <a:ext cx="2633472" cy="201168"/>
          </a:xfrm>
          <a:prstGeom prst="rect">
            <a:avLst/>
          </a:prstGeom>
          <a:noFill/>
          <a:ln/>
        </p:spPr>
        <p:txBody>
          <a:bodyPr wrap="square" lIns="0" tIns="0" rIns="0" bIns="0" rtlCol="0" anchor="ctr"/>
          <a:lstStyle/>
          <a:p>
            <a:pPr indent="0" marL="0">
              <a:buNone/>
            </a:pPr>
            <a:r>
              <a:rPr lang="en-US" sz="800" dirty="0">
                <a:solidFill>
                  <a:srgbClr val="1B5CA0"/>
                </a:solidFill>
                <a:latin typeface="Calibri" pitchFamily="34" charset="0"/>
                <a:ea typeface="Calibri" pitchFamily="34" charset="-122"/>
                <a:cs typeface="Calibri" pitchFamily="34" charset="-120"/>
              </a:rPr>
              <a:t>2. Move education_level to Input Variable</a:t>
            </a:r>
            <a:endParaRPr lang="en-US" sz="800" dirty="0"/>
          </a:p>
        </p:txBody>
      </p:sp>
      <p:sp>
        <p:nvSpPr>
          <p:cNvPr id="34" name="Text 32"/>
          <p:cNvSpPr/>
          <p:nvPr/>
        </p:nvSpPr>
        <p:spPr>
          <a:xfrm>
            <a:off x="6263640" y="4096512"/>
            <a:ext cx="2633472" cy="201168"/>
          </a:xfrm>
          <a:prstGeom prst="rect">
            <a:avLst/>
          </a:prstGeom>
          <a:noFill/>
          <a:ln/>
        </p:spPr>
        <p:txBody>
          <a:bodyPr wrap="square" lIns="0" tIns="0" rIns="0" bIns="0" rtlCol="0" anchor="ctr"/>
          <a:lstStyle/>
          <a:p>
            <a:pPr indent="0" marL="0">
              <a:buNone/>
            </a:pPr>
            <a:r>
              <a:rPr lang="en-US" sz="800" dirty="0">
                <a:solidFill>
                  <a:srgbClr val="1B5CA0"/>
                </a:solidFill>
                <a:latin typeface="Calibri" pitchFamily="34" charset="0"/>
                <a:ea typeface="Calibri" pitchFamily="34" charset="-122"/>
                <a:cs typeface="Calibri" pitchFamily="34" charset="-120"/>
              </a:rPr>
              <a:t>3. Name output: edu_3cat. Click Change.</a:t>
            </a:r>
            <a:endParaRPr lang="en-US" sz="800" dirty="0"/>
          </a:p>
        </p:txBody>
      </p:sp>
      <p:sp>
        <p:nvSpPr>
          <p:cNvPr id="35" name="Text 33"/>
          <p:cNvSpPr/>
          <p:nvPr/>
        </p:nvSpPr>
        <p:spPr>
          <a:xfrm>
            <a:off x="6263640" y="4315968"/>
            <a:ext cx="2633472" cy="201168"/>
          </a:xfrm>
          <a:prstGeom prst="rect">
            <a:avLst/>
          </a:prstGeom>
          <a:noFill/>
          <a:ln/>
        </p:spPr>
        <p:txBody>
          <a:bodyPr wrap="square" lIns="0" tIns="0" rIns="0" bIns="0" rtlCol="0" anchor="ctr"/>
          <a:lstStyle/>
          <a:p>
            <a:pPr indent="0" marL="0">
              <a:buNone/>
            </a:pPr>
            <a:r>
              <a:rPr lang="en-US" sz="800" dirty="0">
                <a:solidFill>
                  <a:srgbClr val="1B5CA0"/>
                </a:solidFill>
                <a:latin typeface="Calibri" pitchFamily="34" charset="0"/>
                <a:ea typeface="Calibri" pitchFamily="34" charset="-122"/>
                <a:cs typeface="Calibri" pitchFamily="34" charset="-120"/>
              </a:rPr>
              <a:t>4. Range 1 THRU 2 &gt; New Value 1. Add.</a:t>
            </a:r>
            <a:endParaRPr lang="en-US" sz="800" dirty="0"/>
          </a:p>
        </p:txBody>
      </p:sp>
      <p:sp>
        <p:nvSpPr>
          <p:cNvPr id="36" name="Shape 34"/>
          <p:cNvSpPr/>
          <p:nvPr/>
        </p:nvSpPr>
        <p:spPr>
          <a:xfrm>
            <a:off x="256032" y="5084064"/>
            <a:ext cx="8631936" cy="384048"/>
          </a:xfrm>
          <a:prstGeom prst="roundRect">
            <a:avLst>
              <a:gd name="adj" fmla="val 14286"/>
            </a:avLst>
          </a:prstGeom>
          <a:solidFill>
            <a:srgbClr val="FEF0ED"/>
          </a:solidFill>
          <a:ln w="19050">
            <a:solidFill>
              <a:srgbClr val="C0392B"/>
            </a:solidFill>
            <a:prstDash val="solid"/>
          </a:ln>
        </p:spPr>
      </p:sp>
      <p:sp>
        <p:nvSpPr>
          <p:cNvPr id="37" name="Text 35"/>
          <p:cNvSpPr/>
          <p:nvPr/>
        </p:nvSpPr>
        <p:spPr>
          <a:xfrm>
            <a:off x="384048" y="5084064"/>
            <a:ext cx="8449056" cy="384048"/>
          </a:xfrm>
          <a:prstGeom prst="rect">
            <a:avLst/>
          </a:prstGeom>
          <a:noFill/>
          <a:ln/>
        </p:spPr>
        <p:txBody>
          <a:bodyPr wrap="square" lIns="0" tIns="0" rIns="0" bIns="0" rtlCol="0" anchor="ctr"/>
          <a:lstStyle/>
          <a:p>
            <a:pPr indent="0" marL="0">
              <a:buNone/>
            </a:pPr>
            <a:r>
              <a:rPr lang="en-US" sz="1000" dirty="0">
                <a:solidFill>
                  <a:srgbClr val="7A1A0E"/>
                </a:solidFill>
                <a:latin typeface="Calibri" pitchFamily="34" charset="0"/>
                <a:ea typeface="Calibri" pitchFamily="34" charset="-122"/>
                <a:cs typeface="Calibri" pitchFamily="34" charset="-120"/>
              </a:rPr>
              <a:t>NEVER use 'Recode into Same Variables' - this overwrites your original data permanently. Always recode into a DIFFERENT, new variable.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A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6B3C"/>
          </a:solidFill>
          <a:ln w="12700">
            <a:solidFill>
              <a:srgbClr val="1A6B3C"/>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Compute Variable - Transform &gt; Compute Variable</a:t>
            </a:r>
            <a:endParaRPr lang="en-US" sz="2200" dirty="0"/>
          </a:p>
        </p:txBody>
      </p:sp>
      <p:sp>
        <p:nvSpPr>
          <p:cNvPr id="4" name="Shape 2"/>
          <p:cNvSpPr/>
          <p:nvPr/>
        </p:nvSpPr>
        <p:spPr>
          <a:xfrm>
            <a:off x="256032" y="1024128"/>
            <a:ext cx="8631936" cy="658368"/>
          </a:xfrm>
          <a:prstGeom prst="roundRect">
            <a:avLst>
              <a:gd name="adj" fmla="val 11111"/>
            </a:avLst>
          </a:prstGeom>
          <a:solidFill>
            <a:srgbClr val="EAF4EE"/>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51560"/>
            <a:ext cx="8321040" cy="603504"/>
          </a:xfrm>
          <a:prstGeom prst="rect">
            <a:avLst/>
          </a:prstGeom>
          <a:noFill/>
          <a:ln/>
        </p:spPr>
        <p:txBody>
          <a:bodyPr wrap="square" lIns="0" tIns="0" rIns="0" bIns="0" rtlCol="0" anchor="ctr"/>
          <a:lstStyle/>
          <a:p>
            <a:pPr indent="0" marL="0">
              <a:buNone/>
            </a:pPr>
            <a:r>
              <a:rPr lang="en-US" sz="1050" dirty="0">
                <a:solidFill>
                  <a:srgbClr val="1E3A2E"/>
                </a:solidFill>
                <a:latin typeface="Calibri" pitchFamily="34" charset="0"/>
                <a:ea typeface="Calibri" pitchFamily="34" charset="-122"/>
                <a:cs typeface="Calibri" pitchFamily="34" charset="-120"/>
              </a:rPr>
              <a:t>Compute creates a BRAND NEW variable using an arithmetic expression, logical expression, or built-in SPSS function. The result is calculated for every case in the dataset. Variables computed from Likert items become the basis for all scale-level statistical tests.</a:t>
            </a:r>
            <a:endParaRPr lang="en-US" sz="1050" dirty="0"/>
          </a:p>
        </p:txBody>
      </p:sp>
      <p:sp>
        <p:nvSpPr>
          <p:cNvPr id="6" name="Shape 4"/>
          <p:cNvSpPr/>
          <p:nvPr/>
        </p:nvSpPr>
        <p:spPr>
          <a:xfrm>
            <a:off x="228600" y="1773936"/>
            <a:ext cx="2834640" cy="1572768"/>
          </a:xfrm>
          <a:prstGeom prst="roundRect">
            <a:avLst>
              <a:gd name="adj" fmla="val 4651"/>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283464" y="1828800"/>
            <a:ext cx="2724912" cy="256032"/>
          </a:xfrm>
          <a:prstGeom prst="roundRect">
            <a:avLst>
              <a:gd name="adj" fmla="val 17857"/>
            </a:avLst>
          </a:prstGeom>
          <a:solidFill>
            <a:srgbClr val="1A6B3C"/>
          </a:solidFill>
          <a:ln w="12700">
            <a:solidFill>
              <a:srgbClr val="1A6B3C"/>
            </a:solidFill>
            <a:prstDash val="solid"/>
          </a:ln>
        </p:spPr>
      </p:sp>
      <p:sp>
        <p:nvSpPr>
          <p:cNvPr id="8" name="Text 6"/>
          <p:cNvSpPr/>
          <p:nvPr/>
        </p:nvSpPr>
        <p:spPr>
          <a:xfrm>
            <a:off x="283464" y="1828800"/>
            <a:ext cx="272491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Total Satisfaction Score</a:t>
            </a:r>
            <a:endParaRPr lang="en-US" sz="1000" dirty="0"/>
          </a:p>
        </p:txBody>
      </p:sp>
      <p:sp>
        <p:nvSpPr>
          <p:cNvPr id="9" name="Text 7"/>
          <p:cNvSpPr/>
          <p:nvPr/>
        </p:nvSpPr>
        <p:spPr>
          <a:xfrm>
            <a:off x="320040" y="2139696"/>
            <a:ext cx="2633472" cy="640080"/>
          </a:xfrm>
          <a:prstGeom prst="rect">
            <a:avLst/>
          </a:prstGeom>
          <a:noFill/>
          <a:ln/>
        </p:spPr>
        <p:txBody>
          <a:bodyPr wrap="square" lIns="0" tIns="0" rIns="0" bIns="0" rtlCol="0" anchor="ctr"/>
          <a:lstStyle/>
          <a:p>
            <a:pPr indent="0" marL="0">
              <a:buNone/>
            </a:pPr>
            <a:r>
              <a:rPr lang="en-US" sz="850" dirty="0">
                <a:solidFill>
                  <a:srgbClr val="0B2218"/>
                </a:solidFill>
                <a:latin typeface="Courier New" pitchFamily="34" charset="0"/>
                <a:ea typeface="Courier New" pitchFamily="34" charset="-122"/>
                <a:cs typeface="Courier New" pitchFamily="34" charset="-120"/>
              </a:rPr>
              <a:t>COMPUTE satisfaction_total =</a:t>
            </a:r>
            <a:endParaRPr lang="en-US" sz="850" dirty="0"/>
          </a:p>
          <a:p>
            <a:pPr indent="0" marL="0">
              <a:buNone/>
            </a:pPr>
            <a:r>
              <a:rPr lang="en-US" sz="850" dirty="0">
                <a:solidFill>
                  <a:srgbClr val="0B2218"/>
                </a:solidFill>
                <a:latin typeface="Courier New" pitchFamily="34" charset="0"/>
                <a:ea typeface="Courier New" pitchFamily="34" charset="-122"/>
                <a:cs typeface="Courier New" pitchFamily="34" charset="-120"/>
              </a:rPr>
              <a:t>  q1_quality + q2_packaging +</a:t>
            </a:r>
            <a:endParaRPr lang="en-US" sz="850" dirty="0"/>
          </a:p>
          <a:p>
            <a:pPr indent="0" marL="0">
              <a:buNone/>
            </a:pPr>
            <a:r>
              <a:rPr lang="en-US" sz="850" dirty="0">
                <a:solidFill>
                  <a:srgbClr val="0B2218"/>
                </a:solidFill>
                <a:latin typeface="Courier New" pitchFamily="34" charset="0"/>
                <a:ea typeface="Courier New" pitchFamily="34" charset="-122"/>
                <a:cs typeface="Courier New" pitchFamily="34" charset="-120"/>
              </a:rPr>
              <a:t>  q3_value + q4_availability +</a:t>
            </a:r>
            <a:endParaRPr lang="en-US" sz="850" dirty="0"/>
          </a:p>
          <a:p>
            <a:pPr indent="0" marL="0">
              <a:buNone/>
            </a:pPr>
            <a:r>
              <a:rPr lang="en-US" sz="850" dirty="0">
                <a:solidFill>
                  <a:srgbClr val="0B2218"/>
                </a:solidFill>
                <a:latin typeface="Courier New" pitchFamily="34" charset="0"/>
                <a:ea typeface="Courier New" pitchFamily="34" charset="-122"/>
                <a:cs typeface="Courier New" pitchFamily="34" charset="-120"/>
              </a:rPr>
              <a:t>  q5_reversed.</a:t>
            </a:r>
            <a:endParaRPr lang="en-US" sz="850" dirty="0"/>
          </a:p>
        </p:txBody>
      </p:sp>
      <p:sp>
        <p:nvSpPr>
          <p:cNvPr id="10" name="Text 8"/>
          <p:cNvSpPr/>
          <p:nvPr/>
        </p:nvSpPr>
        <p:spPr>
          <a:xfrm>
            <a:off x="320040" y="2816352"/>
            <a:ext cx="2633472" cy="347472"/>
          </a:xfrm>
          <a:prstGeom prst="rect">
            <a:avLst/>
          </a:prstGeom>
          <a:noFill/>
          <a:ln/>
        </p:spPr>
        <p:txBody>
          <a:bodyPr wrap="square" lIns="0" tIns="0" rIns="0" bIns="0" rtlCol="0" anchor="ctr"/>
          <a:lstStyle/>
          <a:p>
            <a:pPr indent="0" marL="0">
              <a:buNone/>
            </a:pPr>
            <a:r>
              <a:rPr lang="en-US" sz="850" b="1" dirty="0">
                <a:solidFill>
                  <a:srgbClr val="1A6B3C"/>
                </a:solidFill>
                <a:latin typeface="Calibri" pitchFamily="34" charset="0"/>
                <a:ea typeface="Calibri" pitchFamily="34" charset="-122"/>
                <a:cs typeface="Calibri" pitchFamily="34" charset="-120"/>
              </a:rPr>
              <a:t>Result: </a:t>
            </a:r>
            <a:pPr indent="0" marL="0">
              <a:buNone/>
            </a:pPr>
            <a:r>
              <a:rPr lang="en-US" sz="850" dirty="0">
                <a:solidFill>
                  <a:srgbClr val="1E3A2E"/>
                </a:solidFill>
                <a:latin typeface="Calibri" pitchFamily="34" charset="0"/>
                <a:ea typeface="Calibri" pitchFamily="34" charset="-122"/>
                <a:cs typeface="Calibri" pitchFamily="34" charset="-120"/>
              </a:rPr>
              <a:t>Sum of all 5 items (range: 5-25). Higher = more satisfied.</a:t>
            </a:r>
            <a:endParaRPr lang="en-US" sz="850" dirty="0"/>
          </a:p>
        </p:txBody>
      </p:sp>
      <p:sp>
        <p:nvSpPr>
          <p:cNvPr id="11" name="Shape 9"/>
          <p:cNvSpPr/>
          <p:nvPr/>
        </p:nvSpPr>
        <p:spPr>
          <a:xfrm>
            <a:off x="3200400" y="1773936"/>
            <a:ext cx="2834640" cy="1572768"/>
          </a:xfrm>
          <a:prstGeom prst="roundRect">
            <a:avLst>
              <a:gd name="adj" fmla="val 4651"/>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3255264" y="1828800"/>
            <a:ext cx="2724912" cy="256032"/>
          </a:xfrm>
          <a:prstGeom prst="roundRect">
            <a:avLst>
              <a:gd name="adj" fmla="val 17857"/>
            </a:avLst>
          </a:prstGeom>
          <a:solidFill>
            <a:srgbClr val="0E7C7B"/>
          </a:solidFill>
          <a:ln w="12700">
            <a:solidFill>
              <a:srgbClr val="0E7C7B"/>
            </a:solidFill>
            <a:prstDash val="solid"/>
          </a:ln>
        </p:spPr>
      </p:sp>
      <p:sp>
        <p:nvSpPr>
          <p:cNvPr id="13" name="Text 11"/>
          <p:cNvSpPr/>
          <p:nvPr/>
        </p:nvSpPr>
        <p:spPr>
          <a:xfrm>
            <a:off x="3255264" y="1828800"/>
            <a:ext cx="272491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Mean Satisfaction Score</a:t>
            </a:r>
            <a:endParaRPr lang="en-US" sz="1000" dirty="0"/>
          </a:p>
        </p:txBody>
      </p:sp>
      <p:sp>
        <p:nvSpPr>
          <p:cNvPr id="14" name="Text 12"/>
          <p:cNvSpPr/>
          <p:nvPr/>
        </p:nvSpPr>
        <p:spPr>
          <a:xfrm>
            <a:off x="3291840" y="2139696"/>
            <a:ext cx="2633472" cy="640080"/>
          </a:xfrm>
          <a:prstGeom prst="rect">
            <a:avLst/>
          </a:prstGeom>
          <a:noFill/>
          <a:ln/>
        </p:spPr>
        <p:txBody>
          <a:bodyPr wrap="square" lIns="0" tIns="0" rIns="0" bIns="0" rtlCol="0" anchor="ctr"/>
          <a:lstStyle/>
          <a:p>
            <a:pPr indent="0" marL="0">
              <a:buNone/>
            </a:pPr>
            <a:r>
              <a:rPr lang="en-US" sz="850" dirty="0">
                <a:solidFill>
                  <a:srgbClr val="0B2218"/>
                </a:solidFill>
                <a:latin typeface="Courier New" pitchFamily="34" charset="0"/>
                <a:ea typeface="Courier New" pitchFamily="34" charset="-122"/>
                <a:cs typeface="Courier New" pitchFamily="34" charset="-120"/>
              </a:rPr>
              <a:t>COMPUTE satisfaction_mean =</a:t>
            </a:r>
            <a:endParaRPr lang="en-US" sz="850" dirty="0"/>
          </a:p>
          <a:p>
            <a:pPr indent="0" marL="0">
              <a:buNone/>
            </a:pPr>
            <a:r>
              <a:rPr lang="en-US" sz="850" dirty="0">
                <a:solidFill>
                  <a:srgbClr val="0B2218"/>
                </a:solidFill>
                <a:latin typeface="Courier New" pitchFamily="34" charset="0"/>
                <a:ea typeface="Courier New" pitchFamily="34" charset="-122"/>
                <a:cs typeface="Courier New" pitchFamily="34" charset="-120"/>
              </a:rPr>
              <a:t>  MEAN(q1_quality, q2_packaging,</a:t>
            </a:r>
            <a:endParaRPr lang="en-US" sz="850" dirty="0"/>
          </a:p>
          <a:p>
            <a:pPr indent="0" marL="0">
              <a:buNone/>
            </a:pPr>
            <a:r>
              <a:rPr lang="en-US" sz="850" dirty="0">
                <a:solidFill>
                  <a:srgbClr val="0B2218"/>
                </a:solidFill>
                <a:latin typeface="Courier New" pitchFamily="34" charset="0"/>
                <a:ea typeface="Courier New" pitchFamily="34" charset="-122"/>
                <a:cs typeface="Courier New" pitchFamily="34" charset="-120"/>
              </a:rPr>
              <a:t>  q3_value, q4_availability,</a:t>
            </a:r>
            <a:endParaRPr lang="en-US" sz="850" dirty="0"/>
          </a:p>
          <a:p>
            <a:pPr indent="0" marL="0">
              <a:buNone/>
            </a:pPr>
            <a:r>
              <a:rPr lang="en-US" sz="850" dirty="0">
                <a:solidFill>
                  <a:srgbClr val="0B2218"/>
                </a:solidFill>
                <a:latin typeface="Courier New" pitchFamily="34" charset="0"/>
                <a:ea typeface="Courier New" pitchFamily="34" charset="-122"/>
                <a:cs typeface="Courier New" pitchFamily="34" charset="-120"/>
              </a:rPr>
              <a:t>  q5_reversed).</a:t>
            </a:r>
            <a:endParaRPr lang="en-US" sz="850" dirty="0"/>
          </a:p>
        </p:txBody>
      </p:sp>
      <p:sp>
        <p:nvSpPr>
          <p:cNvPr id="15" name="Text 13"/>
          <p:cNvSpPr/>
          <p:nvPr/>
        </p:nvSpPr>
        <p:spPr>
          <a:xfrm>
            <a:off x="3291840" y="2816352"/>
            <a:ext cx="2633472" cy="347472"/>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Result: </a:t>
            </a:r>
            <a:pPr indent="0" marL="0">
              <a:buNone/>
            </a:pPr>
            <a:r>
              <a:rPr lang="en-US" sz="850" dirty="0">
                <a:solidFill>
                  <a:srgbClr val="1E3A2E"/>
                </a:solidFill>
                <a:latin typeface="Calibri" pitchFamily="34" charset="0"/>
                <a:ea typeface="Calibri" pitchFamily="34" charset="-122"/>
                <a:cs typeface="Calibri" pitchFamily="34" charset="-120"/>
              </a:rPr>
              <a:t>Average of all items (range: 1-5). Easier to interpret than total.</a:t>
            </a:r>
            <a:endParaRPr lang="en-US" sz="850" dirty="0"/>
          </a:p>
        </p:txBody>
      </p:sp>
      <p:sp>
        <p:nvSpPr>
          <p:cNvPr id="16" name="Shape 14"/>
          <p:cNvSpPr/>
          <p:nvPr/>
        </p:nvSpPr>
        <p:spPr>
          <a:xfrm>
            <a:off x="6172200" y="1773936"/>
            <a:ext cx="2834640" cy="1572768"/>
          </a:xfrm>
          <a:prstGeom prst="roundRect">
            <a:avLst>
              <a:gd name="adj" fmla="val 4651"/>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6227064" y="1828800"/>
            <a:ext cx="2724912" cy="256032"/>
          </a:xfrm>
          <a:prstGeom prst="roundRect">
            <a:avLst>
              <a:gd name="adj" fmla="val 17857"/>
            </a:avLst>
          </a:prstGeom>
          <a:solidFill>
            <a:srgbClr val="1B5CA0"/>
          </a:solidFill>
          <a:ln w="12700">
            <a:solidFill>
              <a:srgbClr val="1B5CA0"/>
            </a:solidFill>
            <a:prstDash val="solid"/>
          </a:ln>
        </p:spPr>
      </p:sp>
      <p:sp>
        <p:nvSpPr>
          <p:cNvPr id="18" name="Text 16"/>
          <p:cNvSpPr/>
          <p:nvPr/>
        </p:nvSpPr>
        <p:spPr>
          <a:xfrm>
            <a:off x="6227064" y="1828800"/>
            <a:ext cx="272491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Profit Margin %</a:t>
            </a:r>
            <a:endParaRPr lang="en-US" sz="1000" dirty="0"/>
          </a:p>
        </p:txBody>
      </p:sp>
      <p:sp>
        <p:nvSpPr>
          <p:cNvPr id="19" name="Text 17"/>
          <p:cNvSpPr/>
          <p:nvPr/>
        </p:nvSpPr>
        <p:spPr>
          <a:xfrm>
            <a:off x="6263640" y="2139696"/>
            <a:ext cx="2633472" cy="640080"/>
          </a:xfrm>
          <a:prstGeom prst="rect">
            <a:avLst/>
          </a:prstGeom>
          <a:noFill/>
          <a:ln/>
        </p:spPr>
        <p:txBody>
          <a:bodyPr wrap="square" lIns="0" tIns="0" rIns="0" bIns="0" rtlCol="0" anchor="ctr"/>
          <a:lstStyle/>
          <a:p>
            <a:pPr indent="0" marL="0">
              <a:buNone/>
            </a:pPr>
            <a:r>
              <a:rPr lang="en-US" sz="850" dirty="0">
                <a:solidFill>
                  <a:srgbClr val="0B2218"/>
                </a:solidFill>
                <a:latin typeface="Courier New" pitchFamily="34" charset="0"/>
                <a:ea typeface="Courier New" pitchFamily="34" charset="-122"/>
                <a:cs typeface="Courier New" pitchFamily="34" charset="-120"/>
              </a:rPr>
              <a:t>COMPUTE profit_margin =</a:t>
            </a:r>
            <a:endParaRPr lang="en-US" sz="850" dirty="0"/>
          </a:p>
          <a:p>
            <a:pPr indent="0" marL="0">
              <a:buNone/>
            </a:pPr>
            <a:r>
              <a:rPr lang="en-US" sz="850" dirty="0">
                <a:solidFill>
                  <a:srgbClr val="0B2218"/>
                </a:solidFill>
                <a:latin typeface="Courier New" pitchFamily="34" charset="0"/>
                <a:ea typeface="Courier New" pitchFamily="34" charset="-122"/>
                <a:cs typeface="Courier New" pitchFamily="34" charset="-120"/>
              </a:rPr>
              <a:t>  (gross_profit /</a:t>
            </a:r>
            <a:endParaRPr lang="en-US" sz="850" dirty="0"/>
          </a:p>
          <a:p>
            <a:pPr indent="0" marL="0">
              <a:buNone/>
            </a:pPr>
            <a:r>
              <a:rPr lang="en-US" sz="850" dirty="0">
                <a:solidFill>
                  <a:srgbClr val="0B2218"/>
                </a:solidFill>
                <a:latin typeface="Courier New" pitchFamily="34" charset="0"/>
                <a:ea typeface="Courier New" pitchFamily="34" charset="-122"/>
                <a:cs typeface="Courier New" pitchFamily="34" charset="-120"/>
              </a:rPr>
              <a:t>  total_revenue) * 100.</a:t>
            </a:r>
            <a:endParaRPr lang="en-US" sz="850" dirty="0"/>
          </a:p>
        </p:txBody>
      </p:sp>
      <p:sp>
        <p:nvSpPr>
          <p:cNvPr id="20" name="Text 18"/>
          <p:cNvSpPr/>
          <p:nvPr/>
        </p:nvSpPr>
        <p:spPr>
          <a:xfrm>
            <a:off x="6263640" y="2816352"/>
            <a:ext cx="2633472" cy="347472"/>
          </a:xfrm>
          <a:prstGeom prst="rect">
            <a:avLst/>
          </a:prstGeom>
          <a:noFill/>
          <a:ln/>
        </p:spPr>
        <p:txBody>
          <a:bodyPr wrap="square" lIns="0" tIns="0" rIns="0" bIns="0" rtlCol="0" anchor="ctr"/>
          <a:lstStyle/>
          <a:p>
            <a:pPr indent="0" marL="0">
              <a:buNone/>
            </a:pPr>
            <a:r>
              <a:rPr lang="en-US" sz="850" b="1" dirty="0">
                <a:solidFill>
                  <a:srgbClr val="1B5CA0"/>
                </a:solidFill>
                <a:latin typeface="Calibri" pitchFamily="34" charset="0"/>
                <a:ea typeface="Calibri" pitchFamily="34" charset="-122"/>
                <a:cs typeface="Calibri" pitchFamily="34" charset="-120"/>
              </a:rPr>
              <a:t>Result: </a:t>
            </a:r>
            <a:pPr indent="0" marL="0">
              <a:buNone/>
            </a:pPr>
            <a:r>
              <a:rPr lang="en-US" sz="850" dirty="0">
                <a:solidFill>
                  <a:srgbClr val="1E3A2E"/>
                </a:solidFill>
                <a:latin typeface="Calibri" pitchFamily="34" charset="0"/>
                <a:ea typeface="Calibri" pitchFamily="34" charset="-122"/>
                <a:cs typeface="Calibri" pitchFamily="34" charset="-120"/>
              </a:rPr>
              <a:t>Percentage profit margin per sales record.</a:t>
            </a:r>
            <a:endParaRPr lang="en-US" sz="850" dirty="0"/>
          </a:p>
        </p:txBody>
      </p:sp>
      <p:sp>
        <p:nvSpPr>
          <p:cNvPr id="21" name="Shape 19"/>
          <p:cNvSpPr/>
          <p:nvPr/>
        </p:nvSpPr>
        <p:spPr>
          <a:xfrm>
            <a:off x="228600" y="3438144"/>
            <a:ext cx="2834640" cy="1572768"/>
          </a:xfrm>
          <a:prstGeom prst="roundRect">
            <a:avLst>
              <a:gd name="adj" fmla="val 4651"/>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2" name="Shape 20"/>
          <p:cNvSpPr/>
          <p:nvPr/>
        </p:nvSpPr>
        <p:spPr>
          <a:xfrm>
            <a:off x="283464" y="3493008"/>
            <a:ext cx="2724912" cy="256032"/>
          </a:xfrm>
          <a:prstGeom prst="roundRect">
            <a:avLst>
              <a:gd name="adj" fmla="val 17857"/>
            </a:avLst>
          </a:prstGeom>
          <a:solidFill>
            <a:srgbClr val="E67E22"/>
          </a:solidFill>
          <a:ln w="12700">
            <a:solidFill>
              <a:srgbClr val="E67E22"/>
            </a:solidFill>
            <a:prstDash val="solid"/>
          </a:ln>
        </p:spPr>
      </p:sp>
      <p:sp>
        <p:nvSpPr>
          <p:cNvPr id="23" name="Text 21"/>
          <p:cNvSpPr/>
          <p:nvPr/>
        </p:nvSpPr>
        <p:spPr>
          <a:xfrm>
            <a:off x="283464" y="3493008"/>
            <a:ext cx="272491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BMI Calculation</a:t>
            </a:r>
            <a:endParaRPr lang="en-US" sz="1000" dirty="0"/>
          </a:p>
        </p:txBody>
      </p:sp>
      <p:sp>
        <p:nvSpPr>
          <p:cNvPr id="24" name="Text 22"/>
          <p:cNvSpPr/>
          <p:nvPr/>
        </p:nvSpPr>
        <p:spPr>
          <a:xfrm>
            <a:off x="320040" y="3803904"/>
            <a:ext cx="2633472" cy="640080"/>
          </a:xfrm>
          <a:prstGeom prst="rect">
            <a:avLst/>
          </a:prstGeom>
          <a:noFill/>
          <a:ln/>
        </p:spPr>
        <p:txBody>
          <a:bodyPr wrap="square" lIns="0" tIns="0" rIns="0" bIns="0" rtlCol="0" anchor="ctr"/>
          <a:lstStyle/>
          <a:p>
            <a:pPr indent="0" marL="0">
              <a:buNone/>
            </a:pPr>
            <a:r>
              <a:rPr lang="en-US" sz="850" dirty="0">
                <a:solidFill>
                  <a:srgbClr val="0B2218"/>
                </a:solidFill>
                <a:latin typeface="Courier New" pitchFamily="34" charset="0"/>
                <a:ea typeface="Courier New" pitchFamily="34" charset="-122"/>
                <a:cs typeface="Courier New" pitchFamily="34" charset="-120"/>
              </a:rPr>
              <a:t>COMPUTE bmi =</a:t>
            </a:r>
            <a:endParaRPr lang="en-US" sz="850" dirty="0"/>
          </a:p>
          <a:p>
            <a:pPr indent="0" marL="0">
              <a:buNone/>
            </a:pPr>
            <a:r>
              <a:rPr lang="en-US" sz="850" dirty="0">
                <a:solidFill>
                  <a:srgbClr val="0B2218"/>
                </a:solidFill>
                <a:latin typeface="Courier New" pitchFamily="34" charset="0"/>
                <a:ea typeface="Courier New" pitchFamily="34" charset="-122"/>
                <a:cs typeface="Courier New" pitchFamily="34" charset="-120"/>
              </a:rPr>
              <a:t>  weight_kg /</a:t>
            </a:r>
            <a:endParaRPr lang="en-US" sz="850" dirty="0"/>
          </a:p>
          <a:p>
            <a:pPr indent="0" marL="0">
              <a:buNone/>
            </a:pPr>
            <a:r>
              <a:rPr lang="en-US" sz="850" dirty="0">
                <a:solidFill>
                  <a:srgbClr val="0B2218"/>
                </a:solidFill>
                <a:latin typeface="Courier New" pitchFamily="34" charset="0"/>
                <a:ea typeface="Courier New" pitchFamily="34" charset="-122"/>
                <a:cs typeface="Courier New" pitchFamily="34" charset="-120"/>
              </a:rPr>
              <a:t>  (height_m * height_m).</a:t>
            </a:r>
            <a:endParaRPr lang="en-US" sz="850" dirty="0"/>
          </a:p>
        </p:txBody>
      </p:sp>
      <p:sp>
        <p:nvSpPr>
          <p:cNvPr id="25" name="Text 23"/>
          <p:cNvSpPr/>
          <p:nvPr/>
        </p:nvSpPr>
        <p:spPr>
          <a:xfrm>
            <a:off x="320040" y="4480560"/>
            <a:ext cx="2633472" cy="347472"/>
          </a:xfrm>
          <a:prstGeom prst="rect">
            <a:avLst/>
          </a:prstGeom>
          <a:noFill/>
          <a:ln/>
        </p:spPr>
        <p:txBody>
          <a:bodyPr wrap="square" lIns="0" tIns="0" rIns="0" bIns="0" rtlCol="0" anchor="ctr"/>
          <a:lstStyle/>
          <a:p>
            <a:pPr indent="0" marL="0">
              <a:buNone/>
            </a:pPr>
            <a:r>
              <a:rPr lang="en-US" sz="850" b="1" dirty="0">
                <a:solidFill>
                  <a:srgbClr val="E67E22"/>
                </a:solidFill>
                <a:latin typeface="Calibri" pitchFamily="34" charset="0"/>
                <a:ea typeface="Calibri" pitchFamily="34" charset="-122"/>
                <a:cs typeface="Calibri" pitchFamily="34" charset="-120"/>
              </a:rPr>
              <a:t>Result: </a:t>
            </a:r>
            <a:pPr indent="0" marL="0">
              <a:buNone/>
            </a:pPr>
            <a:r>
              <a:rPr lang="en-US" sz="850" dirty="0">
                <a:solidFill>
                  <a:srgbClr val="1E3A2E"/>
                </a:solidFill>
                <a:latin typeface="Calibri" pitchFamily="34" charset="0"/>
                <a:ea typeface="Calibri" pitchFamily="34" charset="-122"/>
                <a:cs typeface="Calibri" pitchFamily="34" charset="-120"/>
              </a:rPr>
              <a:t>Body Mass Index score per respondent.</a:t>
            </a:r>
            <a:endParaRPr lang="en-US" sz="850" dirty="0"/>
          </a:p>
        </p:txBody>
      </p:sp>
      <p:sp>
        <p:nvSpPr>
          <p:cNvPr id="26" name="Shape 24"/>
          <p:cNvSpPr/>
          <p:nvPr/>
        </p:nvSpPr>
        <p:spPr>
          <a:xfrm>
            <a:off x="3200400" y="3438144"/>
            <a:ext cx="2834640" cy="1572768"/>
          </a:xfrm>
          <a:prstGeom prst="roundRect">
            <a:avLst>
              <a:gd name="adj" fmla="val 4651"/>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7" name="Shape 25"/>
          <p:cNvSpPr/>
          <p:nvPr/>
        </p:nvSpPr>
        <p:spPr>
          <a:xfrm>
            <a:off x="3255264" y="3493008"/>
            <a:ext cx="2724912" cy="256032"/>
          </a:xfrm>
          <a:prstGeom prst="roundRect">
            <a:avLst>
              <a:gd name="adj" fmla="val 17857"/>
            </a:avLst>
          </a:prstGeom>
          <a:solidFill>
            <a:srgbClr val="5B2D8E"/>
          </a:solidFill>
          <a:ln w="12700">
            <a:solidFill>
              <a:srgbClr val="5B2D8E"/>
            </a:solidFill>
            <a:prstDash val="solid"/>
          </a:ln>
        </p:spPr>
      </p:sp>
      <p:sp>
        <p:nvSpPr>
          <p:cNvPr id="28" name="Text 26"/>
          <p:cNvSpPr/>
          <p:nvPr/>
        </p:nvSpPr>
        <p:spPr>
          <a:xfrm>
            <a:off x="3255264" y="3493008"/>
            <a:ext cx="272491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Years Since Purchase</a:t>
            </a:r>
            <a:endParaRPr lang="en-US" sz="1000" dirty="0"/>
          </a:p>
        </p:txBody>
      </p:sp>
      <p:sp>
        <p:nvSpPr>
          <p:cNvPr id="29" name="Text 27"/>
          <p:cNvSpPr/>
          <p:nvPr/>
        </p:nvSpPr>
        <p:spPr>
          <a:xfrm>
            <a:off x="3291840" y="3803904"/>
            <a:ext cx="2633472" cy="640080"/>
          </a:xfrm>
          <a:prstGeom prst="rect">
            <a:avLst/>
          </a:prstGeom>
          <a:noFill/>
          <a:ln/>
        </p:spPr>
        <p:txBody>
          <a:bodyPr wrap="square" lIns="0" tIns="0" rIns="0" bIns="0" rtlCol="0" anchor="ctr"/>
          <a:lstStyle/>
          <a:p>
            <a:pPr indent="0" marL="0">
              <a:buNone/>
            </a:pPr>
            <a:r>
              <a:rPr lang="en-US" sz="850" dirty="0">
                <a:solidFill>
                  <a:srgbClr val="0B2218"/>
                </a:solidFill>
                <a:latin typeface="Courier New" pitchFamily="34" charset="0"/>
                <a:ea typeface="Courier New" pitchFamily="34" charset="-122"/>
                <a:cs typeface="Courier New" pitchFamily="34" charset="-120"/>
              </a:rPr>
              <a:t>COMPUTE years_since =</a:t>
            </a:r>
            <a:endParaRPr lang="en-US" sz="850" dirty="0"/>
          </a:p>
          <a:p>
            <a:pPr indent="0" marL="0">
              <a:buNone/>
            </a:pPr>
            <a:r>
              <a:rPr lang="en-US" sz="850" dirty="0">
                <a:solidFill>
                  <a:srgbClr val="0B2218"/>
                </a:solidFill>
                <a:latin typeface="Courier New" pitchFamily="34" charset="0"/>
                <a:ea typeface="Courier New" pitchFamily="34" charset="-122"/>
                <a:cs typeface="Courier New" pitchFamily="34" charset="-120"/>
              </a:rPr>
              <a:t>  (XDATE.YEAR(TODAY()) -</a:t>
            </a:r>
            <a:endParaRPr lang="en-US" sz="850" dirty="0"/>
          </a:p>
          <a:p>
            <a:pPr indent="0" marL="0">
              <a:buNone/>
            </a:pPr>
            <a:r>
              <a:rPr lang="en-US" sz="850" dirty="0">
                <a:solidFill>
                  <a:srgbClr val="0B2218"/>
                </a:solidFill>
                <a:latin typeface="Courier New" pitchFamily="34" charset="0"/>
                <a:ea typeface="Courier New" pitchFamily="34" charset="-122"/>
                <a:cs typeface="Courier New" pitchFamily="34" charset="-120"/>
              </a:rPr>
              <a:t>  XDATE.YEAR(last_purchase_date)).</a:t>
            </a:r>
            <a:endParaRPr lang="en-US" sz="850" dirty="0"/>
          </a:p>
        </p:txBody>
      </p:sp>
      <p:sp>
        <p:nvSpPr>
          <p:cNvPr id="30" name="Text 28"/>
          <p:cNvSpPr/>
          <p:nvPr/>
        </p:nvSpPr>
        <p:spPr>
          <a:xfrm>
            <a:off x="3291840" y="4480560"/>
            <a:ext cx="2633472" cy="347472"/>
          </a:xfrm>
          <a:prstGeom prst="rect">
            <a:avLst/>
          </a:prstGeom>
          <a:noFill/>
          <a:ln/>
        </p:spPr>
        <p:txBody>
          <a:bodyPr wrap="square" lIns="0" tIns="0" rIns="0" bIns="0" rtlCol="0" anchor="ctr"/>
          <a:lstStyle/>
          <a:p>
            <a:pPr indent="0" marL="0">
              <a:buNone/>
            </a:pPr>
            <a:r>
              <a:rPr lang="en-US" sz="850" b="1" dirty="0">
                <a:solidFill>
                  <a:srgbClr val="5B2D8E"/>
                </a:solidFill>
                <a:latin typeface="Calibri" pitchFamily="34" charset="0"/>
                <a:ea typeface="Calibri" pitchFamily="34" charset="-122"/>
                <a:cs typeface="Calibri" pitchFamily="34" charset="-120"/>
              </a:rPr>
              <a:t>Result: </a:t>
            </a:r>
            <a:pPr indent="0" marL="0">
              <a:buNone/>
            </a:pPr>
            <a:r>
              <a:rPr lang="en-US" sz="850" dirty="0">
                <a:solidFill>
                  <a:srgbClr val="1E3A2E"/>
                </a:solidFill>
                <a:latin typeface="Calibri" pitchFamily="34" charset="0"/>
                <a:ea typeface="Calibri" pitchFamily="34" charset="-122"/>
                <a:cs typeface="Calibri" pitchFamily="34" charset="-120"/>
              </a:rPr>
              <a:t>Integer years since last UAC Foods purchase.</a:t>
            </a:r>
            <a:endParaRPr lang="en-US" sz="850" dirty="0"/>
          </a:p>
        </p:txBody>
      </p:sp>
      <p:sp>
        <p:nvSpPr>
          <p:cNvPr id="31" name="Shape 29"/>
          <p:cNvSpPr/>
          <p:nvPr/>
        </p:nvSpPr>
        <p:spPr>
          <a:xfrm>
            <a:off x="6172200" y="3438144"/>
            <a:ext cx="2834640" cy="1572768"/>
          </a:xfrm>
          <a:prstGeom prst="roundRect">
            <a:avLst>
              <a:gd name="adj" fmla="val 4651"/>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32" name="Shape 30"/>
          <p:cNvSpPr/>
          <p:nvPr/>
        </p:nvSpPr>
        <p:spPr>
          <a:xfrm>
            <a:off x="6227064" y="3493008"/>
            <a:ext cx="2724912" cy="256032"/>
          </a:xfrm>
          <a:prstGeom prst="roundRect">
            <a:avLst>
              <a:gd name="adj" fmla="val 17857"/>
            </a:avLst>
          </a:prstGeom>
          <a:solidFill>
            <a:srgbClr val="C0392B"/>
          </a:solidFill>
          <a:ln w="12700">
            <a:solidFill>
              <a:srgbClr val="C0392B"/>
            </a:solidFill>
            <a:prstDash val="solid"/>
          </a:ln>
        </p:spPr>
      </p:sp>
      <p:sp>
        <p:nvSpPr>
          <p:cNvPr id="33" name="Text 31"/>
          <p:cNvSpPr/>
          <p:nvPr/>
        </p:nvSpPr>
        <p:spPr>
          <a:xfrm>
            <a:off x="6227064" y="3493008"/>
            <a:ext cx="272491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Flag Out-of-Range Cases</a:t>
            </a:r>
            <a:endParaRPr lang="en-US" sz="1000" dirty="0"/>
          </a:p>
        </p:txBody>
      </p:sp>
      <p:sp>
        <p:nvSpPr>
          <p:cNvPr id="34" name="Text 32"/>
          <p:cNvSpPr/>
          <p:nvPr/>
        </p:nvSpPr>
        <p:spPr>
          <a:xfrm>
            <a:off x="6263640" y="3803904"/>
            <a:ext cx="2633472" cy="640080"/>
          </a:xfrm>
          <a:prstGeom prst="rect">
            <a:avLst/>
          </a:prstGeom>
          <a:noFill/>
          <a:ln/>
        </p:spPr>
        <p:txBody>
          <a:bodyPr wrap="square" lIns="0" tIns="0" rIns="0" bIns="0" rtlCol="0" anchor="ctr"/>
          <a:lstStyle/>
          <a:p>
            <a:pPr indent="0" marL="0">
              <a:buNone/>
            </a:pPr>
            <a:r>
              <a:rPr lang="en-US" sz="850" dirty="0">
                <a:solidFill>
                  <a:srgbClr val="0B2218"/>
                </a:solidFill>
                <a:latin typeface="Courier New" pitchFamily="34" charset="0"/>
                <a:ea typeface="Courier New" pitchFamily="34" charset="-122"/>
                <a:cs typeface="Courier New" pitchFamily="34" charset="-120"/>
              </a:rPr>
              <a:t>COMPUTE age_error =</a:t>
            </a:r>
            <a:endParaRPr lang="en-US" sz="850" dirty="0"/>
          </a:p>
          <a:p>
            <a:pPr indent="0" marL="0">
              <a:buNone/>
            </a:pPr>
            <a:r>
              <a:rPr lang="en-US" sz="850" dirty="0">
                <a:solidFill>
                  <a:srgbClr val="0B2218"/>
                </a:solidFill>
                <a:latin typeface="Courier New" pitchFamily="34" charset="0"/>
                <a:ea typeface="Courier New" pitchFamily="34" charset="-122"/>
                <a:cs typeface="Courier New" pitchFamily="34" charset="-120"/>
              </a:rPr>
              <a:t>  (age_in_years &lt; 18 OR</a:t>
            </a:r>
            <a:endParaRPr lang="en-US" sz="850" dirty="0"/>
          </a:p>
          <a:p>
            <a:pPr indent="0" marL="0">
              <a:buNone/>
            </a:pPr>
            <a:r>
              <a:rPr lang="en-US" sz="850" dirty="0">
                <a:solidFill>
                  <a:srgbClr val="0B2218"/>
                </a:solidFill>
                <a:latin typeface="Courier New" pitchFamily="34" charset="0"/>
                <a:ea typeface="Courier New" pitchFamily="34" charset="-122"/>
                <a:cs typeface="Courier New" pitchFamily="34" charset="-120"/>
              </a:rPr>
              <a:t>  age_in_years &gt; 80).</a:t>
            </a:r>
            <a:endParaRPr lang="en-US" sz="850" dirty="0"/>
          </a:p>
        </p:txBody>
      </p:sp>
      <p:sp>
        <p:nvSpPr>
          <p:cNvPr id="35" name="Text 33"/>
          <p:cNvSpPr/>
          <p:nvPr/>
        </p:nvSpPr>
        <p:spPr>
          <a:xfrm>
            <a:off x="6263640" y="4480560"/>
            <a:ext cx="2633472" cy="347472"/>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Result: </a:t>
            </a:r>
            <a:pPr indent="0" marL="0">
              <a:buNone/>
            </a:pPr>
            <a:r>
              <a:rPr lang="en-US" sz="850" dirty="0">
                <a:solidFill>
                  <a:srgbClr val="1E3A2E"/>
                </a:solidFill>
                <a:latin typeface="Calibri" pitchFamily="34" charset="0"/>
                <a:ea typeface="Calibri" pitchFamily="34" charset="-122"/>
                <a:cs typeface="Calibri" pitchFamily="34" charset="-120"/>
              </a:rPr>
              <a:t>1 = invalid age record, 0 = valid. Use to filter and review errors.</a:t>
            </a:r>
            <a:endParaRPr lang="en-US" sz="850" dirty="0"/>
          </a:p>
        </p:txBody>
      </p:sp>
      <p:sp>
        <p:nvSpPr>
          <p:cNvPr id="36" name="Shape 34"/>
          <p:cNvSpPr/>
          <p:nvPr/>
        </p:nvSpPr>
        <p:spPr>
          <a:xfrm>
            <a:off x="256032" y="5084064"/>
            <a:ext cx="8631936" cy="384048"/>
          </a:xfrm>
          <a:prstGeom prst="roundRect">
            <a:avLst>
              <a:gd name="adj" fmla="val 14286"/>
            </a:avLst>
          </a:prstGeom>
          <a:solidFill>
            <a:srgbClr val="FFFBEC"/>
          </a:solidFill>
          <a:ln w="19050">
            <a:solidFill>
              <a:srgbClr val="D4A017"/>
            </a:solidFill>
            <a:prstDash val="solid"/>
          </a:ln>
        </p:spPr>
      </p:sp>
      <p:sp>
        <p:nvSpPr>
          <p:cNvPr id="37" name="Text 35"/>
          <p:cNvSpPr/>
          <p:nvPr/>
        </p:nvSpPr>
        <p:spPr>
          <a:xfrm>
            <a:off x="384048" y="5084064"/>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After COMPUTE: always go to Variable View and set the Label, Measure level, and Decimals for the new variable. SPSS defaults new computed variables to Scale with no label.</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6400800" y="-914400"/>
            <a:ext cx="4114800" cy="4114800"/>
          </a:xfrm>
          <a:prstGeom prst="ellipse">
            <a:avLst/>
          </a:prstGeom>
          <a:solidFill>
            <a:srgbClr val="0E7C7B">
              <a:alpha val="16000"/>
            </a:srgbClr>
          </a:solidFill>
          <a:ln w="12700">
            <a:solidFill>
              <a:srgbClr val="0E7C7B"/>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Visual Binning - Transform &gt; Visual Binning</a:t>
            </a:r>
            <a:endParaRPr lang="en-US" sz="2800" dirty="0"/>
          </a:p>
        </p:txBody>
      </p:sp>
      <p:sp>
        <p:nvSpPr>
          <p:cNvPr id="4" name="Text 2"/>
          <p:cNvSpPr/>
          <p:nvPr/>
        </p:nvSpPr>
        <p:spPr>
          <a:xfrm>
            <a:off x="457200" y="868680"/>
            <a:ext cx="7772400" cy="365760"/>
          </a:xfrm>
          <a:prstGeom prst="rect">
            <a:avLst/>
          </a:prstGeom>
          <a:noFill/>
          <a:ln/>
        </p:spPr>
        <p:txBody>
          <a:bodyPr wrap="square" lIns="0" tIns="0" rIns="0" bIns="0" rtlCol="0" anchor="ctr"/>
          <a:lstStyle/>
          <a:p>
            <a:pPr indent="0" marL="0">
              <a:buNone/>
            </a:pPr>
            <a:r>
              <a:rPr lang="en-US" sz="1200" i="1" dirty="0">
                <a:solidFill>
                  <a:srgbClr val="A8D4BC"/>
                </a:solidFill>
                <a:latin typeface="Calibri" pitchFamily="34" charset="0"/>
                <a:ea typeface="Calibri" pitchFamily="34" charset="-122"/>
                <a:cs typeface="Calibri" pitchFamily="34" charset="-120"/>
              </a:rPr>
              <a:t>A more user-friendly way to create groups from continuous variables - you see the distribution while defining cut points</a:t>
            </a:r>
            <a:endParaRPr lang="en-US" sz="1200" dirty="0"/>
          </a:p>
        </p:txBody>
      </p:sp>
      <p:sp>
        <p:nvSpPr>
          <p:cNvPr id="5" name="Shape 3"/>
          <p:cNvSpPr/>
          <p:nvPr/>
        </p:nvSpPr>
        <p:spPr>
          <a:xfrm>
            <a:off x="274320" y="1298448"/>
            <a:ext cx="4160520" cy="3566160"/>
          </a:xfrm>
          <a:prstGeom prst="roundRect">
            <a:avLst>
              <a:gd name="adj" fmla="val 2564"/>
            </a:avLst>
          </a:prstGeom>
          <a:solidFill>
            <a:srgbClr val="113322"/>
          </a:solidFill>
          <a:ln w="12700">
            <a:solidFill>
              <a:srgbClr val="27AE60"/>
            </a:solidFill>
            <a:prstDash val="solid"/>
          </a:ln>
        </p:spPr>
      </p:sp>
      <p:sp>
        <p:nvSpPr>
          <p:cNvPr id="6" name="Text 4"/>
          <p:cNvSpPr/>
          <p:nvPr/>
        </p:nvSpPr>
        <p:spPr>
          <a:xfrm>
            <a:off x="384048" y="1389888"/>
            <a:ext cx="3913632" cy="274320"/>
          </a:xfrm>
          <a:prstGeom prst="rect">
            <a:avLst/>
          </a:prstGeom>
          <a:noFill/>
          <a:ln/>
        </p:spPr>
        <p:txBody>
          <a:bodyPr wrap="square" lIns="0" tIns="0" rIns="0" bIns="0" rtlCol="0" anchor="ctr"/>
          <a:lstStyle/>
          <a:p>
            <a:pPr indent="0" marL="0">
              <a:buNone/>
            </a:pPr>
            <a:r>
              <a:rPr lang="en-US" sz="1200" b="1" dirty="0">
                <a:solidFill>
                  <a:srgbClr val="F0C040"/>
                </a:solidFill>
                <a:latin typeface="Calibri" pitchFamily="34" charset="0"/>
                <a:ea typeface="Calibri" pitchFamily="34" charset="-122"/>
                <a:cs typeface="Calibri" pitchFamily="34" charset="-120"/>
              </a:rPr>
              <a:t>Step-by-Step: Monthly Salary Bands</a:t>
            </a:r>
            <a:endParaRPr lang="en-US" sz="1200" dirty="0"/>
          </a:p>
        </p:txBody>
      </p:sp>
      <p:sp>
        <p:nvSpPr>
          <p:cNvPr id="7" name="Shape 5"/>
          <p:cNvSpPr/>
          <p:nvPr/>
        </p:nvSpPr>
        <p:spPr>
          <a:xfrm>
            <a:off x="365760" y="1737360"/>
            <a:ext cx="201168" cy="201168"/>
          </a:xfrm>
          <a:prstGeom prst="ellipse">
            <a:avLst/>
          </a:prstGeom>
          <a:solidFill>
            <a:srgbClr val="27AE60"/>
          </a:solidFill>
          <a:ln w="12700">
            <a:solidFill>
              <a:srgbClr val="27AE60"/>
            </a:solidFill>
            <a:prstDash val="solid"/>
          </a:ln>
        </p:spPr>
      </p:sp>
      <p:sp>
        <p:nvSpPr>
          <p:cNvPr id="8" name="Text 6"/>
          <p:cNvSpPr/>
          <p:nvPr/>
        </p:nvSpPr>
        <p:spPr>
          <a:xfrm>
            <a:off x="365760" y="1737360"/>
            <a:ext cx="201168" cy="201168"/>
          </a:xfrm>
          <a:prstGeom prst="rect">
            <a:avLst/>
          </a:prstGeom>
          <a:noFill/>
          <a:ln/>
        </p:spPr>
        <p:txBody>
          <a:bodyPr wrap="square" lIns="0" tIns="0" rIns="0" bIns="0" rtlCol="0" anchor="ctr"/>
          <a:lstStyle/>
          <a:p>
            <a:pPr algn="ctr" indent="0" marL="0">
              <a:buNone/>
            </a:pPr>
            <a:r>
              <a:rPr lang="en-US" sz="750" b="1" dirty="0">
                <a:solidFill>
                  <a:srgbClr val="0B2218"/>
                </a:solidFill>
                <a:latin typeface="Calibri" pitchFamily="34" charset="0"/>
                <a:ea typeface="Calibri" pitchFamily="34" charset="-122"/>
                <a:cs typeface="Calibri" pitchFamily="34" charset="-120"/>
              </a:rPr>
              <a:t>1</a:t>
            </a:r>
            <a:endParaRPr lang="en-US" sz="750" dirty="0"/>
          </a:p>
        </p:txBody>
      </p:sp>
      <p:sp>
        <p:nvSpPr>
          <p:cNvPr id="9" name="Text 7"/>
          <p:cNvSpPr/>
          <p:nvPr/>
        </p:nvSpPr>
        <p:spPr>
          <a:xfrm>
            <a:off x="640080" y="1737360"/>
            <a:ext cx="365760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Go to Transform &gt; Visual Binning</a:t>
            </a:r>
            <a:endParaRPr lang="en-US" sz="850" dirty="0"/>
          </a:p>
        </p:txBody>
      </p:sp>
      <p:sp>
        <p:nvSpPr>
          <p:cNvPr id="10" name="Shape 8"/>
          <p:cNvSpPr/>
          <p:nvPr/>
        </p:nvSpPr>
        <p:spPr>
          <a:xfrm>
            <a:off x="365760" y="2020824"/>
            <a:ext cx="201168" cy="201168"/>
          </a:xfrm>
          <a:prstGeom prst="ellipse">
            <a:avLst/>
          </a:prstGeom>
          <a:solidFill>
            <a:srgbClr val="27AE60"/>
          </a:solidFill>
          <a:ln w="12700">
            <a:solidFill>
              <a:srgbClr val="27AE60"/>
            </a:solidFill>
            <a:prstDash val="solid"/>
          </a:ln>
        </p:spPr>
      </p:sp>
      <p:sp>
        <p:nvSpPr>
          <p:cNvPr id="11" name="Text 9"/>
          <p:cNvSpPr/>
          <p:nvPr/>
        </p:nvSpPr>
        <p:spPr>
          <a:xfrm>
            <a:off x="365760" y="2020824"/>
            <a:ext cx="201168" cy="201168"/>
          </a:xfrm>
          <a:prstGeom prst="rect">
            <a:avLst/>
          </a:prstGeom>
          <a:noFill/>
          <a:ln/>
        </p:spPr>
        <p:txBody>
          <a:bodyPr wrap="square" lIns="0" tIns="0" rIns="0" bIns="0" rtlCol="0" anchor="ctr"/>
          <a:lstStyle/>
          <a:p>
            <a:pPr algn="ctr" indent="0" marL="0">
              <a:buNone/>
            </a:pPr>
            <a:r>
              <a:rPr lang="en-US" sz="750" b="1" dirty="0">
                <a:solidFill>
                  <a:srgbClr val="0B2218"/>
                </a:solidFill>
                <a:latin typeface="Calibri" pitchFamily="34" charset="0"/>
                <a:ea typeface="Calibri" pitchFamily="34" charset="-122"/>
                <a:cs typeface="Calibri" pitchFamily="34" charset="-120"/>
              </a:rPr>
              <a:t>2</a:t>
            </a:r>
            <a:endParaRPr lang="en-US" sz="750" dirty="0"/>
          </a:p>
        </p:txBody>
      </p:sp>
      <p:sp>
        <p:nvSpPr>
          <p:cNvPr id="12" name="Text 10"/>
          <p:cNvSpPr/>
          <p:nvPr/>
        </p:nvSpPr>
        <p:spPr>
          <a:xfrm>
            <a:off x="640080" y="2020824"/>
            <a:ext cx="365760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Move monthly_salary_ngn to Variables to Bin list</a:t>
            </a:r>
            <a:endParaRPr lang="en-US" sz="850" dirty="0"/>
          </a:p>
        </p:txBody>
      </p:sp>
      <p:sp>
        <p:nvSpPr>
          <p:cNvPr id="13" name="Shape 11"/>
          <p:cNvSpPr/>
          <p:nvPr/>
        </p:nvSpPr>
        <p:spPr>
          <a:xfrm>
            <a:off x="365760" y="2304288"/>
            <a:ext cx="201168" cy="201168"/>
          </a:xfrm>
          <a:prstGeom prst="ellipse">
            <a:avLst/>
          </a:prstGeom>
          <a:solidFill>
            <a:srgbClr val="27AE60"/>
          </a:solidFill>
          <a:ln w="12700">
            <a:solidFill>
              <a:srgbClr val="27AE60"/>
            </a:solidFill>
            <a:prstDash val="solid"/>
          </a:ln>
        </p:spPr>
      </p:sp>
      <p:sp>
        <p:nvSpPr>
          <p:cNvPr id="14" name="Text 12"/>
          <p:cNvSpPr/>
          <p:nvPr/>
        </p:nvSpPr>
        <p:spPr>
          <a:xfrm>
            <a:off x="365760" y="2304288"/>
            <a:ext cx="201168" cy="201168"/>
          </a:xfrm>
          <a:prstGeom prst="rect">
            <a:avLst/>
          </a:prstGeom>
          <a:noFill/>
          <a:ln/>
        </p:spPr>
        <p:txBody>
          <a:bodyPr wrap="square" lIns="0" tIns="0" rIns="0" bIns="0" rtlCol="0" anchor="ctr"/>
          <a:lstStyle/>
          <a:p>
            <a:pPr algn="ctr" indent="0" marL="0">
              <a:buNone/>
            </a:pPr>
            <a:r>
              <a:rPr lang="en-US" sz="750" b="1" dirty="0">
                <a:solidFill>
                  <a:srgbClr val="0B2218"/>
                </a:solidFill>
                <a:latin typeface="Calibri" pitchFamily="34" charset="0"/>
                <a:ea typeface="Calibri" pitchFamily="34" charset="-122"/>
                <a:cs typeface="Calibri" pitchFamily="34" charset="-120"/>
              </a:rPr>
              <a:t>3</a:t>
            </a:r>
            <a:endParaRPr lang="en-US" sz="750" dirty="0"/>
          </a:p>
        </p:txBody>
      </p:sp>
      <p:sp>
        <p:nvSpPr>
          <p:cNvPr id="15" name="Text 13"/>
          <p:cNvSpPr/>
          <p:nvPr/>
        </p:nvSpPr>
        <p:spPr>
          <a:xfrm>
            <a:off x="640080" y="2304288"/>
            <a:ext cx="365760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Click Continue to scan the data distribution</a:t>
            </a:r>
            <a:endParaRPr lang="en-US" sz="850" dirty="0"/>
          </a:p>
        </p:txBody>
      </p:sp>
      <p:sp>
        <p:nvSpPr>
          <p:cNvPr id="16" name="Shape 14"/>
          <p:cNvSpPr/>
          <p:nvPr/>
        </p:nvSpPr>
        <p:spPr>
          <a:xfrm>
            <a:off x="365760" y="2587752"/>
            <a:ext cx="201168" cy="201168"/>
          </a:xfrm>
          <a:prstGeom prst="ellipse">
            <a:avLst/>
          </a:prstGeom>
          <a:solidFill>
            <a:srgbClr val="27AE60"/>
          </a:solidFill>
          <a:ln w="12700">
            <a:solidFill>
              <a:srgbClr val="27AE60"/>
            </a:solidFill>
            <a:prstDash val="solid"/>
          </a:ln>
        </p:spPr>
      </p:sp>
      <p:sp>
        <p:nvSpPr>
          <p:cNvPr id="17" name="Text 15"/>
          <p:cNvSpPr/>
          <p:nvPr/>
        </p:nvSpPr>
        <p:spPr>
          <a:xfrm>
            <a:off x="365760" y="2587752"/>
            <a:ext cx="201168" cy="201168"/>
          </a:xfrm>
          <a:prstGeom prst="rect">
            <a:avLst/>
          </a:prstGeom>
          <a:noFill/>
          <a:ln/>
        </p:spPr>
        <p:txBody>
          <a:bodyPr wrap="square" lIns="0" tIns="0" rIns="0" bIns="0" rtlCol="0" anchor="ctr"/>
          <a:lstStyle/>
          <a:p>
            <a:pPr algn="ctr" indent="0" marL="0">
              <a:buNone/>
            </a:pPr>
            <a:r>
              <a:rPr lang="en-US" sz="750" b="1" dirty="0">
                <a:solidFill>
                  <a:srgbClr val="0B2218"/>
                </a:solidFill>
                <a:latin typeface="Calibri" pitchFamily="34" charset="0"/>
                <a:ea typeface="Calibri" pitchFamily="34" charset="-122"/>
                <a:cs typeface="Calibri" pitchFamily="34" charset="-120"/>
              </a:rPr>
              <a:t>4</a:t>
            </a:r>
            <a:endParaRPr lang="en-US" sz="750" dirty="0"/>
          </a:p>
        </p:txBody>
      </p:sp>
      <p:sp>
        <p:nvSpPr>
          <p:cNvPr id="18" name="Text 16"/>
          <p:cNvSpPr/>
          <p:nvPr/>
        </p:nvSpPr>
        <p:spPr>
          <a:xfrm>
            <a:off x="640080" y="2587752"/>
            <a:ext cx="365760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In the Visual Binning dialog, the histogram of salary appears</a:t>
            </a:r>
            <a:endParaRPr lang="en-US" sz="850" dirty="0"/>
          </a:p>
        </p:txBody>
      </p:sp>
      <p:sp>
        <p:nvSpPr>
          <p:cNvPr id="19" name="Shape 17"/>
          <p:cNvSpPr/>
          <p:nvPr/>
        </p:nvSpPr>
        <p:spPr>
          <a:xfrm>
            <a:off x="365760" y="2871216"/>
            <a:ext cx="201168" cy="201168"/>
          </a:xfrm>
          <a:prstGeom prst="ellipse">
            <a:avLst/>
          </a:prstGeom>
          <a:solidFill>
            <a:srgbClr val="27AE60"/>
          </a:solidFill>
          <a:ln w="12700">
            <a:solidFill>
              <a:srgbClr val="27AE60"/>
            </a:solidFill>
            <a:prstDash val="solid"/>
          </a:ln>
        </p:spPr>
      </p:sp>
      <p:sp>
        <p:nvSpPr>
          <p:cNvPr id="20" name="Text 18"/>
          <p:cNvSpPr/>
          <p:nvPr/>
        </p:nvSpPr>
        <p:spPr>
          <a:xfrm>
            <a:off x="365760" y="2871216"/>
            <a:ext cx="201168" cy="201168"/>
          </a:xfrm>
          <a:prstGeom prst="rect">
            <a:avLst/>
          </a:prstGeom>
          <a:noFill/>
          <a:ln/>
        </p:spPr>
        <p:txBody>
          <a:bodyPr wrap="square" lIns="0" tIns="0" rIns="0" bIns="0" rtlCol="0" anchor="ctr"/>
          <a:lstStyle/>
          <a:p>
            <a:pPr algn="ctr" indent="0" marL="0">
              <a:buNone/>
            </a:pPr>
            <a:r>
              <a:rPr lang="en-US" sz="750" b="1" dirty="0">
                <a:solidFill>
                  <a:srgbClr val="0B2218"/>
                </a:solidFill>
                <a:latin typeface="Calibri" pitchFamily="34" charset="0"/>
                <a:ea typeface="Calibri" pitchFamily="34" charset="-122"/>
                <a:cs typeface="Calibri" pitchFamily="34" charset="-120"/>
              </a:rPr>
              <a:t>5</a:t>
            </a:r>
            <a:endParaRPr lang="en-US" sz="750" dirty="0"/>
          </a:p>
        </p:txBody>
      </p:sp>
      <p:sp>
        <p:nvSpPr>
          <p:cNvPr id="21" name="Text 19"/>
          <p:cNvSpPr/>
          <p:nvPr/>
        </p:nvSpPr>
        <p:spPr>
          <a:xfrm>
            <a:off x="640080" y="2871216"/>
            <a:ext cx="365760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Click Make Cutpoints &gt; Equal Width &gt; enter From 0, To 600000, by 150000</a:t>
            </a:r>
            <a:endParaRPr lang="en-US" sz="850" dirty="0"/>
          </a:p>
        </p:txBody>
      </p:sp>
      <p:sp>
        <p:nvSpPr>
          <p:cNvPr id="22" name="Shape 20"/>
          <p:cNvSpPr/>
          <p:nvPr/>
        </p:nvSpPr>
        <p:spPr>
          <a:xfrm>
            <a:off x="365760" y="3154680"/>
            <a:ext cx="201168" cy="201168"/>
          </a:xfrm>
          <a:prstGeom prst="ellipse">
            <a:avLst/>
          </a:prstGeom>
          <a:solidFill>
            <a:srgbClr val="27AE60"/>
          </a:solidFill>
          <a:ln w="12700">
            <a:solidFill>
              <a:srgbClr val="27AE60"/>
            </a:solidFill>
            <a:prstDash val="solid"/>
          </a:ln>
        </p:spPr>
      </p:sp>
      <p:sp>
        <p:nvSpPr>
          <p:cNvPr id="23" name="Text 21"/>
          <p:cNvSpPr/>
          <p:nvPr/>
        </p:nvSpPr>
        <p:spPr>
          <a:xfrm>
            <a:off x="365760" y="3154680"/>
            <a:ext cx="201168" cy="201168"/>
          </a:xfrm>
          <a:prstGeom prst="rect">
            <a:avLst/>
          </a:prstGeom>
          <a:noFill/>
          <a:ln/>
        </p:spPr>
        <p:txBody>
          <a:bodyPr wrap="square" lIns="0" tIns="0" rIns="0" bIns="0" rtlCol="0" anchor="ctr"/>
          <a:lstStyle/>
          <a:p>
            <a:pPr algn="ctr" indent="0" marL="0">
              <a:buNone/>
            </a:pPr>
            <a:r>
              <a:rPr lang="en-US" sz="750" b="1" dirty="0">
                <a:solidFill>
                  <a:srgbClr val="0B2218"/>
                </a:solidFill>
                <a:latin typeface="Calibri" pitchFamily="34" charset="0"/>
                <a:ea typeface="Calibri" pitchFamily="34" charset="-122"/>
                <a:cs typeface="Calibri" pitchFamily="34" charset="-120"/>
              </a:rPr>
              <a:t>6</a:t>
            </a:r>
            <a:endParaRPr lang="en-US" sz="750" dirty="0"/>
          </a:p>
        </p:txBody>
      </p:sp>
      <p:sp>
        <p:nvSpPr>
          <p:cNvPr id="24" name="Text 22"/>
          <p:cNvSpPr/>
          <p:nvPr/>
        </p:nvSpPr>
        <p:spPr>
          <a:xfrm>
            <a:off x="640080" y="3154680"/>
            <a:ext cx="365760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This creates 4 bands: 0-150k, 150k-300k, 300k-450k, 450k-600k</a:t>
            </a:r>
            <a:endParaRPr lang="en-US" sz="850" dirty="0"/>
          </a:p>
        </p:txBody>
      </p:sp>
      <p:sp>
        <p:nvSpPr>
          <p:cNvPr id="25" name="Shape 23"/>
          <p:cNvSpPr/>
          <p:nvPr/>
        </p:nvSpPr>
        <p:spPr>
          <a:xfrm>
            <a:off x="365760" y="3438144"/>
            <a:ext cx="201168" cy="201168"/>
          </a:xfrm>
          <a:prstGeom prst="ellipse">
            <a:avLst/>
          </a:prstGeom>
          <a:solidFill>
            <a:srgbClr val="27AE60"/>
          </a:solidFill>
          <a:ln w="12700">
            <a:solidFill>
              <a:srgbClr val="27AE60"/>
            </a:solidFill>
            <a:prstDash val="solid"/>
          </a:ln>
        </p:spPr>
      </p:sp>
      <p:sp>
        <p:nvSpPr>
          <p:cNvPr id="26" name="Text 24"/>
          <p:cNvSpPr/>
          <p:nvPr/>
        </p:nvSpPr>
        <p:spPr>
          <a:xfrm>
            <a:off x="365760" y="3438144"/>
            <a:ext cx="201168" cy="201168"/>
          </a:xfrm>
          <a:prstGeom prst="rect">
            <a:avLst/>
          </a:prstGeom>
          <a:noFill/>
          <a:ln/>
        </p:spPr>
        <p:txBody>
          <a:bodyPr wrap="square" lIns="0" tIns="0" rIns="0" bIns="0" rtlCol="0" anchor="ctr"/>
          <a:lstStyle/>
          <a:p>
            <a:pPr algn="ctr" indent="0" marL="0">
              <a:buNone/>
            </a:pPr>
            <a:r>
              <a:rPr lang="en-US" sz="750" b="1" dirty="0">
                <a:solidFill>
                  <a:srgbClr val="0B2218"/>
                </a:solidFill>
                <a:latin typeface="Calibri" pitchFamily="34" charset="0"/>
                <a:ea typeface="Calibri" pitchFamily="34" charset="-122"/>
                <a:cs typeface="Calibri" pitchFamily="34" charset="-120"/>
              </a:rPr>
              <a:t>7</a:t>
            </a:r>
            <a:endParaRPr lang="en-US" sz="750" dirty="0"/>
          </a:p>
        </p:txBody>
      </p:sp>
      <p:sp>
        <p:nvSpPr>
          <p:cNvPr id="27" name="Text 25"/>
          <p:cNvSpPr/>
          <p:nvPr/>
        </p:nvSpPr>
        <p:spPr>
          <a:xfrm>
            <a:off x="640080" y="3438144"/>
            <a:ext cx="365760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Or drag the cutpoint lines manually on the histogram</a:t>
            </a:r>
            <a:endParaRPr lang="en-US" sz="850" dirty="0"/>
          </a:p>
        </p:txBody>
      </p:sp>
      <p:sp>
        <p:nvSpPr>
          <p:cNvPr id="28" name="Shape 26"/>
          <p:cNvSpPr/>
          <p:nvPr/>
        </p:nvSpPr>
        <p:spPr>
          <a:xfrm>
            <a:off x="365760" y="3721608"/>
            <a:ext cx="201168" cy="201168"/>
          </a:xfrm>
          <a:prstGeom prst="ellipse">
            <a:avLst/>
          </a:prstGeom>
          <a:solidFill>
            <a:srgbClr val="27AE60"/>
          </a:solidFill>
          <a:ln w="12700">
            <a:solidFill>
              <a:srgbClr val="27AE60"/>
            </a:solidFill>
            <a:prstDash val="solid"/>
          </a:ln>
        </p:spPr>
      </p:sp>
      <p:sp>
        <p:nvSpPr>
          <p:cNvPr id="29" name="Text 27"/>
          <p:cNvSpPr/>
          <p:nvPr/>
        </p:nvSpPr>
        <p:spPr>
          <a:xfrm>
            <a:off x="365760" y="3721608"/>
            <a:ext cx="201168" cy="201168"/>
          </a:xfrm>
          <a:prstGeom prst="rect">
            <a:avLst/>
          </a:prstGeom>
          <a:noFill/>
          <a:ln/>
        </p:spPr>
        <p:txBody>
          <a:bodyPr wrap="square" lIns="0" tIns="0" rIns="0" bIns="0" rtlCol="0" anchor="ctr"/>
          <a:lstStyle/>
          <a:p>
            <a:pPr algn="ctr" indent="0" marL="0">
              <a:buNone/>
            </a:pPr>
            <a:r>
              <a:rPr lang="en-US" sz="750" b="1" dirty="0">
                <a:solidFill>
                  <a:srgbClr val="0B2218"/>
                </a:solidFill>
                <a:latin typeface="Calibri" pitchFamily="34" charset="0"/>
                <a:ea typeface="Calibri" pitchFamily="34" charset="-122"/>
                <a:cs typeface="Calibri" pitchFamily="34" charset="-120"/>
              </a:rPr>
              <a:t>8</a:t>
            </a:r>
            <a:endParaRPr lang="en-US" sz="750" dirty="0"/>
          </a:p>
        </p:txBody>
      </p:sp>
      <p:sp>
        <p:nvSpPr>
          <p:cNvPr id="30" name="Text 28"/>
          <p:cNvSpPr/>
          <p:nvPr/>
        </p:nvSpPr>
        <p:spPr>
          <a:xfrm>
            <a:off x="640080" y="3721608"/>
            <a:ext cx="365760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Name the new variable: salary_band</a:t>
            </a:r>
            <a:endParaRPr lang="en-US" sz="850" dirty="0"/>
          </a:p>
        </p:txBody>
      </p:sp>
      <p:sp>
        <p:nvSpPr>
          <p:cNvPr id="31" name="Shape 29"/>
          <p:cNvSpPr/>
          <p:nvPr/>
        </p:nvSpPr>
        <p:spPr>
          <a:xfrm>
            <a:off x="365760" y="4005072"/>
            <a:ext cx="201168" cy="201168"/>
          </a:xfrm>
          <a:prstGeom prst="ellipse">
            <a:avLst/>
          </a:prstGeom>
          <a:solidFill>
            <a:srgbClr val="27AE60"/>
          </a:solidFill>
          <a:ln w="12700">
            <a:solidFill>
              <a:srgbClr val="27AE60"/>
            </a:solidFill>
            <a:prstDash val="solid"/>
          </a:ln>
        </p:spPr>
      </p:sp>
      <p:sp>
        <p:nvSpPr>
          <p:cNvPr id="32" name="Text 30"/>
          <p:cNvSpPr/>
          <p:nvPr/>
        </p:nvSpPr>
        <p:spPr>
          <a:xfrm>
            <a:off x="365760" y="4005072"/>
            <a:ext cx="201168" cy="201168"/>
          </a:xfrm>
          <a:prstGeom prst="rect">
            <a:avLst/>
          </a:prstGeom>
          <a:noFill/>
          <a:ln/>
        </p:spPr>
        <p:txBody>
          <a:bodyPr wrap="square" lIns="0" tIns="0" rIns="0" bIns="0" rtlCol="0" anchor="ctr"/>
          <a:lstStyle/>
          <a:p>
            <a:pPr algn="ctr" indent="0" marL="0">
              <a:buNone/>
            </a:pPr>
            <a:r>
              <a:rPr lang="en-US" sz="750" b="1" dirty="0">
                <a:solidFill>
                  <a:srgbClr val="0B2218"/>
                </a:solidFill>
                <a:latin typeface="Calibri" pitchFamily="34" charset="0"/>
                <a:ea typeface="Calibri" pitchFamily="34" charset="-122"/>
                <a:cs typeface="Calibri" pitchFamily="34" charset="-120"/>
              </a:rPr>
              <a:t>9</a:t>
            </a:r>
            <a:endParaRPr lang="en-US" sz="750" dirty="0"/>
          </a:p>
        </p:txBody>
      </p:sp>
      <p:sp>
        <p:nvSpPr>
          <p:cNvPr id="33" name="Text 31"/>
          <p:cNvSpPr/>
          <p:nvPr/>
        </p:nvSpPr>
        <p:spPr>
          <a:xfrm>
            <a:off x="640080" y="4005072"/>
            <a:ext cx="365760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Click Make Labels to auto-generate value labels</a:t>
            </a:r>
            <a:endParaRPr lang="en-US" sz="850" dirty="0"/>
          </a:p>
        </p:txBody>
      </p:sp>
      <p:sp>
        <p:nvSpPr>
          <p:cNvPr id="34" name="Shape 32"/>
          <p:cNvSpPr/>
          <p:nvPr/>
        </p:nvSpPr>
        <p:spPr>
          <a:xfrm>
            <a:off x="365760" y="4288536"/>
            <a:ext cx="201168" cy="201168"/>
          </a:xfrm>
          <a:prstGeom prst="ellipse">
            <a:avLst/>
          </a:prstGeom>
          <a:solidFill>
            <a:srgbClr val="27AE60"/>
          </a:solidFill>
          <a:ln w="12700">
            <a:solidFill>
              <a:srgbClr val="27AE60"/>
            </a:solidFill>
            <a:prstDash val="solid"/>
          </a:ln>
        </p:spPr>
      </p:sp>
      <p:sp>
        <p:nvSpPr>
          <p:cNvPr id="35" name="Text 33"/>
          <p:cNvSpPr/>
          <p:nvPr/>
        </p:nvSpPr>
        <p:spPr>
          <a:xfrm>
            <a:off x="365760" y="4288536"/>
            <a:ext cx="201168" cy="201168"/>
          </a:xfrm>
          <a:prstGeom prst="rect">
            <a:avLst/>
          </a:prstGeom>
          <a:noFill/>
          <a:ln/>
        </p:spPr>
        <p:txBody>
          <a:bodyPr wrap="square" lIns="0" tIns="0" rIns="0" bIns="0" rtlCol="0" anchor="ctr"/>
          <a:lstStyle/>
          <a:p>
            <a:pPr algn="ctr" indent="0" marL="0">
              <a:buNone/>
            </a:pPr>
            <a:r>
              <a:rPr lang="en-US" sz="750" b="1" dirty="0">
                <a:solidFill>
                  <a:srgbClr val="0B2218"/>
                </a:solidFill>
                <a:latin typeface="Calibri" pitchFamily="34" charset="0"/>
                <a:ea typeface="Calibri" pitchFamily="34" charset="-122"/>
                <a:cs typeface="Calibri" pitchFamily="34" charset="-120"/>
              </a:rPr>
              <a:t>10</a:t>
            </a:r>
            <a:endParaRPr lang="en-US" sz="750" dirty="0"/>
          </a:p>
        </p:txBody>
      </p:sp>
      <p:sp>
        <p:nvSpPr>
          <p:cNvPr id="36" name="Text 34"/>
          <p:cNvSpPr/>
          <p:nvPr/>
        </p:nvSpPr>
        <p:spPr>
          <a:xfrm>
            <a:off x="640080" y="4288536"/>
            <a:ext cx="365760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Click OK to create the new variable</a:t>
            </a:r>
            <a:endParaRPr lang="en-US" sz="850" dirty="0"/>
          </a:p>
        </p:txBody>
      </p:sp>
      <p:sp>
        <p:nvSpPr>
          <p:cNvPr id="37" name="Shape 35"/>
          <p:cNvSpPr/>
          <p:nvPr/>
        </p:nvSpPr>
        <p:spPr>
          <a:xfrm>
            <a:off x="365760" y="4572000"/>
            <a:ext cx="201168" cy="201168"/>
          </a:xfrm>
          <a:prstGeom prst="ellipse">
            <a:avLst/>
          </a:prstGeom>
          <a:solidFill>
            <a:srgbClr val="27AE60"/>
          </a:solidFill>
          <a:ln w="12700">
            <a:solidFill>
              <a:srgbClr val="27AE60"/>
            </a:solidFill>
            <a:prstDash val="solid"/>
          </a:ln>
        </p:spPr>
      </p:sp>
      <p:sp>
        <p:nvSpPr>
          <p:cNvPr id="38" name="Text 36"/>
          <p:cNvSpPr/>
          <p:nvPr/>
        </p:nvSpPr>
        <p:spPr>
          <a:xfrm>
            <a:off x="365760" y="4572000"/>
            <a:ext cx="201168" cy="201168"/>
          </a:xfrm>
          <a:prstGeom prst="rect">
            <a:avLst/>
          </a:prstGeom>
          <a:noFill/>
          <a:ln/>
        </p:spPr>
        <p:txBody>
          <a:bodyPr wrap="square" lIns="0" tIns="0" rIns="0" bIns="0" rtlCol="0" anchor="ctr"/>
          <a:lstStyle/>
          <a:p>
            <a:pPr algn="ctr" indent="0" marL="0">
              <a:buNone/>
            </a:pPr>
            <a:r>
              <a:rPr lang="en-US" sz="750" b="1" dirty="0">
                <a:solidFill>
                  <a:srgbClr val="0B2218"/>
                </a:solidFill>
                <a:latin typeface="Calibri" pitchFamily="34" charset="0"/>
                <a:ea typeface="Calibri" pitchFamily="34" charset="-122"/>
                <a:cs typeface="Calibri" pitchFamily="34" charset="-120"/>
              </a:rPr>
              <a:t>11</a:t>
            </a:r>
            <a:endParaRPr lang="en-US" sz="750" dirty="0"/>
          </a:p>
        </p:txBody>
      </p:sp>
      <p:sp>
        <p:nvSpPr>
          <p:cNvPr id="39" name="Text 37"/>
          <p:cNvSpPr/>
          <p:nvPr/>
        </p:nvSpPr>
        <p:spPr>
          <a:xfrm>
            <a:off x="640080" y="4572000"/>
            <a:ext cx="365760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Go to Variable View: set Measure = Ordinal for salary_band</a:t>
            </a:r>
            <a:endParaRPr lang="en-US" sz="850" dirty="0"/>
          </a:p>
        </p:txBody>
      </p:sp>
      <p:sp>
        <p:nvSpPr>
          <p:cNvPr id="40" name="Shape 38"/>
          <p:cNvSpPr/>
          <p:nvPr/>
        </p:nvSpPr>
        <p:spPr>
          <a:xfrm>
            <a:off x="4663440" y="1298448"/>
            <a:ext cx="4160520" cy="1664208"/>
          </a:xfrm>
          <a:prstGeom prst="roundRect">
            <a:avLst>
              <a:gd name="adj" fmla="val 5495"/>
            </a:avLst>
          </a:prstGeom>
          <a:solidFill>
            <a:srgbClr val="113322"/>
          </a:solidFill>
          <a:ln w="12700">
            <a:solidFill>
              <a:srgbClr val="D4A017"/>
            </a:solidFill>
            <a:prstDash val="solid"/>
          </a:ln>
        </p:spPr>
      </p:sp>
      <p:sp>
        <p:nvSpPr>
          <p:cNvPr id="41" name="Text 39"/>
          <p:cNvSpPr/>
          <p:nvPr/>
        </p:nvSpPr>
        <p:spPr>
          <a:xfrm>
            <a:off x="4773168" y="1389888"/>
            <a:ext cx="3913632" cy="256032"/>
          </a:xfrm>
          <a:prstGeom prst="rect">
            <a:avLst/>
          </a:prstGeom>
          <a:noFill/>
          <a:ln/>
        </p:spPr>
        <p:txBody>
          <a:bodyPr wrap="square" lIns="0" tIns="0" rIns="0" bIns="0" rtlCol="0" anchor="ctr"/>
          <a:lstStyle/>
          <a:p>
            <a:pPr indent="0" marL="0">
              <a:buNone/>
            </a:pPr>
            <a:r>
              <a:rPr lang="en-US" sz="1100" b="1" dirty="0">
                <a:solidFill>
                  <a:srgbClr val="D4A017"/>
                </a:solidFill>
                <a:latin typeface="Calibri" pitchFamily="34" charset="0"/>
                <a:ea typeface="Calibri" pitchFamily="34" charset="-122"/>
                <a:cs typeface="Calibri" pitchFamily="34" charset="-120"/>
              </a:rPr>
              <a:t>Visual Binning vs. Recode - When to Use Which</a:t>
            </a:r>
            <a:endParaRPr lang="en-US" sz="1100" dirty="0"/>
          </a:p>
        </p:txBody>
      </p:sp>
      <p:sp>
        <p:nvSpPr>
          <p:cNvPr id="42" name="Text 40"/>
          <p:cNvSpPr/>
          <p:nvPr/>
        </p:nvSpPr>
        <p:spPr>
          <a:xfrm>
            <a:off x="4773168" y="1700784"/>
            <a:ext cx="2011680" cy="201168"/>
          </a:xfrm>
          <a:prstGeom prst="rect">
            <a:avLst/>
          </a:prstGeom>
          <a:noFill/>
          <a:ln/>
        </p:spPr>
        <p:txBody>
          <a:bodyPr wrap="square" lIns="0" tIns="0" rIns="0" bIns="0" rtlCol="0" anchor="ctr"/>
          <a:lstStyle/>
          <a:p>
            <a:pPr indent="0" marL="0">
              <a:buNone/>
            </a:pPr>
            <a:r>
              <a:rPr lang="en-US" sz="900" b="1" dirty="0">
                <a:solidFill>
                  <a:srgbClr val="27AE60"/>
                </a:solidFill>
                <a:latin typeface="Calibri" pitchFamily="34" charset="0"/>
                <a:ea typeface="Calibri" pitchFamily="34" charset="-122"/>
                <a:cs typeface="Calibri" pitchFamily="34" charset="-120"/>
              </a:rPr>
              <a:t>Visual Binning:</a:t>
            </a:r>
            <a:endParaRPr lang="en-US" sz="900" dirty="0"/>
          </a:p>
        </p:txBody>
      </p:sp>
      <p:sp>
        <p:nvSpPr>
          <p:cNvPr id="43" name="Text 41"/>
          <p:cNvSpPr/>
          <p:nvPr/>
        </p:nvSpPr>
        <p:spPr>
          <a:xfrm>
            <a:off x="6839712" y="1700784"/>
            <a:ext cx="1874520" cy="201168"/>
          </a:xfrm>
          <a:prstGeom prst="rect">
            <a:avLst/>
          </a:prstGeom>
          <a:noFill/>
          <a:ln/>
        </p:spPr>
        <p:txBody>
          <a:bodyPr wrap="square" lIns="0" tIns="0" rIns="0" bIns="0" rtlCol="0" anchor="ctr"/>
          <a:lstStyle/>
          <a:p>
            <a:pPr indent="0" marL="0">
              <a:buNone/>
            </a:pPr>
            <a:r>
              <a:rPr lang="en-US" sz="900" b="1" dirty="0">
                <a:solidFill>
                  <a:srgbClr val="E67E22"/>
                </a:solidFill>
                <a:latin typeface="Calibri" pitchFamily="34" charset="0"/>
                <a:ea typeface="Calibri" pitchFamily="34" charset="-122"/>
                <a:cs typeface="Calibri" pitchFamily="34" charset="-120"/>
              </a:rPr>
              <a:t>Use Recode when:</a:t>
            </a:r>
            <a:endParaRPr lang="en-US" sz="900" dirty="0"/>
          </a:p>
        </p:txBody>
      </p:sp>
      <p:sp>
        <p:nvSpPr>
          <p:cNvPr id="44" name="Text 42"/>
          <p:cNvSpPr/>
          <p:nvPr/>
        </p:nvSpPr>
        <p:spPr>
          <a:xfrm>
            <a:off x="4773168" y="1938528"/>
            <a:ext cx="2011680" cy="256032"/>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 You want to see the distribution while deciding cut points</a:t>
            </a:r>
            <a:endParaRPr lang="en-US" sz="850" dirty="0"/>
          </a:p>
        </p:txBody>
      </p:sp>
      <p:sp>
        <p:nvSpPr>
          <p:cNvPr id="45" name="Text 43"/>
          <p:cNvSpPr/>
          <p:nvPr/>
        </p:nvSpPr>
        <p:spPr>
          <a:xfrm>
            <a:off x="6839712" y="1938528"/>
            <a:ext cx="1874520" cy="256032"/>
          </a:xfrm>
          <a:prstGeom prst="rect">
            <a:avLst/>
          </a:prstGeom>
          <a:noFill/>
          <a:ln/>
        </p:spPr>
        <p:txBody>
          <a:bodyPr wrap="square" lIns="0" tIns="0" rIns="0" bIns="0" rtlCol="0" anchor="ctr"/>
          <a:lstStyle/>
          <a:p>
            <a:pPr indent="0" marL="0">
              <a:buNone/>
            </a:pPr>
            <a:r>
              <a:rPr lang="en-US" sz="850" dirty="0">
                <a:solidFill>
                  <a:srgbClr val="F0C040"/>
                </a:solidFill>
                <a:latin typeface="Calibri" pitchFamily="34" charset="0"/>
                <a:ea typeface="Calibri" pitchFamily="34" charset="-122"/>
                <a:cs typeface="Calibri" pitchFamily="34" charset="-120"/>
              </a:rPr>
              <a:t>- You already know the exact codes to map</a:t>
            </a:r>
            <a:endParaRPr lang="en-US" sz="850" dirty="0"/>
          </a:p>
        </p:txBody>
      </p:sp>
      <p:sp>
        <p:nvSpPr>
          <p:cNvPr id="46" name="Text 44"/>
          <p:cNvSpPr/>
          <p:nvPr/>
        </p:nvSpPr>
        <p:spPr>
          <a:xfrm>
            <a:off x="4773168" y="2231136"/>
            <a:ext cx="2011680" cy="256032"/>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 Creating equal-width or equal-frequency bins automatically</a:t>
            </a:r>
            <a:endParaRPr lang="en-US" sz="850" dirty="0"/>
          </a:p>
        </p:txBody>
      </p:sp>
      <p:sp>
        <p:nvSpPr>
          <p:cNvPr id="47" name="Text 45"/>
          <p:cNvSpPr/>
          <p:nvPr/>
        </p:nvSpPr>
        <p:spPr>
          <a:xfrm>
            <a:off x="6839712" y="2231136"/>
            <a:ext cx="1874520" cy="256032"/>
          </a:xfrm>
          <a:prstGeom prst="rect">
            <a:avLst/>
          </a:prstGeom>
          <a:noFill/>
          <a:ln/>
        </p:spPr>
        <p:txBody>
          <a:bodyPr wrap="square" lIns="0" tIns="0" rIns="0" bIns="0" rtlCol="0" anchor="ctr"/>
          <a:lstStyle/>
          <a:p>
            <a:pPr indent="0" marL="0">
              <a:buNone/>
            </a:pPr>
            <a:r>
              <a:rPr lang="en-US" sz="850" dirty="0">
                <a:solidFill>
                  <a:srgbClr val="F0C040"/>
                </a:solidFill>
                <a:latin typeface="Calibri" pitchFamily="34" charset="0"/>
                <a:ea typeface="Calibri" pitchFamily="34" charset="-122"/>
                <a:cs typeface="Calibri" pitchFamily="34" charset="-120"/>
              </a:rPr>
              <a:t>- Recoding specific codes (1-&gt;5, 2-&gt;4 for reverse coding)</a:t>
            </a:r>
            <a:endParaRPr lang="en-US" sz="850" dirty="0"/>
          </a:p>
        </p:txBody>
      </p:sp>
      <p:sp>
        <p:nvSpPr>
          <p:cNvPr id="48" name="Text 46"/>
          <p:cNvSpPr/>
          <p:nvPr/>
        </p:nvSpPr>
        <p:spPr>
          <a:xfrm>
            <a:off x="4773168" y="2523744"/>
            <a:ext cx="2011680" cy="256032"/>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 Salary bands, age groups from survey data with unknown spread</a:t>
            </a:r>
            <a:endParaRPr lang="en-US" sz="850" dirty="0"/>
          </a:p>
        </p:txBody>
      </p:sp>
      <p:sp>
        <p:nvSpPr>
          <p:cNvPr id="49" name="Text 47"/>
          <p:cNvSpPr/>
          <p:nvPr/>
        </p:nvSpPr>
        <p:spPr>
          <a:xfrm>
            <a:off x="6839712" y="2523744"/>
            <a:ext cx="1874520" cy="256032"/>
          </a:xfrm>
          <a:prstGeom prst="rect">
            <a:avLst/>
          </a:prstGeom>
          <a:noFill/>
          <a:ln/>
        </p:spPr>
        <p:txBody>
          <a:bodyPr wrap="square" lIns="0" tIns="0" rIns="0" bIns="0" rtlCol="0" anchor="ctr"/>
          <a:lstStyle/>
          <a:p>
            <a:pPr indent="0" marL="0">
              <a:buNone/>
            </a:pPr>
            <a:r>
              <a:rPr lang="en-US" sz="850" dirty="0">
                <a:solidFill>
                  <a:srgbClr val="F0C040"/>
                </a:solidFill>
                <a:latin typeface="Calibri" pitchFamily="34" charset="0"/>
                <a:ea typeface="Calibri" pitchFamily="34" charset="-122"/>
                <a:cs typeface="Calibri" pitchFamily="34" charset="-120"/>
              </a:rPr>
              <a:t>- Collapsing ordinal categories (1-2-&gt;1, 3-4-&gt;2, 5-6-&gt;3)</a:t>
            </a:r>
            <a:endParaRPr lang="en-US" sz="850" dirty="0"/>
          </a:p>
        </p:txBody>
      </p:sp>
      <p:sp>
        <p:nvSpPr>
          <p:cNvPr id="50" name="Shape 48"/>
          <p:cNvSpPr/>
          <p:nvPr/>
        </p:nvSpPr>
        <p:spPr>
          <a:xfrm>
            <a:off x="4663440" y="3054096"/>
            <a:ext cx="4160520" cy="1810512"/>
          </a:xfrm>
          <a:prstGeom prst="roundRect">
            <a:avLst>
              <a:gd name="adj" fmla="val 5051"/>
            </a:avLst>
          </a:prstGeom>
          <a:solidFill>
            <a:srgbClr val="0A1A12"/>
          </a:solidFill>
          <a:ln w="12700">
            <a:solidFill>
              <a:srgbClr val="27AE60"/>
            </a:solidFill>
            <a:prstDash val="solid"/>
          </a:ln>
          <a:effectLst>
            <a:outerShdw sx="100000" sy="100000" kx="0" ky="0" algn="bl" rotWithShape="0" blurRad="76200" dist="25400" dir="2700000">
              <a:srgbClr val="000000">
                <a:alpha val="12000"/>
              </a:srgbClr>
            </a:outerShdw>
          </a:effectLst>
        </p:spPr>
      </p:sp>
      <p:sp>
        <p:nvSpPr>
          <p:cNvPr id="51" name="Text 49"/>
          <p:cNvSpPr/>
          <p:nvPr/>
        </p:nvSpPr>
        <p:spPr>
          <a:xfrm>
            <a:off x="4791456" y="3145536"/>
            <a:ext cx="3977640" cy="256032"/>
          </a:xfrm>
          <a:prstGeom prst="rect">
            <a:avLst/>
          </a:prstGeom>
          <a:noFill/>
          <a:ln/>
        </p:spPr>
        <p:txBody>
          <a:bodyPr wrap="square" lIns="0" tIns="0" rIns="0" bIns="0" rtlCol="0" anchor="ctr"/>
          <a:lstStyle/>
          <a:p>
            <a:pPr indent="0" marL="0">
              <a:buNone/>
            </a:pPr>
            <a:r>
              <a:rPr lang="en-US" sz="950" b="1" dirty="0">
                <a:solidFill>
                  <a:srgbClr val="F0C040"/>
                </a:solidFill>
                <a:latin typeface="Calibri" pitchFamily="34" charset="0"/>
                <a:ea typeface="Calibri" pitchFamily="34" charset="-122"/>
                <a:cs typeface="Calibri" pitchFamily="34" charset="-120"/>
              </a:rPr>
              <a:t>Equivalent Syntax for Salary Bands:</a:t>
            </a:r>
            <a:endParaRPr lang="en-US" sz="950" dirty="0"/>
          </a:p>
        </p:txBody>
      </p:sp>
      <p:sp>
        <p:nvSpPr>
          <p:cNvPr id="52" name="Text 50"/>
          <p:cNvSpPr/>
          <p:nvPr/>
        </p:nvSpPr>
        <p:spPr>
          <a:xfrm>
            <a:off x="4791456" y="3456432"/>
            <a:ext cx="3959352"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Visual Binning generates this syntax.</a:t>
            </a:r>
            <a:endParaRPr lang="en-US" sz="850" dirty="0"/>
          </a:p>
        </p:txBody>
      </p:sp>
      <p:sp>
        <p:nvSpPr>
          <p:cNvPr id="53" name="Text 51"/>
          <p:cNvSpPr/>
          <p:nvPr/>
        </p:nvSpPr>
        <p:spPr>
          <a:xfrm>
            <a:off x="4791456" y="3639312"/>
            <a:ext cx="3959352"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RECODE monthly_salary_ngn</a:t>
            </a:r>
            <a:endParaRPr lang="en-US" sz="850" dirty="0"/>
          </a:p>
        </p:txBody>
      </p:sp>
      <p:sp>
        <p:nvSpPr>
          <p:cNvPr id="54" name="Text 52"/>
          <p:cNvSpPr/>
          <p:nvPr/>
        </p:nvSpPr>
        <p:spPr>
          <a:xfrm>
            <a:off x="4791456" y="3822192"/>
            <a:ext cx="3959352" cy="182880"/>
          </a:xfrm>
          <a:prstGeom prst="rect">
            <a:avLst/>
          </a:prstGeom>
          <a:noFill/>
          <a:ln/>
        </p:spPr>
        <p:txBody>
          <a:bodyPr wrap="square" lIns="0" tIns="0" rIns="0" bIns="0" rtlCol="0" anchor="ctr"/>
          <a:lstStyle/>
          <a:p>
            <a:pPr indent="0" marL="0">
              <a:buNone/>
            </a:pPr>
            <a:r>
              <a:rPr lang="en-US" sz="850" dirty="0">
                <a:solidFill>
                  <a:srgbClr val="CE9178"/>
                </a:solidFill>
                <a:latin typeface="Courier New" pitchFamily="34" charset="0"/>
                <a:ea typeface="Courier New" pitchFamily="34" charset="-122"/>
                <a:cs typeface="Courier New" pitchFamily="34" charset="-120"/>
              </a:rPr>
              <a:t>  (Lowest THRU 150000=1)</a:t>
            </a:r>
            <a:endParaRPr lang="en-US" sz="850" dirty="0"/>
          </a:p>
        </p:txBody>
      </p:sp>
      <p:sp>
        <p:nvSpPr>
          <p:cNvPr id="55" name="Text 53"/>
          <p:cNvSpPr/>
          <p:nvPr/>
        </p:nvSpPr>
        <p:spPr>
          <a:xfrm>
            <a:off x="4791456" y="4005072"/>
            <a:ext cx="3959352" cy="182880"/>
          </a:xfrm>
          <a:prstGeom prst="rect">
            <a:avLst/>
          </a:prstGeom>
          <a:noFill/>
          <a:ln/>
        </p:spPr>
        <p:txBody>
          <a:bodyPr wrap="square" lIns="0" tIns="0" rIns="0" bIns="0" rtlCol="0" anchor="ctr"/>
          <a:lstStyle/>
          <a:p>
            <a:pPr indent="0" marL="0">
              <a:buNone/>
            </a:pPr>
            <a:r>
              <a:rPr lang="en-US" sz="850" dirty="0">
                <a:solidFill>
                  <a:srgbClr val="CE9178"/>
                </a:solidFill>
                <a:latin typeface="Courier New" pitchFamily="34" charset="0"/>
                <a:ea typeface="Courier New" pitchFamily="34" charset="-122"/>
                <a:cs typeface="Courier New" pitchFamily="34" charset="-120"/>
              </a:rPr>
              <a:t>  (150000 THRU 300000=2)</a:t>
            </a:r>
            <a:endParaRPr lang="en-US" sz="850" dirty="0"/>
          </a:p>
        </p:txBody>
      </p:sp>
      <p:sp>
        <p:nvSpPr>
          <p:cNvPr id="56" name="Text 54"/>
          <p:cNvSpPr/>
          <p:nvPr/>
        </p:nvSpPr>
        <p:spPr>
          <a:xfrm>
            <a:off x="4791456" y="4187952"/>
            <a:ext cx="3959352" cy="182880"/>
          </a:xfrm>
          <a:prstGeom prst="rect">
            <a:avLst/>
          </a:prstGeom>
          <a:noFill/>
          <a:ln/>
        </p:spPr>
        <p:txBody>
          <a:bodyPr wrap="square" lIns="0" tIns="0" rIns="0" bIns="0" rtlCol="0" anchor="ctr"/>
          <a:lstStyle/>
          <a:p>
            <a:pPr indent="0" marL="0">
              <a:buNone/>
            </a:pPr>
            <a:r>
              <a:rPr lang="en-US" sz="850" dirty="0">
                <a:solidFill>
                  <a:srgbClr val="CE9178"/>
                </a:solidFill>
                <a:latin typeface="Courier New" pitchFamily="34" charset="0"/>
                <a:ea typeface="Courier New" pitchFamily="34" charset="-122"/>
                <a:cs typeface="Courier New" pitchFamily="34" charset="-120"/>
              </a:rPr>
              <a:t>  (300000 THRU 450000=3)</a:t>
            </a:r>
            <a:endParaRPr lang="en-US" sz="850" dirty="0"/>
          </a:p>
        </p:txBody>
      </p:sp>
      <p:sp>
        <p:nvSpPr>
          <p:cNvPr id="57" name="Text 55"/>
          <p:cNvSpPr/>
          <p:nvPr/>
        </p:nvSpPr>
        <p:spPr>
          <a:xfrm>
            <a:off x="4791456" y="4370832"/>
            <a:ext cx="3959352" cy="182880"/>
          </a:xfrm>
          <a:prstGeom prst="rect">
            <a:avLst/>
          </a:prstGeom>
          <a:noFill/>
          <a:ln/>
        </p:spPr>
        <p:txBody>
          <a:bodyPr wrap="square" lIns="0" tIns="0" rIns="0" bIns="0" rtlCol="0" anchor="ctr"/>
          <a:lstStyle/>
          <a:p>
            <a:pPr indent="0" marL="0">
              <a:buNone/>
            </a:pPr>
            <a:r>
              <a:rPr lang="en-US" sz="850" dirty="0">
                <a:solidFill>
                  <a:srgbClr val="CE9178"/>
                </a:solidFill>
                <a:latin typeface="Courier New" pitchFamily="34" charset="0"/>
                <a:ea typeface="Courier New" pitchFamily="34" charset="-122"/>
                <a:cs typeface="Courier New" pitchFamily="34" charset="-120"/>
              </a:rPr>
              <a:t>  (450000 THRU Highest=4)</a:t>
            </a:r>
            <a:endParaRPr lang="en-US" sz="850" dirty="0"/>
          </a:p>
        </p:txBody>
      </p:sp>
      <p:sp>
        <p:nvSpPr>
          <p:cNvPr id="58" name="Text 56"/>
          <p:cNvSpPr/>
          <p:nvPr/>
        </p:nvSpPr>
        <p:spPr>
          <a:xfrm>
            <a:off x="4791456" y="4553712"/>
            <a:ext cx="3959352"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  INTO salary_band.</a:t>
            </a:r>
            <a:endParaRPr lang="en-US" sz="850" dirty="0"/>
          </a:p>
        </p:txBody>
      </p:sp>
      <p:sp>
        <p:nvSpPr>
          <p:cNvPr id="59" name="Text 57"/>
          <p:cNvSpPr/>
          <p:nvPr/>
        </p:nvSpPr>
        <p:spPr>
          <a:xfrm>
            <a:off x="4791456" y="4736592"/>
            <a:ext cx="3959352" cy="182880"/>
          </a:xfrm>
          <a:prstGeom prst="rect">
            <a:avLst/>
          </a:prstGeom>
          <a:noFill/>
          <a:ln/>
        </p:spPr>
        <p:txBody>
          <a:bodyPr wrap="square" lIns="0" tIns="0" rIns="0" bIns="0" rtlCol="0" anchor="ctr"/>
          <a:lstStyle/>
          <a:p>
            <a:pPr indent="0" marL="0">
              <a:buNone/>
            </a:pPr>
            <a:r>
              <a:rPr lang="en-US" sz="850" dirty="0">
                <a:solidFill>
                  <a:srgbClr val="569CD6"/>
                </a:solidFill>
                <a:latin typeface="Courier New" pitchFamily="34" charset="0"/>
                <a:ea typeface="Courier New" pitchFamily="34" charset="-122"/>
                <a:cs typeface="Courier New" pitchFamily="34" charset="-120"/>
              </a:rPr>
              <a:t>EXECUTE.</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6B3C">
              <a:alpha val="18000"/>
            </a:srgbClr>
          </a:solidFill>
          <a:ln w="12700">
            <a:solidFill>
              <a:srgbClr val="1A6B3C"/>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2  |  SECTION 05</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Restructuring Data</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D4BC"/>
                </a:solidFill>
                <a:latin typeface="Calibri" pitchFamily="34" charset="0"/>
                <a:ea typeface="Calibri" pitchFamily="34" charset="-122"/>
                <a:cs typeface="Calibri" pitchFamily="34" charset="-120"/>
              </a:rPr>
              <a:t>Wide format vs. long format - reshaping datasets for different analytical requirements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A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E7C7B"/>
          </a:solidFill>
          <a:ln w="12700">
            <a:solidFill>
              <a:srgbClr val="0E7C7B"/>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Data Structure: Wide Format vs. Long (Tall) Format</a:t>
            </a:r>
            <a:endParaRPr lang="en-US" sz="2200" dirty="0"/>
          </a:p>
        </p:txBody>
      </p:sp>
      <p:sp>
        <p:nvSpPr>
          <p:cNvPr id="4" name="Shape 2"/>
          <p:cNvSpPr/>
          <p:nvPr/>
        </p:nvSpPr>
        <p:spPr>
          <a:xfrm>
            <a:off x="256032" y="1024128"/>
            <a:ext cx="4160520" cy="2395728"/>
          </a:xfrm>
          <a:prstGeom prst="roundRect">
            <a:avLst>
              <a:gd name="adj" fmla="val 3435"/>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97280"/>
            <a:ext cx="4005072" cy="329184"/>
          </a:xfrm>
          <a:prstGeom prst="roundRect">
            <a:avLst>
              <a:gd name="adj" fmla="val 16667"/>
            </a:avLst>
          </a:prstGeom>
          <a:solidFill>
            <a:srgbClr val="0B2218"/>
          </a:solidFill>
          <a:ln w="12700">
            <a:solidFill>
              <a:srgbClr val="0B2218"/>
            </a:solidFill>
            <a:prstDash val="solid"/>
          </a:ln>
        </p:spPr>
      </p:sp>
      <p:sp>
        <p:nvSpPr>
          <p:cNvPr id="6" name="Text 4"/>
          <p:cNvSpPr/>
          <p:nvPr/>
        </p:nvSpPr>
        <p:spPr>
          <a:xfrm>
            <a:off x="329184" y="1097280"/>
            <a:ext cx="4005072" cy="329184"/>
          </a:xfrm>
          <a:prstGeom prst="rect">
            <a:avLst/>
          </a:prstGeom>
          <a:noFill/>
          <a:ln/>
        </p:spPr>
        <p:txBody>
          <a:bodyPr wrap="square" lIns="0" tIns="0" rIns="0" bIns="0" rtlCol="0" anchor="ctr"/>
          <a:lstStyle/>
          <a:p>
            <a:pPr algn="ctr" indent="0" marL="0">
              <a:buNone/>
            </a:pPr>
            <a:r>
              <a:rPr lang="en-US" sz="1100" b="1" dirty="0">
                <a:solidFill>
                  <a:srgbClr val="F0C040"/>
                </a:solidFill>
                <a:latin typeface="Calibri" pitchFamily="34" charset="0"/>
                <a:ea typeface="Calibri" pitchFamily="34" charset="-122"/>
                <a:cs typeface="Calibri" pitchFamily="34" charset="-120"/>
              </a:rPr>
              <a:t>WIDE FORMAT  -  One row per subject</a:t>
            </a:r>
            <a:endParaRPr lang="en-US" sz="1100" dirty="0"/>
          </a:p>
        </p:txBody>
      </p:sp>
      <p:sp>
        <p:nvSpPr>
          <p:cNvPr id="7" name="Shape 5"/>
          <p:cNvSpPr/>
          <p:nvPr/>
        </p:nvSpPr>
        <p:spPr>
          <a:xfrm>
            <a:off x="347472" y="1481328"/>
            <a:ext cx="749808" cy="256032"/>
          </a:xfrm>
          <a:prstGeom prst="rect">
            <a:avLst/>
          </a:prstGeom>
          <a:solidFill>
            <a:srgbClr val="0B2218"/>
          </a:solidFill>
          <a:ln w="12700">
            <a:solidFill>
              <a:srgbClr val="0B2218"/>
            </a:solidFill>
            <a:prstDash val="solid"/>
          </a:ln>
        </p:spPr>
      </p:sp>
      <p:sp>
        <p:nvSpPr>
          <p:cNvPr id="8" name="Text 6"/>
          <p:cNvSpPr/>
          <p:nvPr/>
        </p:nvSpPr>
        <p:spPr>
          <a:xfrm>
            <a:off x="347472" y="1481328"/>
            <a:ext cx="749808" cy="256032"/>
          </a:xfrm>
          <a:prstGeom prst="rect">
            <a:avLst/>
          </a:prstGeom>
          <a:noFill/>
          <a:ln/>
        </p:spPr>
        <p:txBody>
          <a:bodyPr wrap="square" lIns="0" tIns="0" rIns="0" bIns="0" rtlCol="0" anchor="ctr"/>
          <a:lstStyle/>
          <a:p>
            <a:pPr algn="ctr" indent="0" marL="0">
              <a:buNone/>
            </a:pPr>
            <a:r>
              <a:rPr lang="en-US" sz="750" b="1" dirty="0">
                <a:solidFill>
                  <a:srgbClr val="F0C040"/>
                </a:solidFill>
                <a:latin typeface="Calibri" pitchFamily="34" charset="0"/>
                <a:ea typeface="Calibri" pitchFamily="34" charset="-122"/>
                <a:cs typeface="Calibri" pitchFamily="34" charset="-120"/>
              </a:rPr>
              <a:t>emp_id</a:t>
            </a:r>
            <a:endParaRPr lang="en-US" sz="750" dirty="0"/>
          </a:p>
        </p:txBody>
      </p:sp>
      <p:sp>
        <p:nvSpPr>
          <p:cNvPr id="9" name="Shape 7"/>
          <p:cNvSpPr/>
          <p:nvPr/>
        </p:nvSpPr>
        <p:spPr>
          <a:xfrm>
            <a:off x="1133856" y="1481328"/>
            <a:ext cx="640080" cy="256032"/>
          </a:xfrm>
          <a:prstGeom prst="rect">
            <a:avLst/>
          </a:prstGeom>
          <a:solidFill>
            <a:srgbClr val="0B2218"/>
          </a:solidFill>
          <a:ln w="12700">
            <a:solidFill>
              <a:srgbClr val="0B2218"/>
            </a:solidFill>
            <a:prstDash val="solid"/>
          </a:ln>
        </p:spPr>
      </p:sp>
      <p:sp>
        <p:nvSpPr>
          <p:cNvPr id="10" name="Text 8"/>
          <p:cNvSpPr/>
          <p:nvPr/>
        </p:nvSpPr>
        <p:spPr>
          <a:xfrm>
            <a:off x="1133856" y="1481328"/>
            <a:ext cx="640080" cy="256032"/>
          </a:xfrm>
          <a:prstGeom prst="rect">
            <a:avLst/>
          </a:prstGeom>
          <a:noFill/>
          <a:ln/>
        </p:spPr>
        <p:txBody>
          <a:bodyPr wrap="square" lIns="0" tIns="0" rIns="0" bIns="0" rtlCol="0" anchor="ctr"/>
          <a:lstStyle/>
          <a:p>
            <a:pPr algn="ctr" indent="0" marL="0">
              <a:buNone/>
            </a:pPr>
            <a:r>
              <a:rPr lang="en-US" sz="750" b="1" dirty="0">
                <a:solidFill>
                  <a:srgbClr val="F0C040"/>
                </a:solidFill>
                <a:latin typeface="Calibri" pitchFamily="34" charset="0"/>
                <a:ea typeface="Calibri" pitchFamily="34" charset="-122"/>
                <a:cs typeface="Calibri" pitchFamily="34" charset="-120"/>
              </a:rPr>
              <a:t>score_Jan</a:t>
            </a:r>
            <a:endParaRPr lang="en-US" sz="750" dirty="0"/>
          </a:p>
        </p:txBody>
      </p:sp>
      <p:sp>
        <p:nvSpPr>
          <p:cNvPr id="11" name="Shape 9"/>
          <p:cNvSpPr/>
          <p:nvPr/>
        </p:nvSpPr>
        <p:spPr>
          <a:xfrm>
            <a:off x="1810512" y="1481328"/>
            <a:ext cx="621792" cy="256032"/>
          </a:xfrm>
          <a:prstGeom prst="rect">
            <a:avLst/>
          </a:prstGeom>
          <a:solidFill>
            <a:srgbClr val="0B2218"/>
          </a:solidFill>
          <a:ln w="12700">
            <a:solidFill>
              <a:srgbClr val="0B2218"/>
            </a:solidFill>
            <a:prstDash val="solid"/>
          </a:ln>
        </p:spPr>
      </p:sp>
      <p:sp>
        <p:nvSpPr>
          <p:cNvPr id="12" name="Text 10"/>
          <p:cNvSpPr/>
          <p:nvPr/>
        </p:nvSpPr>
        <p:spPr>
          <a:xfrm>
            <a:off x="1810512" y="1481328"/>
            <a:ext cx="621792" cy="256032"/>
          </a:xfrm>
          <a:prstGeom prst="rect">
            <a:avLst/>
          </a:prstGeom>
          <a:noFill/>
          <a:ln/>
        </p:spPr>
        <p:txBody>
          <a:bodyPr wrap="square" lIns="0" tIns="0" rIns="0" bIns="0" rtlCol="0" anchor="ctr"/>
          <a:lstStyle/>
          <a:p>
            <a:pPr algn="ctr" indent="0" marL="0">
              <a:buNone/>
            </a:pPr>
            <a:r>
              <a:rPr lang="en-US" sz="750" b="1" dirty="0">
                <a:solidFill>
                  <a:srgbClr val="F0C040"/>
                </a:solidFill>
                <a:latin typeface="Calibri" pitchFamily="34" charset="0"/>
                <a:ea typeface="Calibri" pitchFamily="34" charset="-122"/>
                <a:cs typeface="Calibri" pitchFamily="34" charset="-120"/>
              </a:rPr>
              <a:t>score_Apr</a:t>
            </a:r>
            <a:endParaRPr lang="en-US" sz="750" dirty="0"/>
          </a:p>
        </p:txBody>
      </p:sp>
      <p:sp>
        <p:nvSpPr>
          <p:cNvPr id="13" name="Shape 11"/>
          <p:cNvSpPr/>
          <p:nvPr/>
        </p:nvSpPr>
        <p:spPr>
          <a:xfrm>
            <a:off x="2468880" y="1481328"/>
            <a:ext cx="621792" cy="256032"/>
          </a:xfrm>
          <a:prstGeom prst="rect">
            <a:avLst/>
          </a:prstGeom>
          <a:solidFill>
            <a:srgbClr val="0B2218"/>
          </a:solidFill>
          <a:ln w="12700">
            <a:solidFill>
              <a:srgbClr val="0B2218"/>
            </a:solidFill>
            <a:prstDash val="solid"/>
          </a:ln>
        </p:spPr>
      </p:sp>
      <p:sp>
        <p:nvSpPr>
          <p:cNvPr id="14" name="Text 12"/>
          <p:cNvSpPr/>
          <p:nvPr/>
        </p:nvSpPr>
        <p:spPr>
          <a:xfrm>
            <a:off x="2468880" y="1481328"/>
            <a:ext cx="621792" cy="256032"/>
          </a:xfrm>
          <a:prstGeom prst="rect">
            <a:avLst/>
          </a:prstGeom>
          <a:noFill/>
          <a:ln/>
        </p:spPr>
        <p:txBody>
          <a:bodyPr wrap="square" lIns="0" tIns="0" rIns="0" bIns="0" rtlCol="0" anchor="ctr"/>
          <a:lstStyle/>
          <a:p>
            <a:pPr algn="ctr" indent="0" marL="0">
              <a:buNone/>
            </a:pPr>
            <a:r>
              <a:rPr lang="en-US" sz="750" b="1" dirty="0">
                <a:solidFill>
                  <a:srgbClr val="F0C040"/>
                </a:solidFill>
                <a:latin typeface="Calibri" pitchFamily="34" charset="0"/>
                <a:ea typeface="Calibri" pitchFamily="34" charset="-122"/>
                <a:cs typeface="Calibri" pitchFamily="34" charset="-120"/>
              </a:rPr>
              <a:t>score_Jul</a:t>
            </a:r>
            <a:endParaRPr lang="en-US" sz="750" dirty="0"/>
          </a:p>
        </p:txBody>
      </p:sp>
      <p:sp>
        <p:nvSpPr>
          <p:cNvPr id="15" name="Shape 13"/>
          <p:cNvSpPr/>
          <p:nvPr/>
        </p:nvSpPr>
        <p:spPr>
          <a:xfrm>
            <a:off x="3145536" y="1481328"/>
            <a:ext cx="694944" cy="256032"/>
          </a:xfrm>
          <a:prstGeom prst="rect">
            <a:avLst/>
          </a:prstGeom>
          <a:solidFill>
            <a:srgbClr val="0B2218"/>
          </a:solidFill>
          <a:ln w="12700">
            <a:solidFill>
              <a:srgbClr val="0B2218"/>
            </a:solidFill>
            <a:prstDash val="solid"/>
          </a:ln>
        </p:spPr>
      </p:sp>
      <p:sp>
        <p:nvSpPr>
          <p:cNvPr id="16" name="Text 14"/>
          <p:cNvSpPr/>
          <p:nvPr/>
        </p:nvSpPr>
        <p:spPr>
          <a:xfrm>
            <a:off x="3145536" y="1481328"/>
            <a:ext cx="694944" cy="256032"/>
          </a:xfrm>
          <a:prstGeom prst="rect">
            <a:avLst/>
          </a:prstGeom>
          <a:noFill/>
          <a:ln/>
        </p:spPr>
        <p:txBody>
          <a:bodyPr wrap="square" lIns="0" tIns="0" rIns="0" bIns="0" rtlCol="0" anchor="ctr"/>
          <a:lstStyle/>
          <a:p>
            <a:pPr algn="ctr" indent="0" marL="0">
              <a:buNone/>
            </a:pPr>
            <a:r>
              <a:rPr lang="en-US" sz="750" b="1" dirty="0">
                <a:solidFill>
                  <a:srgbClr val="F0C040"/>
                </a:solidFill>
                <a:latin typeface="Calibri" pitchFamily="34" charset="0"/>
                <a:ea typeface="Calibri" pitchFamily="34" charset="-122"/>
                <a:cs typeface="Calibri" pitchFamily="34" charset="-120"/>
              </a:rPr>
              <a:t>score_Oct</a:t>
            </a:r>
            <a:endParaRPr lang="en-US" sz="750" dirty="0"/>
          </a:p>
        </p:txBody>
      </p:sp>
      <p:sp>
        <p:nvSpPr>
          <p:cNvPr id="17" name="Shape 15"/>
          <p:cNvSpPr/>
          <p:nvPr/>
        </p:nvSpPr>
        <p:spPr>
          <a:xfrm>
            <a:off x="347472" y="1755648"/>
            <a:ext cx="749808" cy="237744"/>
          </a:xfrm>
          <a:prstGeom prst="rect">
            <a:avLst/>
          </a:prstGeom>
          <a:solidFill>
            <a:srgbClr val="EAF4EE"/>
          </a:solidFill>
          <a:ln w="6350">
            <a:solidFill>
              <a:srgbClr val="C8E6D4"/>
            </a:solidFill>
            <a:prstDash val="solid"/>
          </a:ln>
        </p:spPr>
      </p:sp>
      <p:sp>
        <p:nvSpPr>
          <p:cNvPr id="18" name="Text 16"/>
          <p:cNvSpPr/>
          <p:nvPr/>
        </p:nvSpPr>
        <p:spPr>
          <a:xfrm>
            <a:off x="347472" y="1755648"/>
            <a:ext cx="749808" cy="237744"/>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E001</a:t>
            </a:r>
            <a:endParaRPr lang="en-US" sz="800" dirty="0"/>
          </a:p>
        </p:txBody>
      </p:sp>
      <p:sp>
        <p:nvSpPr>
          <p:cNvPr id="19" name="Shape 17"/>
          <p:cNvSpPr/>
          <p:nvPr/>
        </p:nvSpPr>
        <p:spPr>
          <a:xfrm>
            <a:off x="1133856" y="1755648"/>
            <a:ext cx="640080" cy="237744"/>
          </a:xfrm>
          <a:prstGeom prst="rect">
            <a:avLst/>
          </a:prstGeom>
          <a:solidFill>
            <a:srgbClr val="EAF4EE"/>
          </a:solidFill>
          <a:ln w="6350">
            <a:solidFill>
              <a:srgbClr val="C8E6D4"/>
            </a:solidFill>
            <a:prstDash val="solid"/>
          </a:ln>
        </p:spPr>
      </p:sp>
      <p:sp>
        <p:nvSpPr>
          <p:cNvPr id="20" name="Text 18"/>
          <p:cNvSpPr/>
          <p:nvPr/>
        </p:nvSpPr>
        <p:spPr>
          <a:xfrm>
            <a:off x="1133856" y="1755648"/>
            <a:ext cx="640080" cy="237744"/>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72</a:t>
            </a:r>
            <a:endParaRPr lang="en-US" sz="800" dirty="0"/>
          </a:p>
        </p:txBody>
      </p:sp>
      <p:sp>
        <p:nvSpPr>
          <p:cNvPr id="21" name="Shape 19"/>
          <p:cNvSpPr/>
          <p:nvPr/>
        </p:nvSpPr>
        <p:spPr>
          <a:xfrm>
            <a:off x="1810512" y="1755648"/>
            <a:ext cx="621792" cy="237744"/>
          </a:xfrm>
          <a:prstGeom prst="rect">
            <a:avLst/>
          </a:prstGeom>
          <a:solidFill>
            <a:srgbClr val="EAF4EE"/>
          </a:solidFill>
          <a:ln w="6350">
            <a:solidFill>
              <a:srgbClr val="C8E6D4"/>
            </a:solidFill>
            <a:prstDash val="solid"/>
          </a:ln>
        </p:spPr>
      </p:sp>
      <p:sp>
        <p:nvSpPr>
          <p:cNvPr id="22" name="Text 20"/>
          <p:cNvSpPr/>
          <p:nvPr/>
        </p:nvSpPr>
        <p:spPr>
          <a:xfrm>
            <a:off x="1810512" y="1755648"/>
            <a:ext cx="621792" cy="237744"/>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78</a:t>
            </a:r>
            <a:endParaRPr lang="en-US" sz="800" dirty="0"/>
          </a:p>
        </p:txBody>
      </p:sp>
      <p:sp>
        <p:nvSpPr>
          <p:cNvPr id="23" name="Shape 21"/>
          <p:cNvSpPr/>
          <p:nvPr/>
        </p:nvSpPr>
        <p:spPr>
          <a:xfrm>
            <a:off x="2468880" y="1755648"/>
            <a:ext cx="621792" cy="237744"/>
          </a:xfrm>
          <a:prstGeom prst="rect">
            <a:avLst/>
          </a:prstGeom>
          <a:solidFill>
            <a:srgbClr val="EAF4EE"/>
          </a:solidFill>
          <a:ln w="6350">
            <a:solidFill>
              <a:srgbClr val="C8E6D4"/>
            </a:solidFill>
            <a:prstDash val="solid"/>
          </a:ln>
        </p:spPr>
      </p:sp>
      <p:sp>
        <p:nvSpPr>
          <p:cNvPr id="24" name="Text 22"/>
          <p:cNvSpPr/>
          <p:nvPr/>
        </p:nvSpPr>
        <p:spPr>
          <a:xfrm>
            <a:off x="2468880" y="1755648"/>
            <a:ext cx="621792" cy="237744"/>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81</a:t>
            </a:r>
            <a:endParaRPr lang="en-US" sz="800" dirty="0"/>
          </a:p>
        </p:txBody>
      </p:sp>
      <p:sp>
        <p:nvSpPr>
          <p:cNvPr id="25" name="Shape 23"/>
          <p:cNvSpPr/>
          <p:nvPr/>
        </p:nvSpPr>
        <p:spPr>
          <a:xfrm>
            <a:off x="3145536" y="1755648"/>
            <a:ext cx="694944" cy="237744"/>
          </a:xfrm>
          <a:prstGeom prst="rect">
            <a:avLst/>
          </a:prstGeom>
          <a:solidFill>
            <a:srgbClr val="EAF4EE"/>
          </a:solidFill>
          <a:ln w="6350">
            <a:solidFill>
              <a:srgbClr val="C8E6D4"/>
            </a:solidFill>
            <a:prstDash val="solid"/>
          </a:ln>
        </p:spPr>
      </p:sp>
      <p:sp>
        <p:nvSpPr>
          <p:cNvPr id="26" name="Text 24"/>
          <p:cNvSpPr/>
          <p:nvPr/>
        </p:nvSpPr>
        <p:spPr>
          <a:xfrm>
            <a:off x="3145536" y="1755648"/>
            <a:ext cx="694944" cy="237744"/>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85</a:t>
            </a:r>
            <a:endParaRPr lang="en-US" sz="800" dirty="0"/>
          </a:p>
        </p:txBody>
      </p:sp>
      <p:sp>
        <p:nvSpPr>
          <p:cNvPr id="27" name="Shape 25"/>
          <p:cNvSpPr/>
          <p:nvPr/>
        </p:nvSpPr>
        <p:spPr>
          <a:xfrm>
            <a:off x="347472" y="2011680"/>
            <a:ext cx="749808" cy="237744"/>
          </a:xfrm>
          <a:prstGeom prst="rect">
            <a:avLst/>
          </a:prstGeom>
          <a:solidFill>
            <a:srgbClr val="FFFFFF"/>
          </a:solidFill>
          <a:ln w="6350">
            <a:solidFill>
              <a:srgbClr val="C8E6D4"/>
            </a:solidFill>
            <a:prstDash val="solid"/>
          </a:ln>
        </p:spPr>
      </p:sp>
      <p:sp>
        <p:nvSpPr>
          <p:cNvPr id="28" name="Text 26"/>
          <p:cNvSpPr/>
          <p:nvPr/>
        </p:nvSpPr>
        <p:spPr>
          <a:xfrm>
            <a:off x="347472" y="2011680"/>
            <a:ext cx="749808" cy="237744"/>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E002</a:t>
            </a:r>
            <a:endParaRPr lang="en-US" sz="800" dirty="0"/>
          </a:p>
        </p:txBody>
      </p:sp>
      <p:sp>
        <p:nvSpPr>
          <p:cNvPr id="29" name="Shape 27"/>
          <p:cNvSpPr/>
          <p:nvPr/>
        </p:nvSpPr>
        <p:spPr>
          <a:xfrm>
            <a:off x="1133856" y="2011680"/>
            <a:ext cx="640080" cy="237744"/>
          </a:xfrm>
          <a:prstGeom prst="rect">
            <a:avLst/>
          </a:prstGeom>
          <a:solidFill>
            <a:srgbClr val="FFFFFF"/>
          </a:solidFill>
          <a:ln w="6350">
            <a:solidFill>
              <a:srgbClr val="C8E6D4"/>
            </a:solidFill>
            <a:prstDash val="solid"/>
          </a:ln>
        </p:spPr>
      </p:sp>
      <p:sp>
        <p:nvSpPr>
          <p:cNvPr id="30" name="Text 28"/>
          <p:cNvSpPr/>
          <p:nvPr/>
        </p:nvSpPr>
        <p:spPr>
          <a:xfrm>
            <a:off x="1133856" y="2011680"/>
            <a:ext cx="640080" cy="237744"/>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65</a:t>
            </a:r>
            <a:endParaRPr lang="en-US" sz="800" dirty="0"/>
          </a:p>
        </p:txBody>
      </p:sp>
      <p:sp>
        <p:nvSpPr>
          <p:cNvPr id="31" name="Shape 29"/>
          <p:cNvSpPr/>
          <p:nvPr/>
        </p:nvSpPr>
        <p:spPr>
          <a:xfrm>
            <a:off x="1810512" y="2011680"/>
            <a:ext cx="621792" cy="237744"/>
          </a:xfrm>
          <a:prstGeom prst="rect">
            <a:avLst/>
          </a:prstGeom>
          <a:solidFill>
            <a:srgbClr val="FFFFFF"/>
          </a:solidFill>
          <a:ln w="6350">
            <a:solidFill>
              <a:srgbClr val="C8E6D4"/>
            </a:solidFill>
            <a:prstDash val="solid"/>
          </a:ln>
        </p:spPr>
      </p:sp>
      <p:sp>
        <p:nvSpPr>
          <p:cNvPr id="32" name="Text 30"/>
          <p:cNvSpPr/>
          <p:nvPr/>
        </p:nvSpPr>
        <p:spPr>
          <a:xfrm>
            <a:off x="1810512" y="2011680"/>
            <a:ext cx="621792" cy="237744"/>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68</a:t>
            </a:r>
            <a:endParaRPr lang="en-US" sz="800" dirty="0"/>
          </a:p>
        </p:txBody>
      </p:sp>
      <p:sp>
        <p:nvSpPr>
          <p:cNvPr id="33" name="Shape 31"/>
          <p:cNvSpPr/>
          <p:nvPr/>
        </p:nvSpPr>
        <p:spPr>
          <a:xfrm>
            <a:off x="2468880" y="2011680"/>
            <a:ext cx="621792" cy="237744"/>
          </a:xfrm>
          <a:prstGeom prst="rect">
            <a:avLst/>
          </a:prstGeom>
          <a:solidFill>
            <a:srgbClr val="FFFFFF"/>
          </a:solidFill>
          <a:ln w="6350">
            <a:solidFill>
              <a:srgbClr val="C8E6D4"/>
            </a:solidFill>
            <a:prstDash val="solid"/>
          </a:ln>
        </p:spPr>
      </p:sp>
      <p:sp>
        <p:nvSpPr>
          <p:cNvPr id="34" name="Text 32"/>
          <p:cNvSpPr/>
          <p:nvPr/>
        </p:nvSpPr>
        <p:spPr>
          <a:xfrm>
            <a:off x="2468880" y="2011680"/>
            <a:ext cx="621792" cy="237744"/>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70</a:t>
            </a:r>
            <a:endParaRPr lang="en-US" sz="800" dirty="0"/>
          </a:p>
        </p:txBody>
      </p:sp>
      <p:sp>
        <p:nvSpPr>
          <p:cNvPr id="35" name="Shape 33"/>
          <p:cNvSpPr/>
          <p:nvPr/>
        </p:nvSpPr>
        <p:spPr>
          <a:xfrm>
            <a:off x="3145536" y="2011680"/>
            <a:ext cx="694944" cy="237744"/>
          </a:xfrm>
          <a:prstGeom prst="rect">
            <a:avLst/>
          </a:prstGeom>
          <a:solidFill>
            <a:srgbClr val="FFFFFF"/>
          </a:solidFill>
          <a:ln w="6350">
            <a:solidFill>
              <a:srgbClr val="C8E6D4"/>
            </a:solidFill>
            <a:prstDash val="solid"/>
          </a:ln>
        </p:spPr>
      </p:sp>
      <p:sp>
        <p:nvSpPr>
          <p:cNvPr id="36" name="Text 34"/>
          <p:cNvSpPr/>
          <p:nvPr/>
        </p:nvSpPr>
        <p:spPr>
          <a:xfrm>
            <a:off x="3145536" y="2011680"/>
            <a:ext cx="694944" cy="237744"/>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75</a:t>
            </a:r>
            <a:endParaRPr lang="en-US" sz="800" dirty="0"/>
          </a:p>
        </p:txBody>
      </p:sp>
      <p:sp>
        <p:nvSpPr>
          <p:cNvPr id="37" name="Shape 35"/>
          <p:cNvSpPr/>
          <p:nvPr/>
        </p:nvSpPr>
        <p:spPr>
          <a:xfrm>
            <a:off x="347472" y="2267712"/>
            <a:ext cx="749808" cy="237744"/>
          </a:xfrm>
          <a:prstGeom prst="rect">
            <a:avLst/>
          </a:prstGeom>
          <a:solidFill>
            <a:srgbClr val="EAF4EE"/>
          </a:solidFill>
          <a:ln w="6350">
            <a:solidFill>
              <a:srgbClr val="C8E6D4"/>
            </a:solidFill>
            <a:prstDash val="solid"/>
          </a:ln>
        </p:spPr>
      </p:sp>
      <p:sp>
        <p:nvSpPr>
          <p:cNvPr id="38" name="Text 36"/>
          <p:cNvSpPr/>
          <p:nvPr/>
        </p:nvSpPr>
        <p:spPr>
          <a:xfrm>
            <a:off x="347472" y="2267712"/>
            <a:ext cx="749808" cy="237744"/>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E003</a:t>
            </a:r>
            <a:endParaRPr lang="en-US" sz="800" dirty="0"/>
          </a:p>
        </p:txBody>
      </p:sp>
      <p:sp>
        <p:nvSpPr>
          <p:cNvPr id="39" name="Shape 37"/>
          <p:cNvSpPr/>
          <p:nvPr/>
        </p:nvSpPr>
        <p:spPr>
          <a:xfrm>
            <a:off x="1133856" y="2267712"/>
            <a:ext cx="640080" cy="237744"/>
          </a:xfrm>
          <a:prstGeom prst="rect">
            <a:avLst/>
          </a:prstGeom>
          <a:solidFill>
            <a:srgbClr val="EAF4EE"/>
          </a:solidFill>
          <a:ln w="6350">
            <a:solidFill>
              <a:srgbClr val="C8E6D4"/>
            </a:solidFill>
            <a:prstDash val="solid"/>
          </a:ln>
        </p:spPr>
      </p:sp>
      <p:sp>
        <p:nvSpPr>
          <p:cNvPr id="40" name="Text 38"/>
          <p:cNvSpPr/>
          <p:nvPr/>
        </p:nvSpPr>
        <p:spPr>
          <a:xfrm>
            <a:off x="1133856" y="2267712"/>
            <a:ext cx="640080" cy="237744"/>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88</a:t>
            </a:r>
            <a:endParaRPr lang="en-US" sz="800" dirty="0"/>
          </a:p>
        </p:txBody>
      </p:sp>
      <p:sp>
        <p:nvSpPr>
          <p:cNvPr id="41" name="Shape 39"/>
          <p:cNvSpPr/>
          <p:nvPr/>
        </p:nvSpPr>
        <p:spPr>
          <a:xfrm>
            <a:off x="1810512" y="2267712"/>
            <a:ext cx="621792" cy="237744"/>
          </a:xfrm>
          <a:prstGeom prst="rect">
            <a:avLst/>
          </a:prstGeom>
          <a:solidFill>
            <a:srgbClr val="EAF4EE"/>
          </a:solidFill>
          <a:ln w="6350">
            <a:solidFill>
              <a:srgbClr val="C8E6D4"/>
            </a:solidFill>
            <a:prstDash val="solid"/>
          </a:ln>
        </p:spPr>
      </p:sp>
      <p:sp>
        <p:nvSpPr>
          <p:cNvPr id="42" name="Text 40"/>
          <p:cNvSpPr/>
          <p:nvPr/>
        </p:nvSpPr>
        <p:spPr>
          <a:xfrm>
            <a:off x="1810512" y="2267712"/>
            <a:ext cx="621792" cy="237744"/>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91</a:t>
            </a:r>
            <a:endParaRPr lang="en-US" sz="800" dirty="0"/>
          </a:p>
        </p:txBody>
      </p:sp>
      <p:sp>
        <p:nvSpPr>
          <p:cNvPr id="43" name="Shape 41"/>
          <p:cNvSpPr/>
          <p:nvPr/>
        </p:nvSpPr>
        <p:spPr>
          <a:xfrm>
            <a:off x="2468880" y="2267712"/>
            <a:ext cx="621792" cy="237744"/>
          </a:xfrm>
          <a:prstGeom prst="rect">
            <a:avLst/>
          </a:prstGeom>
          <a:solidFill>
            <a:srgbClr val="EAF4EE"/>
          </a:solidFill>
          <a:ln w="6350">
            <a:solidFill>
              <a:srgbClr val="C8E6D4"/>
            </a:solidFill>
            <a:prstDash val="solid"/>
          </a:ln>
        </p:spPr>
      </p:sp>
      <p:sp>
        <p:nvSpPr>
          <p:cNvPr id="44" name="Text 42"/>
          <p:cNvSpPr/>
          <p:nvPr/>
        </p:nvSpPr>
        <p:spPr>
          <a:xfrm>
            <a:off x="2468880" y="2267712"/>
            <a:ext cx="621792" cy="237744"/>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94</a:t>
            </a:r>
            <a:endParaRPr lang="en-US" sz="800" dirty="0"/>
          </a:p>
        </p:txBody>
      </p:sp>
      <p:sp>
        <p:nvSpPr>
          <p:cNvPr id="45" name="Shape 43"/>
          <p:cNvSpPr/>
          <p:nvPr/>
        </p:nvSpPr>
        <p:spPr>
          <a:xfrm>
            <a:off x="3145536" y="2267712"/>
            <a:ext cx="694944" cy="237744"/>
          </a:xfrm>
          <a:prstGeom prst="rect">
            <a:avLst/>
          </a:prstGeom>
          <a:solidFill>
            <a:srgbClr val="EAF4EE"/>
          </a:solidFill>
          <a:ln w="6350">
            <a:solidFill>
              <a:srgbClr val="C8E6D4"/>
            </a:solidFill>
            <a:prstDash val="solid"/>
          </a:ln>
        </p:spPr>
      </p:sp>
      <p:sp>
        <p:nvSpPr>
          <p:cNvPr id="46" name="Text 44"/>
          <p:cNvSpPr/>
          <p:nvPr/>
        </p:nvSpPr>
        <p:spPr>
          <a:xfrm>
            <a:off x="3145536" y="2267712"/>
            <a:ext cx="694944" cy="237744"/>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96</a:t>
            </a:r>
            <a:endParaRPr lang="en-US" sz="800" dirty="0"/>
          </a:p>
        </p:txBody>
      </p:sp>
      <p:sp>
        <p:nvSpPr>
          <p:cNvPr id="47" name="Text 45"/>
          <p:cNvSpPr/>
          <p:nvPr/>
        </p:nvSpPr>
        <p:spPr>
          <a:xfrm>
            <a:off x="347472" y="2606040"/>
            <a:ext cx="3913632" cy="365760"/>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Use for: Cross-sectional surveys, ANOVA input, most standard SPSS analyses. Each case = one row.</a:t>
            </a:r>
            <a:endParaRPr lang="en-US" sz="950" dirty="0"/>
          </a:p>
        </p:txBody>
      </p:sp>
      <p:sp>
        <p:nvSpPr>
          <p:cNvPr id="48" name="Text 46"/>
          <p:cNvSpPr/>
          <p:nvPr/>
        </p:nvSpPr>
        <p:spPr>
          <a:xfrm>
            <a:off x="347472" y="2999232"/>
            <a:ext cx="3913632" cy="347472"/>
          </a:xfrm>
          <a:prstGeom prst="rect">
            <a:avLst/>
          </a:prstGeom>
          <a:noFill/>
          <a:ln/>
        </p:spPr>
        <p:txBody>
          <a:bodyPr wrap="square" lIns="0" tIns="0" rIns="0" bIns="0" rtlCol="0" anchor="ctr"/>
          <a:lstStyle/>
          <a:p>
            <a:pPr indent="0" marL="0">
              <a:buNone/>
            </a:pPr>
            <a:r>
              <a:rPr lang="en-US" sz="950" i="1" dirty="0">
                <a:solidFill>
                  <a:srgbClr val="1A6B3C"/>
                </a:solidFill>
                <a:latin typeface="Calibri" pitchFamily="34" charset="0"/>
                <a:ea typeface="Calibri" pitchFamily="34" charset="-122"/>
                <a:cs typeface="Calibri" pitchFamily="34" charset="-120"/>
              </a:rPr>
              <a:t>When SPSS needs: Independent Samples T-Test, One-Way ANOVA, Regression, Factor Analysis.</a:t>
            </a:r>
            <a:endParaRPr lang="en-US" sz="950" dirty="0"/>
          </a:p>
        </p:txBody>
      </p:sp>
      <p:sp>
        <p:nvSpPr>
          <p:cNvPr id="49" name="Text 47"/>
          <p:cNvSpPr/>
          <p:nvPr/>
        </p:nvSpPr>
        <p:spPr>
          <a:xfrm>
            <a:off x="4480560" y="1691640"/>
            <a:ext cx="182880" cy="731520"/>
          </a:xfrm>
          <a:prstGeom prst="rect">
            <a:avLst/>
          </a:prstGeom>
          <a:noFill/>
          <a:ln/>
        </p:spPr>
        <p:txBody>
          <a:bodyPr wrap="square" lIns="0" tIns="0" rIns="0" bIns="0" rtlCol="0" anchor="ctr"/>
          <a:lstStyle/>
          <a:p>
            <a:pPr algn="ctr" indent="0" marL="0">
              <a:buNone/>
            </a:pPr>
            <a:r>
              <a:rPr lang="en-US" sz="2800" dirty="0">
                <a:solidFill>
                  <a:srgbClr val="1A6B3C"/>
                </a:solidFill>
                <a:latin typeface="Calibri" pitchFamily="34" charset="0"/>
                <a:ea typeface="Calibri" pitchFamily="34" charset="-122"/>
                <a:cs typeface="Calibri" pitchFamily="34" charset="-120"/>
              </a:rPr>
              <a:t>⇄</a:t>
            </a:r>
            <a:endParaRPr lang="en-US" sz="2800" dirty="0"/>
          </a:p>
        </p:txBody>
      </p:sp>
      <p:sp>
        <p:nvSpPr>
          <p:cNvPr id="50" name="Shape 48"/>
          <p:cNvSpPr/>
          <p:nvPr/>
        </p:nvSpPr>
        <p:spPr>
          <a:xfrm>
            <a:off x="4681728" y="1024128"/>
            <a:ext cx="4160520" cy="2395728"/>
          </a:xfrm>
          <a:prstGeom prst="roundRect">
            <a:avLst>
              <a:gd name="adj" fmla="val 3435"/>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51" name="Shape 49"/>
          <p:cNvSpPr/>
          <p:nvPr/>
        </p:nvSpPr>
        <p:spPr>
          <a:xfrm>
            <a:off x="4754880" y="1097280"/>
            <a:ext cx="4005072" cy="329184"/>
          </a:xfrm>
          <a:prstGeom prst="roundRect">
            <a:avLst>
              <a:gd name="adj" fmla="val 16667"/>
            </a:avLst>
          </a:prstGeom>
          <a:solidFill>
            <a:srgbClr val="1A6B3C"/>
          </a:solidFill>
          <a:ln w="12700">
            <a:solidFill>
              <a:srgbClr val="1A6B3C"/>
            </a:solidFill>
            <a:prstDash val="solid"/>
          </a:ln>
        </p:spPr>
      </p:sp>
      <p:sp>
        <p:nvSpPr>
          <p:cNvPr id="52" name="Text 50"/>
          <p:cNvSpPr/>
          <p:nvPr/>
        </p:nvSpPr>
        <p:spPr>
          <a:xfrm>
            <a:off x="4754880" y="1097280"/>
            <a:ext cx="400507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LONG FORMAT  -  Multiple rows per subject</a:t>
            </a:r>
            <a:endParaRPr lang="en-US" sz="1100" dirty="0"/>
          </a:p>
        </p:txBody>
      </p:sp>
      <p:sp>
        <p:nvSpPr>
          <p:cNvPr id="53" name="Shape 51"/>
          <p:cNvSpPr/>
          <p:nvPr/>
        </p:nvSpPr>
        <p:spPr>
          <a:xfrm>
            <a:off x="4773168" y="1481328"/>
            <a:ext cx="749808" cy="256032"/>
          </a:xfrm>
          <a:prstGeom prst="rect">
            <a:avLst/>
          </a:prstGeom>
          <a:solidFill>
            <a:srgbClr val="1A6B3C"/>
          </a:solidFill>
          <a:ln w="12700">
            <a:solidFill>
              <a:srgbClr val="1A6B3C"/>
            </a:solidFill>
            <a:prstDash val="solid"/>
          </a:ln>
        </p:spPr>
      </p:sp>
      <p:sp>
        <p:nvSpPr>
          <p:cNvPr id="54" name="Text 52"/>
          <p:cNvSpPr/>
          <p:nvPr/>
        </p:nvSpPr>
        <p:spPr>
          <a:xfrm>
            <a:off x="4773168" y="1481328"/>
            <a:ext cx="749808"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emp_id</a:t>
            </a:r>
            <a:endParaRPr lang="en-US" sz="750" dirty="0"/>
          </a:p>
        </p:txBody>
      </p:sp>
      <p:sp>
        <p:nvSpPr>
          <p:cNvPr id="55" name="Shape 53"/>
          <p:cNvSpPr/>
          <p:nvPr/>
        </p:nvSpPr>
        <p:spPr>
          <a:xfrm>
            <a:off x="5559552" y="1481328"/>
            <a:ext cx="676656" cy="256032"/>
          </a:xfrm>
          <a:prstGeom prst="rect">
            <a:avLst/>
          </a:prstGeom>
          <a:solidFill>
            <a:srgbClr val="1A6B3C"/>
          </a:solidFill>
          <a:ln w="12700">
            <a:solidFill>
              <a:srgbClr val="1A6B3C"/>
            </a:solidFill>
            <a:prstDash val="solid"/>
          </a:ln>
        </p:spPr>
      </p:sp>
      <p:sp>
        <p:nvSpPr>
          <p:cNvPr id="56" name="Text 54"/>
          <p:cNvSpPr/>
          <p:nvPr/>
        </p:nvSpPr>
        <p:spPr>
          <a:xfrm>
            <a:off x="5559552" y="1481328"/>
            <a:ext cx="676656"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quarter</a:t>
            </a:r>
            <a:endParaRPr lang="en-US" sz="750" dirty="0"/>
          </a:p>
        </p:txBody>
      </p:sp>
      <p:sp>
        <p:nvSpPr>
          <p:cNvPr id="57" name="Shape 55"/>
          <p:cNvSpPr/>
          <p:nvPr/>
        </p:nvSpPr>
        <p:spPr>
          <a:xfrm>
            <a:off x="6291072" y="1481328"/>
            <a:ext cx="1170432" cy="256032"/>
          </a:xfrm>
          <a:prstGeom prst="rect">
            <a:avLst/>
          </a:prstGeom>
          <a:solidFill>
            <a:srgbClr val="1A6B3C"/>
          </a:solidFill>
          <a:ln w="12700">
            <a:solidFill>
              <a:srgbClr val="1A6B3C"/>
            </a:solidFill>
            <a:prstDash val="solid"/>
          </a:ln>
        </p:spPr>
      </p:sp>
      <p:sp>
        <p:nvSpPr>
          <p:cNvPr id="58" name="Text 56"/>
          <p:cNvSpPr/>
          <p:nvPr/>
        </p:nvSpPr>
        <p:spPr>
          <a:xfrm>
            <a:off x="6291072" y="1481328"/>
            <a:ext cx="117043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performance_score</a:t>
            </a:r>
            <a:endParaRPr lang="en-US" sz="750" dirty="0"/>
          </a:p>
        </p:txBody>
      </p:sp>
      <p:sp>
        <p:nvSpPr>
          <p:cNvPr id="59" name="Shape 57"/>
          <p:cNvSpPr/>
          <p:nvPr/>
        </p:nvSpPr>
        <p:spPr>
          <a:xfrm>
            <a:off x="4773168" y="1755648"/>
            <a:ext cx="749808" cy="219456"/>
          </a:xfrm>
          <a:prstGeom prst="rect">
            <a:avLst/>
          </a:prstGeom>
          <a:solidFill>
            <a:srgbClr val="EAF4EE"/>
          </a:solidFill>
          <a:ln w="6350">
            <a:solidFill>
              <a:srgbClr val="C8E6D4"/>
            </a:solidFill>
            <a:prstDash val="solid"/>
          </a:ln>
        </p:spPr>
      </p:sp>
      <p:sp>
        <p:nvSpPr>
          <p:cNvPr id="60" name="Text 58"/>
          <p:cNvSpPr/>
          <p:nvPr/>
        </p:nvSpPr>
        <p:spPr>
          <a:xfrm>
            <a:off x="4773168" y="1755648"/>
            <a:ext cx="749808"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E001</a:t>
            </a:r>
            <a:endParaRPr lang="en-US" sz="800" dirty="0"/>
          </a:p>
        </p:txBody>
      </p:sp>
      <p:sp>
        <p:nvSpPr>
          <p:cNvPr id="61" name="Shape 59"/>
          <p:cNvSpPr/>
          <p:nvPr/>
        </p:nvSpPr>
        <p:spPr>
          <a:xfrm>
            <a:off x="5559552" y="1755648"/>
            <a:ext cx="676656" cy="219456"/>
          </a:xfrm>
          <a:prstGeom prst="rect">
            <a:avLst/>
          </a:prstGeom>
          <a:solidFill>
            <a:srgbClr val="EAF4EE"/>
          </a:solidFill>
          <a:ln w="6350">
            <a:solidFill>
              <a:srgbClr val="C8E6D4"/>
            </a:solidFill>
            <a:prstDash val="solid"/>
          </a:ln>
        </p:spPr>
      </p:sp>
      <p:sp>
        <p:nvSpPr>
          <p:cNvPr id="62" name="Text 60"/>
          <p:cNvSpPr/>
          <p:nvPr/>
        </p:nvSpPr>
        <p:spPr>
          <a:xfrm>
            <a:off x="5559552" y="1755648"/>
            <a:ext cx="676656"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Jan</a:t>
            </a:r>
            <a:endParaRPr lang="en-US" sz="800" dirty="0"/>
          </a:p>
        </p:txBody>
      </p:sp>
      <p:sp>
        <p:nvSpPr>
          <p:cNvPr id="63" name="Shape 61"/>
          <p:cNvSpPr/>
          <p:nvPr/>
        </p:nvSpPr>
        <p:spPr>
          <a:xfrm>
            <a:off x="6291072" y="1755648"/>
            <a:ext cx="1170432" cy="219456"/>
          </a:xfrm>
          <a:prstGeom prst="rect">
            <a:avLst/>
          </a:prstGeom>
          <a:solidFill>
            <a:srgbClr val="EAF4EE"/>
          </a:solidFill>
          <a:ln w="6350">
            <a:solidFill>
              <a:srgbClr val="C8E6D4"/>
            </a:solidFill>
            <a:prstDash val="solid"/>
          </a:ln>
        </p:spPr>
      </p:sp>
      <p:sp>
        <p:nvSpPr>
          <p:cNvPr id="64" name="Text 62"/>
          <p:cNvSpPr/>
          <p:nvPr/>
        </p:nvSpPr>
        <p:spPr>
          <a:xfrm>
            <a:off x="6291072" y="1755648"/>
            <a:ext cx="1170432"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72</a:t>
            </a:r>
            <a:endParaRPr lang="en-US" sz="800" dirty="0"/>
          </a:p>
        </p:txBody>
      </p:sp>
      <p:sp>
        <p:nvSpPr>
          <p:cNvPr id="65" name="Shape 63"/>
          <p:cNvSpPr/>
          <p:nvPr/>
        </p:nvSpPr>
        <p:spPr>
          <a:xfrm>
            <a:off x="4773168" y="1993392"/>
            <a:ext cx="749808" cy="219456"/>
          </a:xfrm>
          <a:prstGeom prst="rect">
            <a:avLst/>
          </a:prstGeom>
          <a:solidFill>
            <a:srgbClr val="FFFFFF"/>
          </a:solidFill>
          <a:ln w="6350">
            <a:solidFill>
              <a:srgbClr val="C8E6D4"/>
            </a:solidFill>
            <a:prstDash val="solid"/>
          </a:ln>
        </p:spPr>
      </p:sp>
      <p:sp>
        <p:nvSpPr>
          <p:cNvPr id="66" name="Text 64"/>
          <p:cNvSpPr/>
          <p:nvPr/>
        </p:nvSpPr>
        <p:spPr>
          <a:xfrm>
            <a:off x="4773168" y="1993392"/>
            <a:ext cx="749808"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E001</a:t>
            </a:r>
            <a:endParaRPr lang="en-US" sz="800" dirty="0"/>
          </a:p>
        </p:txBody>
      </p:sp>
      <p:sp>
        <p:nvSpPr>
          <p:cNvPr id="67" name="Shape 65"/>
          <p:cNvSpPr/>
          <p:nvPr/>
        </p:nvSpPr>
        <p:spPr>
          <a:xfrm>
            <a:off x="5559552" y="1993392"/>
            <a:ext cx="676656" cy="219456"/>
          </a:xfrm>
          <a:prstGeom prst="rect">
            <a:avLst/>
          </a:prstGeom>
          <a:solidFill>
            <a:srgbClr val="FFFFFF"/>
          </a:solidFill>
          <a:ln w="6350">
            <a:solidFill>
              <a:srgbClr val="C8E6D4"/>
            </a:solidFill>
            <a:prstDash val="solid"/>
          </a:ln>
        </p:spPr>
      </p:sp>
      <p:sp>
        <p:nvSpPr>
          <p:cNvPr id="68" name="Text 66"/>
          <p:cNvSpPr/>
          <p:nvPr/>
        </p:nvSpPr>
        <p:spPr>
          <a:xfrm>
            <a:off x="5559552" y="1993392"/>
            <a:ext cx="676656"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Apr</a:t>
            </a:r>
            <a:endParaRPr lang="en-US" sz="800" dirty="0"/>
          </a:p>
        </p:txBody>
      </p:sp>
      <p:sp>
        <p:nvSpPr>
          <p:cNvPr id="69" name="Shape 67"/>
          <p:cNvSpPr/>
          <p:nvPr/>
        </p:nvSpPr>
        <p:spPr>
          <a:xfrm>
            <a:off x="6291072" y="1993392"/>
            <a:ext cx="1170432" cy="219456"/>
          </a:xfrm>
          <a:prstGeom prst="rect">
            <a:avLst/>
          </a:prstGeom>
          <a:solidFill>
            <a:srgbClr val="FFFFFF"/>
          </a:solidFill>
          <a:ln w="6350">
            <a:solidFill>
              <a:srgbClr val="C8E6D4"/>
            </a:solidFill>
            <a:prstDash val="solid"/>
          </a:ln>
        </p:spPr>
      </p:sp>
      <p:sp>
        <p:nvSpPr>
          <p:cNvPr id="70" name="Text 68"/>
          <p:cNvSpPr/>
          <p:nvPr/>
        </p:nvSpPr>
        <p:spPr>
          <a:xfrm>
            <a:off x="6291072" y="1993392"/>
            <a:ext cx="1170432"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78</a:t>
            </a:r>
            <a:endParaRPr lang="en-US" sz="800" dirty="0"/>
          </a:p>
        </p:txBody>
      </p:sp>
      <p:sp>
        <p:nvSpPr>
          <p:cNvPr id="71" name="Shape 69"/>
          <p:cNvSpPr/>
          <p:nvPr/>
        </p:nvSpPr>
        <p:spPr>
          <a:xfrm>
            <a:off x="4773168" y="2231136"/>
            <a:ext cx="749808" cy="219456"/>
          </a:xfrm>
          <a:prstGeom prst="rect">
            <a:avLst/>
          </a:prstGeom>
          <a:solidFill>
            <a:srgbClr val="EAF4EE"/>
          </a:solidFill>
          <a:ln w="6350">
            <a:solidFill>
              <a:srgbClr val="C8E6D4"/>
            </a:solidFill>
            <a:prstDash val="solid"/>
          </a:ln>
        </p:spPr>
      </p:sp>
      <p:sp>
        <p:nvSpPr>
          <p:cNvPr id="72" name="Text 70"/>
          <p:cNvSpPr/>
          <p:nvPr/>
        </p:nvSpPr>
        <p:spPr>
          <a:xfrm>
            <a:off x="4773168" y="2231136"/>
            <a:ext cx="749808"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E001</a:t>
            </a:r>
            <a:endParaRPr lang="en-US" sz="800" dirty="0"/>
          </a:p>
        </p:txBody>
      </p:sp>
      <p:sp>
        <p:nvSpPr>
          <p:cNvPr id="73" name="Shape 71"/>
          <p:cNvSpPr/>
          <p:nvPr/>
        </p:nvSpPr>
        <p:spPr>
          <a:xfrm>
            <a:off x="5559552" y="2231136"/>
            <a:ext cx="676656" cy="219456"/>
          </a:xfrm>
          <a:prstGeom prst="rect">
            <a:avLst/>
          </a:prstGeom>
          <a:solidFill>
            <a:srgbClr val="EAF4EE"/>
          </a:solidFill>
          <a:ln w="6350">
            <a:solidFill>
              <a:srgbClr val="C8E6D4"/>
            </a:solidFill>
            <a:prstDash val="solid"/>
          </a:ln>
        </p:spPr>
      </p:sp>
      <p:sp>
        <p:nvSpPr>
          <p:cNvPr id="74" name="Text 72"/>
          <p:cNvSpPr/>
          <p:nvPr/>
        </p:nvSpPr>
        <p:spPr>
          <a:xfrm>
            <a:off x="5559552" y="2231136"/>
            <a:ext cx="676656"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Jul</a:t>
            </a:r>
            <a:endParaRPr lang="en-US" sz="800" dirty="0"/>
          </a:p>
        </p:txBody>
      </p:sp>
      <p:sp>
        <p:nvSpPr>
          <p:cNvPr id="75" name="Shape 73"/>
          <p:cNvSpPr/>
          <p:nvPr/>
        </p:nvSpPr>
        <p:spPr>
          <a:xfrm>
            <a:off x="6291072" y="2231136"/>
            <a:ext cx="1170432" cy="219456"/>
          </a:xfrm>
          <a:prstGeom prst="rect">
            <a:avLst/>
          </a:prstGeom>
          <a:solidFill>
            <a:srgbClr val="EAF4EE"/>
          </a:solidFill>
          <a:ln w="6350">
            <a:solidFill>
              <a:srgbClr val="C8E6D4"/>
            </a:solidFill>
            <a:prstDash val="solid"/>
          </a:ln>
        </p:spPr>
      </p:sp>
      <p:sp>
        <p:nvSpPr>
          <p:cNvPr id="76" name="Text 74"/>
          <p:cNvSpPr/>
          <p:nvPr/>
        </p:nvSpPr>
        <p:spPr>
          <a:xfrm>
            <a:off x="6291072" y="2231136"/>
            <a:ext cx="1170432"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81</a:t>
            </a:r>
            <a:endParaRPr lang="en-US" sz="800" dirty="0"/>
          </a:p>
        </p:txBody>
      </p:sp>
      <p:sp>
        <p:nvSpPr>
          <p:cNvPr id="77" name="Shape 75"/>
          <p:cNvSpPr/>
          <p:nvPr/>
        </p:nvSpPr>
        <p:spPr>
          <a:xfrm>
            <a:off x="4773168" y="2468880"/>
            <a:ext cx="749808" cy="219456"/>
          </a:xfrm>
          <a:prstGeom prst="rect">
            <a:avLst/>
          </a:prstGeom>
          <a:solidFill>
            <a:srgbClr val="FFFFFF"/>
          </a:solidFill>
          <a:ln w="6350">
            <a:solidFill>
              <a:srgbClr val="C8E6D4"/>
            </a:solidFill>
            <a:prstDash val="solid"/>
          </a:ln>
        </p:spPr>
      </p:sp>
      <p:sp>
        <p:nvSpPr>
          <p:cNvPr id="78" name="Text 76"/>
          <p:cNvSpPr/>
          <p:nvPr/>
        </p:nvSpPr>
        <p:spPr>
          <a:xfrm>
            <a:off x="4773168" y="2468880"/>
            <a:ext cx="749808"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E001</a:t>
            </a:r>
            <a:endParaRPr lang="en-US" sz="800" dirty="0"/>
          </a:p>
        </p:txBody>
      </p:sp>
      <p:sp>
        <p:nvSpPr>
          <p:cNvPr id="79" name="Shape 77"/>
          <p:cNvSpPr/>
          <p:nvPr/>
        </p:nvSpPr>
        <p:spPr>
          <a:xfrm>
            <a:off x="5559552" y="2468880"/>
            <a:ext cx="676656" cy="219456"/>
          </a:xfrm>
          <a:prstGeom prst="rect">
            <a:avLst/>
          </a:prstGeom>
          <a:solidFill>
            <a:srgbClr val="FFFFFF"/>
          </a:solidFill>
          <a:ln w="6350">
            <a:solidFill>
              <a:srgbClr val="C8E6D4"/>
            </a:solidFill>
            <a:prstDash val="solid"/>
          </a:ln>
        </p:spPr>
      </p:sp>
      <p:sp>
        <p:nvSpPr>
          <p:cNvPr id="80" name="Text 78"/>
          <p:cNvSpPr/>
          <p:nvPr/>
        </p:nvSpPr>
        <p:spPr>
          <a:xfrm>
            <a:off x="5559552" y="2468880"/>
            <a:ext cx="676656"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Oct</a:t>
            </a:r>
            <a:endParaRPr lang="en-US" sz="800" dirty="0"/>
          </a:p>
        </p:txBody>
      </p:sp>
      <p:sp>
        <p:nvSpPr>
          <p:cNvPr id="81" name="Shape 79"/>
          <p:cNvSpPr/>
          <p:nvPr/>
        </p:nvSpPr>
        <p:spPr>
          <a:xfrm>
            <a:off x="6291072" y="2468880"/>
            <a:ext cx="1170432" cy="219456"/>
          </a:xfrm>
          <a:prstGeom prst="rect">
            <a:avLst/>
          </a:prstGeom>
          <a:solidFill>
            <a:srgbClr val="FFFFFF"/>
          </a:solidFill>
          <a:ln w="6350">
            <a:solidFill>
              <a:srgbClr val="C8E6D4"/>
            </a:solidFill>
            <a:prstDash val="solid"/>
          </a:ln>
        </p:spPr>
      </p:sp>
      <p:sp>
        <p:nvSpPr>
          <p:cNvPr id="82" name="Text 80"/>
          <p:cNvSpPr/>
          <p:nvPr/>
        </p:nvSpPr>
        <p:spPr>
          <a:xfrm>
            <a:off x="6291072" y="2468880"/>
            <a:ext cx="1170432"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85</a:t>
            </a:r>
            <a:endParaRPr lang="en-US" sz="800" dirty="0"/>
          </a:p>
        </p:txBody>
      </p:sp>
      <p:sp>
        <p:nvSpPr>
          <p:cNvPr id="83" name="Shape 81"/>
          <p:cNvSpPr/>
          <p:nvPr/>
        </p:nvSpPr>
        <p:spPr>
          <a:xfrm>
            <a:off x="4773168" y="2706624"/>
            <a:ext cx="749808" cy="219456"/>
          </a:xfrm>
          <a:prstGeom prst="rect">
            <a:avLst/>
          </a:prstGeom>
          <a:solidFill>
            <a:srgbClr val="EAF4EE"/>
          </a:solidFill>
          <a:ln w="6350">
            <a:solidFill>
              <a:srgbClr val="C8E6D4"/>
            </a:solidFill>
            <a:prstDash val="solid"/>
          </a:ln>
        </p:spPr>
      </p:sp>
      <p:sp>
        <p:nvSpPr>
          <p:cNvPr id="84" name="Text 82"/>
          <p:cNvSpPr/>
          <p:nvPr/>
        </p:nvSpPr>
        <p:spPr>
          <a:xfrm>
            <a:off x="4773168" y="2706624"/>
            <a:ext cx="749808"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E002</a:t>
            </a:r>
            <a:endParaRPr lang="en-US" sz="800" dirty="0"/>
          </a:p>
        </p:txBody>
      </p:sp>
      <p:sp>
        <p:nvSpPr>
          <p:cNvPr id="85" name="Shape 83"/>
          <p:cNvSpPr/>
          <p:nvPr/>
        </p:nvSpPr>
        <p:spPr>
          <a:xfrm>
            <a:off x="5559552" y="2706624"/>
            <a:ext cx="676656" cy="219456"/>
          </a:xfrm>
          <a:prstGeom prst="rect">
            <a:avLst/>
          </a:prstGeom>
          <a:solidFill>
            <a:srgbClr val="EAF4EE"/>
          </a:solidFill>
          <a:ln w="6350">
            <a:solidFill>
              <a:srgbClr val="C8E6D4"/>
            </a:solidFill>
            <a:prstDash val="solid"/>
          </a:ln>
        </p:spPr>
      </p:sp>
      <p:sp>
        <p:nvSpPr>
          <p:cNvPr id="86" name="Text 84"/>
          <p:cNvSpPr/>
          <p:nvPr/>
        </p:nvSpPr>
        <p:spPr>
          <a:xfrm>
            <a:off x="5559552" y="2706624"/>
            <a:ext cx="676656"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Jan</a:t>
            </a:r>
            <a:endParaRPr lang="en-US" sz="800" dirty="0"/>
          </a:p>
        </p:txBody>
      </p:sp>
      <p:sp>
        <p:nvSpPr>
          <p:cNvPr id="87" name="Shape 85"/>
          <p:cNvSpPr/>
          <p:nvPr/>
        </p:nvSpPr>
        <p:spPr>
          <a:xfrm>
            <a:off x="6291072" y="2706624"/>
            <a:ext cx="1170432" cy="219456"/>
          </a:xfrm>
          <a:prstGeom prst="rect">
            <a:avLst/>
          </a:prstGeom>
          <a:solidFill>
            <a:srgbClr val="EAF4EE"/>
          </a:solidFill>
          <a:ln w="6350">
            <a:solidFill>
              <a:srgbClr val="C8E6D4"/>
            </a:solidFill>
            <a:prstDash val="solid"/>
          </a:ln>
        </p:spPr>
      </p:sp>
      <p:sp>
        <p:nvSpPr>
          <p:cNvPr id="88" name="Text 86"/>
          <p:cNvSpPr/>
          <p:nvPr/>
        </p:nvSpPr>
        <p:spPr>
          <a:xfrm>
            <a:off x="6291072" y="2706624"/>
            <a:ext cx="1170432"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65</a:t>
            </a:r>
            <a:endParaRPr lang="en-US" sz="800" dirty="0"/>
          </a:p>
        </p:txBody>
      </p:sp>
      <p:sp>
        <p:nvSpPr>
          <p:cNvPr id="89" name="Shape 87"/>
          <p:cNvSpPr/>
          <p:nvPr/>
        </p:nvSpPr>
        <p:spPr>
          <a:xfrm>
            <a:off x="4773168" y="2944368"/>
            <a:ext cx="749808" cy="219456"/>
          </a:xfrm>
          <a:prstGeom prst="rect">
            <a:avLst/>
          </a:prstGeom>
          <a:solidFill>
            <a:srgbClr val="FFFFFF"/>
          </a:solidFill>
          <a:ln w="6350">
            <a:solidFill>
              <a:srgbClr val="C8E6D4"/>
            </a:solidFill>
            <a:prstDash val="solid"/>
          </a:ln>
        </p:spPr>
      </p:sp>
      <p:sp>
        <p:nvSpPr>
          <p:cNvPr id="90" name="Text 88"/>
          <p:cNvSpPr/>
          <p:nvPr/>
        </p:nvSpPr>
        <p:spPr>
          <a:xfrm>
            <a:off x="4773168" y="2944368"/>
            <a:ext cx="749808"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E002</a:t>
            </a:r>
            <a:endParaRPr lang="en-US" sz="800" dirty="0"/>
          </a:p>
        </p:txBody>
      </p:sp>
      <p:sp>
        <p:nvSpPr>
          <p:cNvPr id="91" name="Shape 89"/>
          <p:cNvSpPr/>
          <p:nvPr/>
        </p:nvSpPr>
        <p:spPr>
          <a:xfrm>
            <a:off x="5559552" y="2944368"/>
            <a:ext cx="676656" cy="219456"/>
          </a:xfrm>
          <a:prstGeom prst="rect">
            <a:avLst/>
          </a:prstGeom>
          <a:solidFill>
            <a:srgbClr val="FFFFFF"/>
          </a:solidFill>
          <a:ln w="6350">
            <a:solidFill>
              <a:srgbClr val="C8E6D4"/>
            </a:solidFill>
            <a:prstDash val="solid"/>
          </a:ln>
        </p:spPr>
      </p:sp>
      <p:sp>
        <p:nvSpPr>
          <p:cNvPr id="92" name="Text 90"/>
          <p:cNvSpPr/>
          <p:nvPr/>
        </p:nvSpPr>
        <p:spPr>
          <a:xfrm>
            <a:off x="5559552" y="2944368"/>
            <a:ext cx="676656"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Apr</a:t>
            </a:r>
            <a:endParaRPr lang="en-US" sz="800" dirty="0"/>
          </a:p>
        </p:txBody>
      </p:sp>
      <p:sp>
        <p:nvSpPr>
          <p:cNvPr id="93" name="Shape 91"/>
          <p:cNvSpPr/>
          <p:nvPr/>
        </p:nvSpPr>
        <p:spPr>
          <a:xfrm>
            <a:off x="6291072" y="2944368"/>
            <a:ext cx="1170432" cy="219456"/>
          </a:xfrm>
          <a:prstGeom prst="rect">
            <a:avLst/>
          </a:prstGeom>
          <a:solidFill>
            <a:srgbClr val="FFFFFF"/>
          </a:solidFill>
          <a:ln w="6350">
            <a:solidFill>
              <a:srgbClr val="C8E6D4"/>
            </a:solidFill>
            <a:prstDash val="solid"/>
          </a:ln>
        </p:spPr>
      </p:sp>
      <p:sp>
        <p:nvSpPr>
          <p:cNvPr id="94" name="Text 92"/>
          <p:cNvSpPr/>
          <p:nvPr/>
        </p:nvSpPr>
        <p:spPr>
          <a:xfrm>
            <a:off x="6291072" y="2944368"/>
            <a:ext cx="1170432" cy="219456"/>
          </a:xfrm>
          <a:prstGeom prst="rect">
            <a:avLst/>
          </a:prstGeom>
          <a:noFill/>
          <a:ln/>
        </p:spPr>
        <p:txBody>
          <a:bodyPr wrap="square" lIns="0" tIns="0" rIns="0" bIns="0" rtlCol="0" anchor="ctr"/>
          <a:lstStyle/>
          <a:p>
            <a:pPr algn="ctr" indent="0" marL="0">
              <a:buNone/>
            </a:pPr>
            <a:r>
              <a:rPr lang="en-US" sz="800" dirty="0">
                <a:solidFill>
                  <a:srgbClr val="0B2218"/>
                </a:solidFill>
                <a:latin typeface="Calibri" pitchFamily="34" charset="0"/>
                <a:ea typeface="Calibri" pitchFamily="34" charset="-122"/>
                <a:cs typeface="Calibri" pitchFamily="34" charset="-120"/>
              </a:rPr>
              <a:t>68</a:t>
            </a:r>
            <a:endParaRPr lang="en-US" sz="800" dirty="0"/>
          </a:p>
        </p:txBody>
      </p:sp>
      <p:sp>
        <p:nvSpPr>
          <p:cNvPr id="95" name="Text 93"/>
          <p:cNvSpPr/>
          <p:nvPr/>
        </p:nvSpPr>
        <p:spPr>
          <a:xfrm>
            <a:off x="4773168" y="3310128"/>
            <a:ext cx="3913632" cy="365760"/>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Use for: Longitudinal data, Repeated Measures ANOVA input, multilevel modelling.</a:t>
            </a:r>
            <a:endParaRPr lang="en-US" sz="950" dirty="0"/>
          </a:p>
        </p:txBody>
      </p:sp>
      <p:sp>
        <p:nvSpPr>
          <p:cNvPr id="96" name="Shape 94"/>
          <p:cNvSpPr/>
          <p:nvPr/>
        </p:nvSpPr>
        <p:spPr>
          <a:xfrm>
            <a:off x="256032" y="3511296"/>
            <a:ext cx="8631936" cy="1536192"/>
          </a:xfrm>
          <a:prstGeom prst="roundRect">
            <a:avLst>
              <a:gd name="adj" fmla="val 4762"/>
            </a:avLst>
          </a:prstGeom>
          <a:solidFill>
            <a:srgbClr val="F5FAF7"/>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97" name="Text 95"/>
          <p:cNvSpPr/>
          <p:nvPr/>
        </p:nvSpPr>
        <p:spPr>
          <a:xfrm>
            <a:off x="384048" y="3566160"/>
            <a:ext cx="4114800" cy="274320"/>
          </a:xfrm>
          <a:prstGeom prst="rect">
            <a:avLst/>
          </a:prstGeom>
          <a:noFill/>
          <a:ln/>
        </p:spPr>
        <p:txBody>
          <a:bodyPr wrap="square" lIns="0" tIns="0" rIns="0" bIns="0" rtlCol="0" anchor="ctr"/>
          <a:lstStyle/>
          <a:p>
            <a:pPr indent="0" marL="0">
              <a:buNone/>
            </a:pPr>
            <a:r>
              <a:rPr lang="en-US" sz="1200" b="1" dirty="0">
                <a:solidFill>
                  <a:srgbClr val="0B2218"/>
                </a:solidFill>
                <a:latin typeface="Calibri" pitchFamily="34" charset="0"/>
                <a:ea typeface="Calibri" pitchFamily="34" charset="-122"/>
                <a:cs typeface="Calibri" pitchFamily="34" charset="-120"/>
              </a:rPr>
              <a:t>Restructuring with Data &gt; Restructure</a:t>
            </a:r>
            <a:endParaRPr lang="en-US" sz="1200" dirty="0"/>
          </a:p>
        </p:txBody>
      </p:sp>
      <p:sp>
        <p:nvSpPr>
          <p:cNvPr id="98" name="Text 96"/>
          <p:cNvSpPr/>
          <p:nvPr/>
        </p:nvSpPr>
        <p:spPr>
          <a:xfrm>
            <a:off x="384048" y="3913632"/>
            <a:ext cx="1170432" cy="237744"/>
          </a:xfrm>
          <a:prstGeom prst="rect">
            <a:avLst/>
          </a:prstGeom>
          <a:noFill/>
          <a:ln/>
        </p:spPr>
        <p:txBody>
          <a:bodyPr wrap="square" lIns="0" tIns="0" rIns="0" bIns="0" rtlCol="0" anchor="ctr"/>
          <a:lstStyle/>
          <a:p>
            <a:pPr indent="0" marL="0">
              <a:buNone/>
            </a:pPr>
            <a:r>
              <a:rPr lang="en-US" sz="1000" b="1" dirty="0">
                <a:solidFill>
                  <a:srgbClr val="1A6B3C"/>
                </a:solidFill>
                <a:latin typeface="Calibri" pitchFamily="34" charset="0"/>
                <a:ea typeface="Calibri" pitchFamily="34" charset="-122"/>
                <a:cs typeface="Calibri" pitchFamily="34" charset="-120"/>
              </a:rPr>
              <a:t>Wide to Long: </a:t>
            </a:r>
            <a:endParaRPr lang="en-US" sz="1000" dirty="0"/>
          </a:p>
        </p:txBody>
      </p:sp>
      <p:sp>
        <p:nvSpPr>
          <p:cNvPr id="99" name="Text 97"/>
          <p:cNvSpPr/>
          <p:nvPr/>
        </p:nvSpPr>
        <p:spPr>
          <a:xfrm>
            <a:off x="1591056" y="3913632"/>
            <a:ext cx="7150608" cy="475488"/>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Select Restructure Selected Variables into Cases &gt; choose the repeated measure columns (score_Jan, score_Apr...) as Target Variable &gt; specify the index variable (quarter)</a:t>
            </a:r>
            <a:endParaRPr lang="en-US" sz="950" dirty="0"/>
          </a:p>
        </p:txBody>
      </p:sp>
      <p:sp>
        <p:nvSpPr>
          <p:cNvPr id="100" name="Text 98"/>
          <p:cNvSpPr/>
          <p:nvPr/>
        </p:nvSpPr>
        <p:spPr>
          <a:xfrm>
            <a:off x="384048" y="4443984"/>
            <a:ext cx="1170432" cy="237744"/>
          </a:xfrm>
          <a:prstGeom prst="rect">
            <a:avLst/>
          </a:prstGeom>
          <a:noFill/>
          <a:ln/>
        </p:spPr>
        <p:txBody>
          <a:bodyPr wrap="square" lIns="0" tIns="0" rIns="0" bIns="0" rtlCol="0" anchor="ctr"/>
          <a:lstStyle/>
          <a:p>
            <a:pPr indent="0" marL="0">
              <a:buNone/>
            </a:pPr>
            <a:r>
              <a:rPr lang="en-US" sz="1000" b="1" dirty="0">
                <a:solidFill>
                  <a:srgbClr val="1A6B3C"/>
                </a:solidFill>
                <a:latin typeface="Calibri" pitchFamily="34" charset="0"/>
                <a:ea typeface="Calibri" pitchFamily="34" charset="-122"/>
                <a:cs typeface="Calibri" pitchFamily="34" charset="-120"/>
              </a:rPr>
              <a:t>Long to Wide: </a:t>
            </a:r>
            <a:endParaRPr lang="en-US" sz="1000" dirty="0"/>
          </a:p>
        </p:txBody>
      </p:sp>
      <p:sp>
        <p:nvSpPr>
          <p:cNvPr id="101" name="Text 99"/>
          <p:cNvSpPr/>
          <p:nvPr/>
        </p:nvSpPr>
        <p:spPr>
          <a:xfrm>
            <a:off x="1591056" y="4443984"/>
            <a:ext cx="7150608" cy="475488"/>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Select Restructure Selected Cases into Variables &gt; specify the identifier (emp_id) &gt; the variable that names the columns (quarter) &gt; the value variable (score)</a:t>
            </a:r>
            <a:endParaRPr lang="en-US" sz="950" dirty="0"/>
          </a:p>
        </p:txBody>
      </p:sp>
      <p:sp>
        <p:nvSpPr>
          <p:cNvPr id="102" name="Shape 100"/>
          <p:cNvSpPr/>
          <p:nvPr/>
        </p:nvSpPr>
        <p:spPr>
          <a:xfrm>
            <a:off x="256032" y="5120640"/>
            <a:ext cx="8631936" cy="365760"/>
          </a:xfrm>
          <a:prstGeom prst="roundRect">
            <a:avLst>
              <a:gd name="adj" fmla="val 15000"/>
            </a:avLst>
          </a:prstGeom>
          <a:solidFill>
            <a:srgbClr val="FFFBEC"/>
          </a:solidFill>
          <a:ln w="19050">
            <a:solidFill>
              <a:srgbClr val="D4A017"/>
            </a:solidFill>
            <a:prstDash val="solid"/>
          </a:ln>
        </p:spPr>
      </p:sp>
      <p:sp>
        <p:nvSpPr>
          <p:cNvPr id="103" name="Text 101"/>
          <p:cNvSpPr/>
          <p:nvPr/>
        </p:nvSpPr>
        <p:spPr>
          <a:xfrm>
            <a:off x="384048" y="5120640"/>
            <a:ext cx="8449056" cy="365760"/>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GLM Repeated Measures (Module 5) requires WIDE format. Mixed models and some non-parametric tests require LONG format. Know which your procedure expects before restructuring.</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6B3C">
              <a:alpha val="18000"/>
            </a:srgbClr>
          </a:solidFill>
          <a:ln w="12700">
            <a:solidFill>
              <a:srgbClr val="1A6B3C"/>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2  |  SECTION 06</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Replacing Missing Values</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D4BC"/>
                </a:solidFill>
                <a:latin typeface="Calibri" pitchFamily="34" charset="0"/>
                <a:ea typeface="Calibri" pitchFamily="34" charset="-122"/>
                <a:cs typeface="Calibri" pitchFamily="34" charset="-120"/>
              </a:rPr>
              <a:t>Understanding, quantifying, and handling the absent data in your dataset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A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218"/>
          </a:solidFill>
          <a:ln w="12700">
            <a:solidFill>
              <a:srgbClr val="0B2218"/>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Types of Missing Data - The Theoretical Foundation</a:t>
            </a:r>
            <a:endParaRPr lang="en-US" sz="2200" dirty="0"/>
          </a:p>
        </p:txBody>
      </p:sp>
      <p:sp>
        <p:nvSpPr>
          <p:cNvPr id="4" name="Shape 2"/>
          <p:cNvSpPr/>
          <p:nvPr/>
        </p:nvSpPr>
        <p:spPr>
          <a:xfrm>
            <a:off x="228600" y="1024128"/>
            <a:ext cx="2834640" cy="3950208"/>
          </a:xfrm>
          <a:prstGeom prst="roundRect">
            <a:avLst>
              <a:gd name="adj" fmla="val 2903"/>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283464" y="1078992"/>
            <a:ext cx="2724912" cy="512064"/>
          </a:xfrm>
          <a:prstGeom prst="roundRect">
            <a:avLst>
              <a:gd name="adj" fmla="val 12500"/>
            </a:avLst>
          </a:prstGeom>
          <a:solidFill>
            <a:srgbClr val="1A6B3C"/>
          </a:solidFill>
          <a:ln w="12700">
            <a:solidFill>
              <a:srgbClr val="1A6B3C"/>
            </a:solidFill>
            <a:prstDash val="solid"/>
          </a:ln>
        </p:spPr>
      </p:sp>
      <p:sp>
        <p:nvSpPr>
          <p:cNvPr id="6" name="Text 4"/>
          <p:cNvSpPr/>
          <p:nvPr/>
        </p:nvSpPr>
        <p:spPr>
          <a:xfrm>
            <a:off x="283464" y="1078992"/>
            <a:ext cx="2724912"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MCAR</a:t>
            </a:r>
            <a:endParaRPr lang="en-US" sz="1600" dirty="0"/>
          </a:p>
        </p:txBody>
      </p:sp>
      <p:sp>
        <p:nvSpPr>
          <p:cNvPr id="7" name="Text 5"/>
          <p:cNvSpPr/>
          <p:nvPr/>
        </p:nvSpPr>
        <p:spPr>
          <a:xfrm>
            <a:off x="283464" y="1371600"/>
            <a:ext cx="2724912" cy="20116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Missing Completely at Random</a:t>
            </a:r>
            <a:endParaRPr lang="en-US" sz="900" dirty="0"/>
          </a:p>
        </p:txBody>
      </p:sp>
      <p:sp>
        <p:nvSpPr>
          <p:cNvPr id="8" name="Text 6"/>
          <p:cNvSpPr/>
          <p:nvPr/>
        </p:nvSpPr>
        <p:spPr>
          <a:xfrm>
            <a:off x="320040" y="1664208"/>
            <a:ext cx="2633472" cy="658368"/>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The probability of a value being missing is UNRELATED to the missing value itself AND to any other variable in the dataset. The ideal, rarest scenario.</a:t>
            </a:r>
            <a:endParaRPr lang="en-US" sz="900" dirty="0"/>
          </a:p>
        </p:txBody>
      </p:sp>
      <p:sp>
        <p:nvSpPr>
          <p:cNvPr id="9" name="Text 7"/>
          <p:cNvSpPr/>
          <p:nvPr/>
        </p:nvSpPr>
        <p:spPr>
          <a:xfrm>
            <a:off x="320040" y="2359152"/>
            <a:ext cx="2633472" cy="658368"/>
          </a:xfrm>
          <a:prstGeom prst="rect">
            <a:avLst/>
          </a:prstGeom>
          <a:noFill/>
          <a:ln/>
        </p:spPr>
        <p:txBody>
          <a:bodyPr wrap="square" lIns="0" tIns="0" rIns="0" bIns="0" rtlCol="0" anchor="ctr"/>
          <a:lstStyle/>
          <a:p>
            <a:pPr indent="0" marL="0">
              <a:buNone/>
            </a:pPr>
            <a:r>
              <a:rPr lang="en-US" sz="850" b="1" dirty="0">
                <a:solidFill>
                  <a:srgbClr val="1A6B3C"/>
                </a:solidFill>
                <a:latin typeface="Calibri" pitchFamily="34" charset="0"/>
                <a:ea typeface="Calibri" pitchFamily="34" charset="-122"/>
                <a:cs typeface="Calibri" pitchFamily="34" charset="-120"/>
              </a:rPr>
              <a:t>UAC Example: </a:t>
            </a:r>
            <a:pPr indent="0" marL="0">
              <a:buNone/>
            </a:pPr>
            <a:r>
              <a:rPr lang="en-US" sz="850" i="1" dirty="0">
                <a:solidFill>
                  <a:srgbClr val="1E3A2E"/>
                </a:solidFill>
                <a:latin typeface="Calibri" pitchFamily="34" charset="0"/>
                <a:ea typeface="Calibri" pitchFamily="34" charset="-122"/>
                <a:cs typeface="Calibri" pitchFamily="34" charset="-120"/>
              </a:rPr>
              <a:t>A data entry operator randomly skipped every 20th row due to fatigue. The skipping pattern has nothing to do with the content of those rows.</a:t>
            </a:r>
            <a:endParaRPr lang="en-US" sz="850" dirty="0"/>
          </a:p>
        </p:txBody>
      </p:sp>
      <p:sp>
        <p:nvSpPr>
          <p:cNvPr id="10" name="Text 8"/>
          <p:cNvSpPr/>
          <p:nvPr/>
        </p:nvSpPr>
        <p:spPr>
          <a:xfrm>
            <a:off x="320040" y="3054096"/>
            <a:ext cx="2633472" cy="475488"/>
          </a:xfrm>
          <a:prstGeom prst="rect">
            <a:avLst/>
          </a:prstGeom>
          <a:noFill/>
          <a:ln/>
        </p:spPr>
        <p:txBody>
          <a:bodyPr wrap="square" lIns="0" tIns="0" rIns="0" bIns="0" rtlCol="0" anchor="ctr"/>
          <a:lstStyle/>
          <a:p>
            <a:pPr indent="0" marL="0">
              <a:buNone/>
            </a:pPr>
            <a:r>
              <a:rPr lang="en-US" sz="850" b="1" dirty="0">
                <a:solidFill>
                  <a:srgbClr val="1A6B3C"/>
                </a:solidFill>
                <a:latin typeface="Calibri" pitchFamily="34" charset="0"/>
                <a:ea typeface="Calibri" pitchFamily="34" charset="-122"/>
                <a:cs typeface="Calibri" pitchFamily="34" charset="-120"/>
              </a:rPr>
              <a:t>Impact: </a:t>
            </a:r>
            <a:pPr indent="0" marL="0">
              <a:buNone/>
            </a:pPr>
            <a:r>
              <a:rPr lang="en-US" sz="850" dirty="0">
                <a:solidFill>
                  <a:srgbClr val="1E3A2E"/>
                </a:solidFill>
                <a:latin typeface="Calibri" pitchFamily="34" charset="0"/>
                <a:ea typeface="Calibri" pitchFamily="34" charset="-122"/>
                <a:cs typeface="Calibri" pitchFamily="34" charset="-120"/>
              </a:rPr>
              <a:t>Any handling strategy works. Listwise deletion produces unbiased (though less efficient) estimates.</a:t>
            </a:r>
            <a:endParaRPr lang="en-US" sz="850" dirty="0"/>
          </a:p>
        </p:txBody>
      </p:sp>
      <p:sp>
        <p:nvSpPr>
          <p:cNvPr id="11" name="Text 9"/>
          <p:cNvSpPr/>
          <p:nvPr/>
        </p:nvSpPr>
        <p:spPr>
          <a:xfrm>
            <a:off x="320040" y="3566160"/>
            <a:ext cx="2633472" cy="438912"/>
          </a:xfrm>
          <a:prstGeom prst="rect">
            <a:avLst/>
          </a:prstGeom>
          <a:noFill/>
          <a:ln/>
        </p:spPr>
        <p:txBody>
          <a:bodyPr wrap="square" lIns="0" tIns="0" rIns="0" bIns="0" rtlCol="0" anchor="ctr"/>
          <a:lstStyle/>
          <a:p>
            <a:pPr indent="0" marL="0">
              <a:buNone/>
            </a:pPr>
            <a:r>
              <a:rPr lang="en-US" sz="850" b="1" dirty="0">
                <a:solidFill>
                  <a:srgbClr val="1A6B3C"/>
                </a:solidFill>
                <a:latin typeface="Calibri" pitchFamily="34" charset="0"/>
                <a:ea typeface="Calibri" pitchFamily="34" charset="-122"/>
                <a:cs typeface="Calibri" pitchFamily="34" charset="-120"/>
              </a:rPr>
              <a:t>Detect: </a:t>
            </a:r>
            <a:pPr indent="0" marL="0">
              <a:buNone/>
            </a:pPr>
            <a:r>
              <a:rPr lang="en-US" sz="850" i="1" dirty="0">
                <a:solidFill>
                  <a:srgbClr val="64748B"/>
                </a:solidFill>
                <a:latin typeface="Calibri" pitchFamily="34" charset="0"/>
                <a:ea typeface="Calibri" pitchFamily="34" charset="-122"/>
                <a:cs typeface="Calibri" pitchFamily="34" charset="-120"/>
              </a:rPr>
              <a:t>Test: Little's MCAR test (Analyze &gt; Missing Value Analysis). Non-significant result supports MCAR.</a:t>
            </a:r>
            <a:endParaRPr lang="en-US" sz="850" dirty="0"/>
          </a:p>
        </p:txBody>
      </p:sp>
      <p:sp>
        <p:nvSpPr>
          <p:cNvPr id="12" name="Shape 10"/>
          <p:cNvSpPr/>
          <p:nvPr/>
        </p:nvSpPr>
        <p:spPr>
          <a:xfrm>
            <a:off x="3200400" y="1024128"/>
            <a:ext cx="2834640" cy="3950208"/>
          </a:xfrm>
          <a:prstGeom prst="roundRect">
            <a:avLst>
              <a:gd name="adj" fmla="val 2903"/>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3" name="Shape 11"/>
          <p:cNvSpPr/>
          <p:nvPr/>
        </p:nvSpPr>
        <p:spPr>
          <a:xfrm>
            <a:off x="3255264" y="1078992"/>
            <a:ext cx="2724912" cy="512064"/>
          </a:xfrm>
          <a:prstGeom prst="roundRect">
            <a:avLst>
              <a:gd name="adj" fmla="val 12500"/>
            </a:avLst>
          </a:prstGeom>
          <a:solidFill>
            <a:srgbClr val="E67E22"/>
          </a:solidFill>
          <a:ln w="12700">
            <a:solidFill>
              <a:srgbClr val="E67E22"/>
            </a:solidFill>
            <a:prstDash val="solid"/>
          </a:ln>
        </p:spPr>
      </p:sp>
      <p:sp>
        <p:nvSpPr>
          <p:cNvPr id="14" name="Text 12"/>
          <p:cNvSpPr/>
          <p:nvPr/>
        </p:nvSpPr>
        <p:spPr>
          <a:xfrm>
            <a:off x="3255264" y="1078992"/>
            <a:ext cx="2724912"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MAR</a:t>
            </a:r>
            <a:endParaRPr lang="en-US" sz="1600" dirty="0"/>
          </a:p>
        </p:txBody>
      </p:sp>
      <p:sp>
        <p:nvSpPr>
          <p:cNvPr id="15" name="Text 13"/>
          <p:cNvSpPr/>
          <p:nvPr/>
        </p:nvSpPr>
        <p:spPr>
          <a:xfrm>
            <a:off x="3255264" y="1371600"/>
            <a:ext cx="2724912" cy="20116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Missing at Random</a:t>
            </a:r>
            <a:endParaRPr lang="en-US" sz="900" dirty="0"/>
          </a:p>
        </p:txBody>
      </p:sp>
      <p:sp>
        <p:nvSpPr>
          <p:cNvPr id="16" name="Text 14"/>
          <p:cNvSpPr/>
          <p:nvPr/>
        </p:nvSpPr>
        <p:spPr>
          <a:xfrm>
            <a:off x="3291840" y="1664208"/>
            <a:ext cx="2633472" cy="658368"/>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The probability of missing data is related to OTHER observed variables, but NOT to the missing value itself once those variables are controlled.</a:t>
            </a:r>
            <a:endParaRPr lang="en-US" sz="900" dirty="0"/>
          </a:p>
        </p:txBody>
      </p:sp>
      <p:sp>
        <p:nvSpPr>
          <p:cNvPr id="17" name="Text 15"/>
          <p:cNvSpPr/>
          <p:nvPr/>
        </p:nvSpPr>
        <p:spPr>
          <a:xfrm>
            <a:off x="3291840" y="2359152"/>
            <a:ext cx="2633472" cy="658368"/>
          </a:xfrm>
          <a:prstGeom prst="rect">
            <a:avLst/>
          </a:prstGeom>
          <a:noFill/>
          <a:ln/>
        </p:spPr>
        <p:txBody>
          <a:bodyPr wrap="square" lIns="0" tIns="0" rIns="0" bIns="0" rtlCol="0" anchor="ctr"/>
          <a:lstStyle/>
          <a:p>
            <a:pPr indent="0" marL="0">
              <a:buNone/>
            </a:pPr>
            <a:r>
              <a:rPr lang="en-US" sz="850" b="1" dirty="0">
                <a:solidFill>
                  <a:srgbClr val="E67E22"/>
                </a:solidFill>
                <a:latin typeface="Calibri" pitchFamily="34" charset="0"/>
                <a:ea typeface="Calibri" pitchFamily="34" charset="-122"/>
                <a:cs typeface="Calibri" pitchFamily="34" charset="-120"/>
              </a:rPr>
              <a:t>UAC Example: </a:t>
            </a:r>
            <a:pPr indent="0" marL="0">
              <a:buNone/>
            </a:pPr>
            <a:r>
              <a:rPr lang="en-US" sz="850" i="1" dirty="0">
                <a:solidFill>
                  <a:srgbClr val="1E3A2E"/>
                </a:solidFill>
                <a:latin typeface="Calibri" pitchFamily="34" charset="0"/>
                <a:ea typeface="Calibri" pitchFamily="34" charset="-122"/>
                <a:cs typeface="Calibri" pitchFamily="34" charset="-120"/>
              </a:rPr>
              <a:t>Older UAC Foods respondents were more likely to skip the 'monthly salary' question - but among respondents of the same age, skipping was random (not related to actual salary level).</a:t>
            </a:r>
            <a:endParaRPr lang="en-US" sz="850" dirty="0"/>
          </a:p>
        </p:txBody>
      </p:sp>
      <p:sp>
        <p:nvSpPr>
          <p:cNvPr id="18" name="Text 16"/>
          <p:cNvSpPr/>
          <p:nvPr/>
        </p:nvSpPr>
        <p:spPr>
          <a:xfrm>
            <a:off x="3291840" y="3054096"/>
            <a:ext cx="2633472" cy="475488"/>
          </a:xfrm>
          <a:prstGeom prst="rect">
            <a:avLst/>
          </a:prstGeom>
          <a:noFill/>
          <a:ln/>
        </p:spPr>
        <p:txBody>
          <a:bodyPr wrap="square" lIns="0" tIns="0" rIns="0" bIns="0" rtlCol="0" anchor="ctr"/>
          <a:lstStyle/>
          <a:p>
            <a:pPr indent="0" marL="0">
              <a:buNone/>
            </a:pPr>
            <a:r>
              <a:rPr lang="en-US" sz="850" b="1" dirty="0">
                <a:solidFill>
                  <a:srgbClr val="E67E22"/>
                </a:solidFill>
                <a:latin typeface="Calibri" pitchFamily="34" charset="0"/>
                <a:ea typeface="Calibri" pitchFamily="34" charset="-122"/>
                <a:cs typeface="Calibri" pitchFamily="34" charset="-120"/>
              </a:rPr>
              <a:t>Impact: </a:t>
            </a:r>
            <a:pPr indent="0" marL="0">
              <a:buNone/>
            </a:pPr>
            <a:r>
              <a:rPr lang="en-US" sz="850" dirty="0">
                <a:solidFill>
                  <a:srgbClr val="1E3A2E"/>
                </a:solidFill>
                <a:latin typeface="Calibri" pitchFamily="34" charset="0"/>
                <a:ea typeface="Calibri" pitchFamily="34" charset="-122"/>
                <a:cs typeface="Calibri" pitchFamily="34" charset="-120"/>
              </a:rPr>
              <a:t>Multiple Imputation and Maximum Likelihood handle MAR correctly. Listwise deletion is biased.</a:t>
            </a:r>
            <a:endParaRPr lang="en-US" sz="850" dirty="0"/>
          </a:p>
        </p:txBody>
      </p:sp>
      <p:sp>
        <p:nvSpPr>
          <p:cNvPr id="19" name="Text 17"/>
          <p:cNvSpPr/>
          <p:nvPr/>
        </p:nvSpPr>
        <p:spPr>
          <a:xfrm>
            <a:off x="3291840" y="3566160"/>
            <a:ext cx="2633472" cy="438912"/>
          </a:xfrm>
          <a:prstGeom prst="rect">
            <a:avLst/>
          </a:prstGeom>
          <a:noFill/>
          <a:ln/>
        </p:spPr>
        <p:txBody>
          <a:bodyPr wrap="square" lIns="0" tIns="0" rIns="0" bIns="0" rtlCol="0" anchor="ctr"/>
          <a:lstStyle/>
          <a:p>
            <a:pPr indent="0" marL="0">
              <a:buNone/>
            </a:pPr>
            <a:r>
              <a:rPr lang="en-US" sz="850" b="1" dirty="0">
                <a:solidFill>
                  <a:srgbClr val="E67E22"/>
                </a:solidFill>
                <a:latin typeface="Calibri" pitchFamily="34" charset="0"/>
                <a:ea typeface="Calibri" pitchFamily="34" charset="-122"/>
                <a:cs typeface="Calibri" pitchFamily="34" charset="-120"/>
              </a:rPr>
              <a:t>Detect: </a:t>
            </a:r>
            <a:pPr indent="0" marL="0">
              <a:buNone/>
            </a:pPr>
            <a:r>
              <a:rPr lang="en-US" sz="850" i="1" dirty="0">
                <a:solidFill>
                  <a:srgbClr val="64748B"/>
                </a:solidFill>
                <a:latin typeface="Calibri" pitchFamily="34" charset="0"/>
                <a:ea typeface="Calibri" pitchFamily="34" charset="-122"/>
                <a:cs typeface="Calibri" pitchFamily="34" charset="-120"/>
              </a:rPr>
              <a:t>Evidence: Run Crosstabs between a missing_indicator variable and other observed variables. Look for systematic patterns.</a:t>
            </a:r>
            <a:endParaRPr lang="en-US" sz="850" dirty="0"/>
          </a:p>
        </p:txBody>
      </p:sp>
      <p:sp>
        <p:nvSpPr>
          <p:cNvPr id="20" name="Shape 18"/>
          <p:cNvSpPr/>
          <p:nvPr/>
        </p:nvSpPr>
        <p:spPr>
          <a:xfrm>
            <a:off x="6172200" y="1024128"/>
            <a:ext cx="2834640" cy="3950208"/>
          </a:xfrm>
          <a:prstGeom prst="roundRect">
            <a:avLst>
              <a:gd name="adj" fmla="val 2903"/>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1" name="Shape 19"/>
          <p:cNvSpPr/>
          <p:nvPr/>
        </p:nvSpPr>
        <p:spPr>
          <a:xfrm>
            <a:off x="6227064" y="1078992"/>
            <a:ext cx="2724912" cy="512064"/>
          </a:xfrm>
          <a:prstGeom prst="roundRect">
            <a:avLst>
              <a:gd name="adj" fmla="val 12500"/>
            </a:avLst>
          </a:prstGeom>
          <a:solidFill>
            <a:srgbClr val="C0392B"/>
          </a:solidFill>
          <a:ln w="12700">
            <a:solidFill>
              <a:srgbClr val="C0392B"/>
            </a:solidFill>
            <a:prstDash val="solid"/>
          </a:ln>
        </p:spPr>
      </p:sp>
      <p:sp>
        <p:nvSpPr>
          <p:cNvPr id="22" name="Text 20"/>
          <p:cNvSpPr/>
          <p:nvPr/>
        </p:nvSpPr>
        <p:spPr>
          <a:xfrm>
            <a:off x="6227064" y="1078992"/>
            <a:ext cx="2724912"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MNAR</a:t>
            </a:r>
            <a:endParaRPr lang="en-US" sz="1600" dirty="0"/>
          </a:p>
        </p:txBody>
      </p:sp>
      <p:sp>
        <p:nvSpPr>
          <p:cNvPr id="23" name="Text 21"/>
          <p:cNvSpPr/>
          <p:nvPr/>
        </p:nvSpPr>
        <p:spPr>
          <a:xfrm>
            <a:off x="6227064" y="1371600"/>
            <a:ext cx="2724912" cy="20116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Missing Not at Random</a:t>
            </a:r>
            <a:endParaRPr lang="en-US" sz="900" dirty="0"/>
          </a:p>
        </p:txBody>
      </p:sp>
      <p:sp>
        <p:nvSpPr>
          <p:cNvPr id="24" name="Text 22"/>
          <p:cNvSpPr/>
          <p:nvPr/>
        </p:nvSpPr>
        <p:spPr>
          <a:xfrm>
            <a:off x="6263640" y="1664208"/>
            <a:ext cx="2633472" cy="658368"/>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The probability of missing is DIRECTLY related to the missing value itself - the reason data is missing is related to what the data would have been.</a:t>
            </a:r>
            <a:endParaRPr lang="en-US" sz="900" dirty="0"/>
          </a:p>
        </p:txBody>
      </p:sp>
      <p:sp>
        <p:nvSpPr>
          <p:cNvPr id="25" name="Text 23"/>
          <p:cNvSpPr/>
          <p:nvPr/>
        </p:nvSpPr>
        <p:spPr>
          <a:xfrm>
            <a:off x="6263640" y="2359152"/>
            <a:ext cx="2633472" cy="658368"/>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UAC Example: </a:t>
            </a:r>
            <a:pPr indent="0" marL="0">
              <a:buNone/>
            </a:pPr>
            <a:r>
              <a:rPr lang="en-US" sz="850" i="1" dirty="0">
                <a:solidFill>
                  <a:srgbClr val="1E3A2E"/>
                </a:solidFill>
                <a:latin typeface="Calibri" pitchFamily="34" charset="0"/>
                <a:ea typeface="Calibri" pitchFamily="34" charset="-122"/>
                <a:cs typeface="Calibri" pitchFamily="34" charset="-120"/>
              </a:rPr>
              <a:t>High-income UAC Foods respondents systematically refused to disclose their monthly salary because they considered it too high to reveal.</a:t>
            </a:r>
            <a:endParaRPr lang="en-US" sz="850" dirty="0"/>
          </a:p>
        </p:txBody>
      </p:sp>
      <p:sp>
        <p:nvSpPr>
          <p:cNvPr id="26" name="Text 24"/>
          <p:cNvSpPr/>
          <p:nvPr/>
        </p:nvSpPr>
        <p:spPr>
          <a:xfrm>
            <a:off x="6263640" y="3054096"/>
            <a:ext cx="2633472" cy="475488"/>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Impact: </a:t>
            </a:r>
            <a:pPr indent="0" marL="0">
              <a:buNone/>
            </a:pPr>
            <a:r>
              <a:rPr lang="en-US" sz="850" dirty="0">
                <a:solidFill>
                  <a:srgbClr val="1E3A2E"/>
                </a:solidFill>
                <a:latin typeface="Calibri" pitchFamily="34" charset="0"/>
                <a:ea typeface="Calibri" pitchFamily="34" charset="-122"/>
                <a:cs typeface="Calibri" pitchFamily="34" charset="-120"/>
              </a:rPr>
              <a:t>Most problematic. No standard statistical method fully handles MNAR. Requires sensitivity analysis and explicit discussion in research report.</a:t>
            </a:r>
            <a:endParaRPr lang="en-US" sz="850" dirty="0"/>
          </a:p>
        </p:txBody>
      </p:sp>
      <p:sp>
        <p:nvSpPr>
          <p:cNvPr id="27" name="Text 25"/>
          <p:cNvSpPr/>
          <p:nvPr/>
        </p:nvSpPr>
        <p:spPr>
          <a:xfrm>
            <a:off x="6263640" y="3566160"/>
            <a:ext cx="2633472" cy="438912"/>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Detect: </a:t>
            </a:r>
            <a:pPr indent="0" marL="0">
              <a:buNone/>
            </a:pPr>
            <a:r>
              <a:rPr lang="en-US" sz="850" i="1" dirty="0">
                <a:solidFill>
                  <a:srgbClr val="64748B"/>
                </a:solidFill>
                <a:latin typeface="Calibri" pitchFamily="34" charset="0"/>
                <a:ea typeface="Calibri" pitchFamily="34" charset="-122"/>
                <a:cs typeface="Calibri" pitchFamily="34" charset="-120"/>
              </a:rPr>
              <a:t>Cannot be directly tested from the data. Requires domain knowledge and assumption justification.</a:t>
            </a:r>
            <a:endParaRPr lang="en-US" sz="850" dirty="0"/>
          </a:p>
        </p:txBody>
      </p:sp>
      <p:sp>
        <p:nvSpPr>
          <p:cNvPr id="28" name="Shape 26"/>
          <p:cNvSpPr/>
          <p:nvPr/>
        </p:nvSpPr>
        <p:spPr>
          <a:xfrm>
            <a:off x="256032" y="5084064"/>
            <a:ext cx="8631936" cy="384048"/>
          </a:xfrm>
          <a:prstGeom prst="roundRect">
            <a:avLst>
              <a:gd name="adj" fmla="val 14286"/>
            </a:avLst>
          </a:prstGeom>
          <a:solidFill>
            <a:srgbClr val="FFFBEC"/>
          </a:solidFill>
          <a:ln w="19050">
            <a:solidFill>
              <a:srgbClr val="D4A017"/>
            </a:solidFill>
            <a:prstDash val="solid"/>
          </a:ln>
        </p:spPr>
      </p:sp>
      <p:sp>
        <p:nvSpPr>
          <p:cNvPr id="29" name="Text 27"/>
          <p:cNvSpPr/>
          <p:nvPr/>
        </p:nvSpPr>
        <p:spPr>
          <a:xfrm>
            <a:off x="384048" y="5084064"/>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Always report the amount and pattern of missing data in your Methods section. State the type of missing data you assumed (MCAR, MAR) and the handling strategy you used.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6400800" y="3200400"/>
            <a:ext cx="3657600" cy="3657600"/>
          </a:xfrm>
          <a:prstGeom prst="ellipse">
            <a:avLst/>
          </a:prstGeom>
          <a:solidFill>
            <a:srgbClr val="1A6B3C">
              <a:alpha val="16000"/>
            </a:srgbClr>
          </a:solidFill>
          <a:ln w="12700">
            <a:solidFill>
              <a:srgbClr val="1A6B3C"/>
            </a:solidFill>
            <a:prstDash val="solid"/>
          </a:ln>
        </p:spPr>
      </p:sp>
      <p:sp>
        <p:nvSpPr>
          <p:cNvPr id="3" name="Text 1"/>
          <p:cNvSpPr/>
          <p:nvPr/>
        </p:nvSpPr>
        <p:spPr>
          <a:xfrm>
            <a:off x="457200" y="201168"/>
            <a:ext cx="8229600" cy="621792"/>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Missing Value Handling Strategies in SPSS</a:t>
            </a:r>
            <a:endParaRPr lang="en-US" sz="2800" dirty="0"/>
          </a:p>
        </p:txBody>
      </p:sp>
      <p:sp>
        <p:nvSpPr>
          <p:cNvPr id="4" name="Shape 2"/>
          <p:cNvSpPr/>
          <p:nvPr/>
        </p:nvSpPr>
        <p:spPr>
          <a:xfrm>
            <a:off x="274320" y="914400"/>
            <a:ext cx="4160520" cy="1993392"/>
          </a:xfrm>
          <a:prstGeom prst="roundRect">
            <a:avLst>
              <a:gd name="adj" fmla="val 4128"/>
            </a:avLst>
          </a:prstGeom>
          <a:solidFill>
            <a:srgbClr val="0D2218"/>
          </a:solidFill>
          <a:ln w="12700">
            <a:solidFill>
              <a:srgbClr val="27AE60"/>
            </a:solidFill>
            <a:prstDash val="solid"/>
          </a:ln>
        </p:spPr>
      </p:sp>
      <p:sp>
        <p:nvSpPr>
          <p:cNvPr id="5" name="Shape 3"/>
          <p:cNvSpPr/>
          <p:nvPr/>
        </p:nvSpPr>
        <p:spPr>
          <a:xfrm>
            <a:off x="365760" y="1005840"/>
            <a:ext cx="3977640" cy="274320"/>
          </a:xfrm>
          <a:prstGeom prst="roundRect">
            <a:avLst>
              <a:gd name="adj" fmla="val 16667"/>
            </a:avLst>
          </a:prstGeom>
          <a:solidFill>
            <a:srgbClr val="27AE60"/>
          </a:solidFill>
          <a:ln w="12700">
            <a:solidFill>
              <a:srgbClr val="27AE60"/>
            </a:solidFill>
            <a:prstDash val="solid"/>
          </a:ln>
        </p:spPr>
      </p:sp>
      <p:sp>
        <p:nvSpPr>
          <p:cNvPr id="6" name="Text 4"/>
          <p:cNvSpPr/>
          <p:nvPr/>
        </p:nvSpPr>
        <p:spPr>
          <a:xfrm>
            <a:off x="365760" y="1005840"/>
            <a:ext cx="2286000" cy="274320"/>
          </a:xfrm>
          <a:prstGeom prst="rect">
            <a:avLst/>
          </a:prstGeom>
          <a:noFill/>
          <a:ln/>
        </p:spPr>
        <p:txBody>
          <a:bodyPr wrap="square" lIns="0" tIns="0" rIns="0" bIns="0" rtlCol="0" anchor="ctr"/>
          <a:lstStyle/>
          <a:p>
            <a:pPr indent="0" marL="0">
              <a:buNone/>
            </a:pPr>
            <a:r>
              <a:rPr lang="en-US" sz="1100" b="1" dirty="0">
                <a:solidFill>
                  <a:srgbClr val="0B2218"/>
                </a:solidFill>
                <a:latin typeface="Calibri" pitchFamily="34" charset="0"/>
                <a:ea typeface="Calibri" pitchFamily="34" charset="-122"/>
                <a:cs typeface="Calibri" pitchFamily="34" charset="-120"/>
              </a:rPr>
              <a:t>Listwise Deletion</a:t>
            </a:r>
            <a:endParaRPr lang="en-US" sz="1100" dirty="0"/>
          </a:p>
        </p:txBody>
      </p:sp>
      <p:sp>
        <p:nvSpPr>
          <p:cNvPr id="7" name="Text 5"/>
          <p:cNvSpPr/>
          <p:nvPr/>
        </p:nvSpPr>
        <p:spPr>
          <a:xfrm>
            <a:off x="2743200" y="1005840"/>
            <a:ext cx="1600200" cy="274320"/>
          </a:xfrm>
          <a:prstGeom prst="rect">
            <a:avLst/>
          </a:prstGeom>
          <a:noFill/>
          <a:ln/>
        </p:spPr>
        <p:txBody>
          <a:bodyPr wrap="square" lIns="0" tIns="0" rIns="0" bIns="0" rtlCol="0" anchor="ctr"/>
          <a:lstStyle/>
          <a:p>
            <a:pPr algn="r" indent="0" marL="0">
              <a:buNone/>
            </a:pPr>
            <a:r>
              <a:rPr lang="en-US" sz="850" dirty="0">
                <a:solidFill>
                  <a:srgbClr val="0B2218"/>
                </a:solidFill>
                <a:latin typeface="Calibri" pitchFamily="34" charset="0"/>
                <a:ea typeface="Calibri" pitchFamily="34" charset="-122"/>
                <a:cs typeface="Calibri" pitchFamily="34" charset="-120"/>
              </a:rPr>
              <a:t>When: MCAR, missing rate &lt; 5%</a:t>
            </a:r>
            <a:endParaRPr lang="en-US" sz="850" dirty="0"/>
          </a:p>
        </p:txBody>
      </p:sp>
      <p:sp>
        <p:nvSpPr>
          <p:cNvPr id="8" name="Text 6"/>
          <p:cNvSpPr/>
          <p:nvPr/>
        </p:nvSpPr>
        <p:spPr>
          <a:xfrm>
            <a:off x="384048" y="1335024"/>
            <a:ext cx="3913632" cy="219456"/>
          </a:xfrm>
          <a:prstGeom prst="rect">
            <a:avLst/>
          </a:prstGeom>
          <a:noFill/>
          <a:ln/>
        </p:spPr>
        <p:txBody>
          <a:bodyPr wrap="square" lIns="0" tIns="0" rIns="0" bIns="0" rtlCol="0" anchor="ctr"/>
          <a:lstStyle/>
          <a:p>
            <a:pPr indent="0" marL="0">
              <a:buNone/>
            </a:pPr>
            <a:r>
              <a:rPr lang="en-US" sz="850" i="1" dirty="0">
                <a:solidFill>
                  <a:srgbClr val="27AE60"/>
                </a:solidFill>
                <a:latin typeface="Calibri" pitchFamily="34" charset="0"/>
                <a:ea typeface="Calibri" pitchFamily="34" charset="-122"/>
                <a:cs typeface="Calibri" pitchFamily="34" charset="-120"/>
              </a:rPr>
              <a:t>Default in all SPSS procedures</a:t>
            </a:r>
            <a:endParaRPr lang="en-US" sz="850" dirty="0"/>
          </a:p>
        </p:txBody>
      </p:sp>
      <p:sp>
        <p:nvSpPr>
          <p:cNvPr id="9" name="Text 7"/>
          <p:cNvSpPr/>
          <p:nvPr/>
        </p:nvSpPr>
        <p:spPr>
          <a:xfrm>
            <a:off x="384048" y="1572768"/>
            <a:ext cx="3913632" cy="713232"/>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SPSS automatically excludes any case with a missing value on any variable used in the analysis. No action required - it is the default behaviour.</a:t>
            </a:r>
            <a:endParaRPr lang="en-US" sz="850" dirty="0"/>
          </a:p>
        </p:txBody>
      </p:sp>
      <p:sp>
        <p:nvSpPr>
          <p:cNvPr id="10" name="Text 8"/>
          <p:cNvSpPr/>
          <p:nvPr/>
        </p:nvSpPr>
        <p:spPr>
          <a:xfrm>
            <a:off x="384048" y="2322576"/>
            <a:ext cx="3913632" cy="512064"/>
          </a:xfrm>
          <a:prstGeom prst="rect">
            <a:avLst/>
          </a:prstGeom>
          <a:noFill/>
          <a:ln/>
        </p:spPr>
        <p:txBody>
          <a:bodyPr wrap="square" lIns="0" tIns="0" rIns="0" bIns="0" rtlCol="0" anchor="ctr"/>
          <a:lstStyle/>
          <a:p>
            <a:pPr indent="0" marL="0">
              <a:buNone/>
            </a:pPr>
            <a:r>
              <a:rPr lang="en-US" sz="800" b="1" dirty="0">
                <a:solidFill>
                  <a:srgbClr val="27AE60"/>
                </a:solidFill>
                <a:latin typeface="Calibri" pitchFamily="34" charset="0"/>
                <a:ea typeface="Calibri" pitchFamily="34" charset="-122"/>
                <a:cs typeface="Calibri" pitchFamily="34" charset="-120"/>
              </a:rPr>
              <a:t>Pro: </a:t>
            </a:r>
            <a:pPr indent="0" marL="0">
              <a:buNone/>
            </a:pPr>
            <a:r>
              <a:rPr lang="en-US" sz="800" dirty="0">
                <a:solidFill>
                  <a:srgbClr val="A8D4BC"/>
                </a:solidFill>
                <a:latin typeface="Calibri" pitchFamily="34" charset="0"/>
                <a:ea typeface="Calibri" pitchFamily="34" charset="-122"/>
                <a:cs typeface="Calibri" pitchFamily="34" charset="-120"/>
              </a:rPr>
              <a:t>Simple, produces unbiased estimates when MCAR. Valid N reported in output.   </a:t>
            </a:r>
            <a:pPr indent="0" marL="0">
              <a:buNone/>
            </a:pPr>
            <a:r>
              <a:rPr lang="en-US" sz="800" b="1" dirty="0">
                <a:solidFill>
                  <a:srgbClr val="C0392B"/>
                </a:solidFill>
                <a:latin typeface="Calibri" pitchFamily="34" charset="0"/>
                <a:ea typeface="Calibri" pitchFamily="34" charset="-122"/>
                <a:cs typeface="Calibri" pitchFamily="34" charset="-120"/>
              </a:rPr>
              <a:t>Con: </a:t>
            </a:r>
            <a:pPr indent="0" marL="0">
              <a:buNone/>
            </a:pPr>
            <a:r>
              <a:rPr lang="en-US" sz="800" dirty="0">
                <a:solidFill>
                  <a:srgbClr val="FFAAAA"/>
                </a:solidFill>
                <a:latin typeface="Calibri" pitchFamily="34" charset="0"/>
                <a:ea typeface="Calibri" pitchFamily="34" charset="-122"/>
                <a:cs typeface="Calibri" pitchFamily="34" charset="-120"/>
              </a:rPr>
              <a:t>Loses cases, reduces power. Biased when MAR or MNAR.</a:t>
            </a:r>
            <a:endParaRPr lang="en-US" sz="800" dirty="0"/>
          </a:p>
        </p:txBody>
      </p:sp>
      <p:sp>
        <p:nvSpPr>
          <p:cNvPr id="11" name="Shape 9"/>
          <p:cNvSpPr/>
          <p:nvPr/>
        </p:nvSpPr>
        <p:spPr>
          <a:xfrm>
            <a:off x="4736592" y="914400"/>
            <a:ext cx="4160520" cy="1993392"/>
          </a:xfrm>
          <a:prstGeom prst="roundRect">
            <a:avLst>
              <a:gd name="adj" fmla="val 4128"/>
            </a:avLst>
          </a:prstGeom>
          <a:solidFill>
            <a:srgbClr val="0D2218"/>
          </a:solidFill>
          <a:ln w="12700">
            <a:solidFill>
              <a:srgbClr val="D4A017"/>
            </a:solidFill>
            <a:prstDash val="solid"/>
          </a:ln>
        </p:spPr>
      </p:sp>
      <p:sp>
        <p:nvSpPr>
          <p:cNvPr id="12" name="Shape 10"/>
          <p:cNvSpPr/>
          <p:nvPr/>
        </p:nvSpPr>
        <p:spPr>
          <a:xfrm>
            <a:off x="4828032" y="1005840"/>
            <a:ext cx="3977640" cy="274320"/>
          </a:xfrm>
          <a:prstGeom prst="roundRect">
            <a:avLst>
              <a:gd name="adj" fmla="val 16667"/>
            </a:avLst>
          </a:prstGeom>
          <a:solidFill>
            <a:srgbClr val="D4A017"/>
          </a:solidFill>
          <a:ln w="12700">
            <a:solidFill>
              <a:srgbClr val="D4A017"/>
            </a:solidFill>
            <a:prstDash val="solid"/>
          </a:ln>
        </p:spPr>
      </p:sp>
      <p:sp>
        <p:nvSpPr>
          <p:cNvPr id="13" name="Text 11"/>
          <p:cNvSpPr/>
          <p:nvPr/>
        </p:nvSpPr>
        <p:spPr>
          <a:xfrm>
            <a:off x="4828032" y="1005840"/>
            <a:ext cx="2286000" cy="274320"/>
          </a:xfrm>
          <a:prstGeom prst="rect">
            <a:avLst/>
          </a:prstGeom>
          <a:noFill/>
          <a:ln/>
        </p:spPr>
        <p:txBody>
          <a:bodyPr wrap="square" lIns="0" tIns="0" rIns="0" bIns="0" rtlCol="0" anchor="ctr"/>
          <a:lstStyle/>
          <a:p>
            <a:pPr indent="0" marL="0">
              <a:buNone/>
            </a:pPr>
            <a:r>
              <a:rPr lang="en-US" sz="1100" b="1" dirty="0">
                <a:solidFill>
                  <a:srgbClr val="0B2218"/>
                </a:solidFill>
                <a:latin typeface="Calibri" pitchFamily="34" charset="0"/>
                <a:ea typeface="Calibri" pitchFamily="34" charset="-122"/>
                <a:cs typeface="Calibri" pitchFamily="34" charset="-120"/>
              </a:rPr>
              <a:t>Pairwise Deletion</a:t>
            </a:r>
            <a:endParaRPr lang="en-US" sz="1100" dirty="0"/>
          </a:p>
        </p:txBody>
      </p:sp>
      <p:sp>
        <p:nvSpPr>
          <p:cNvPr id="14" name="Text 12"/>
          <p:cNvSpPr/>
          <p:nvPr/>
        </p:nvSpPr>
        <p:spPr>
          <a:xfrm>
            <a:off x="7205472" y="1005840"/>
            <a:ext cx="1600200" cy="274320"/>
          </a:xfrm>
          <a:prstGeom prst="rect">
            <a:avLst/>
          </a:prstGeom>
          <a:noFill/>
          <a:ln/>
        </p:spPr>
        <p:txBody>
          <a:bodyPr wrap="square" lIns="0" tIns="0" rIns="0" bIns="0" rtlCol="0" anchor="ctr"/>
          <a:lstStyle/>
          <a:p>
            <a:pPr algn="r" indent="0" marL="0">
              <a:buNone/>
            </a:pPr>
            <a:r>
              <a:rPr lang="en-US" sz="850" dirty="0">
                <a:solidFill>
                  <a:srgbClr val="0B2218"/>
                </a:solidFill>
                <a:latin typeface="Calibri" pitchFamily="34" charset="0"/>
                <a:ea typeface="Calibri" pitchFamily="34" charset="-122"/>
                <a:cs typeface="Calibri" pitchFamily="34" charset="-120"/>
              </a:rPr>
              <a:t>When: MCAR, correlation matrices</a:t>
            </a:r>
            <a:endParaRPr lang="en-US" sz="850" dirty="0"/>
          </a:p>
        </p:txBody>
      </p:sp>
      <p:sp>
        <p:nvSpPr>
          <p:cNvPr id="15" name="Text 13"/>
          <p:cNvSpPr/>
          <p:nvPr/>
        </p:nvSpPr>
        <p:spPr>
          <a:xfrm>
            <a:off x="4846320" y="1335024"/>
            <a:ext cx="3913632" cy="219456"/>
          </a:xfrm>
          <a:prstGeom prst="rect">
            <a:avLst/>
          </a:prstGeom>
          <a:noFill/>
          <a:ln/>
        </p:spPr>
        <p:txBody>
          <a:bodyPr wrap="square" lIns="0" tIns="0" rIns="0" bIns="0" rtlCol="0" anchor="ctr"/>
          <a:lstStyle/>
          <a:p>
            <a:pPr indent="0" marL="0">
              <a:buNone/>
            </a:pPr>
            <a:r>
              <a:rPr lang="en-US" sz="850" i="1" dirty="0">
                <a:solidFill>
                  <a:srgbClr val="D4A017"/>
                </a:solidFill>
                <a:latin typeface="Calibri" pitchFamily="34" charset="0"/>
                <a:ea typeface="Calibri" pitchFamily="34" charset="-122"/>
                <a:cs typeface="Calibri" pitchFamily="34" charset="-120"/>
              </a:rPr>
              <a:t>Option in Correlations and Covariance procedures</a:t>
            </a:r>
            <a:endParaRPr lang="en-US" sz="850" dirty="0"/>
          </a:p>
        </p:txBody>
      </p:sp>
      <p:sp>
        <p:nvSpPr>
          <p:cNvPr id="16" name="Text 14"/>
          <p:cNvSpPr/>
          <p:nvPr/>
        </p:nvSpPr>
        <p:spPr>
          <a:xfrm>
            <a:off x="4846320" y="1572768"/>
            <a:ext cx="3913632" cy="713232"/>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In Analyze &gt; Correlate &gt; Bivariate, click Options &gt; Exclude cases pairwise. Uses all available data for each pair of variables, so N may differ across correlations.</a:t>
            </a:r>
            <a:endParaRPr lang="en-US" sz="850" dirty="0"/>
          </a:p>
        </p:txBody>
      </p:sp>
      <p:sp>
        <p:nvSpPr>
          <p:cNvPr id="17" name="Text 15"/>
          <p:cNvSpPr/>
          <p:nvPr/>
        </p:nvSpPr>
        <p:spPr>
          <a:xfrm>
            <a:off x="4846320" y="2322576"/>
            <a:ext cx="3913632" cy="512064"/>
          </a:xfrm>
          <a:prstGeom prst="rect">
            <a:avLst/>
          </a:prstGeom>
          <a:noFill/>
          <a:ln/>
        </p:spPr>
        <p:txBody>
          <a:bodyPr wrap="square" lIns="0" tIns="0" rIns="0" bIns="0" rtlCol="0" anchor="ctr"/>
          <a:lstStyle/>
          <a:p>
            <a:pPr indent="0" marL="0">
              <a:buNone/>
            </a:pPr>
            <a:r>
              <a:rPr lang="en-US" sz="800" b="1" dirty="0">
                <a:solidFill>
                  <a:srgbClr val="27AE60"/>
                </a:solidFill>
                <a:latin typeface="Calibri" pitchFamily="34" charset="0"/>
                <a:ea typeface="Calibri" pitchFamily="34" charset="-122"/>
                <a:cs typeface="Calibri" pitchFamily="34" charset="-120"/>
              </a:rPr>
              <a:t>Pro: </a:t>
            </a:r>
            <a:pPr indent="0" marL="0">
              <a:buNone/>
            </a:pPr>
            <a:r>
              <a:rPr lang="en-US" sz="800" dirty="0">
                <a:solidFill>
                  <a:srgbClr val="A8D4BC"/>
                </a:solidFill>
                <a:latin typeface="Calibri" pitchFamily="34" charset="0"/>
                <a:ea typeface="Calibri" pitchFamily="34" charset="-122"/>
                <a:cs typeface="Calibri" pitchFamily="34" charset="-120"/>
              </a:rPr>
              <a:t>Uses more data than listwise. Better for correlation matrices.   </a:t>
            </a:r>
            <a:pPr indent="0" marL="0">
              <a:buNone/>
            </a:pPr>
            <a:r>
              <a:rPr lang="en-US" sz="800" b="1" dirty="0">
                <a:solidFill>
                  <a:srgbClr val="C0392B"/>
                </a:solidFill>
                <a:latin typeface="Calibri" pitchFamily="34" charset="0"/>
                <a:ea typeface="Calibri" pitchFamily="34" charset="-122"/>
                <a:cs typeface="Calibri" pitchFamily="34" charset="-120"/>
              </a:rPr>
              <a:t>Con: </a:t>
            </a:r>
            <a:pPr indent="0" marL="0">
              <a:buNone/>
            </a:pPr>
            <a:r>
              <a:rPr lang="en-US" sz="800" dirty="0">
                <a:solidFill>
                  <a:srgbClr val="FFAAAA"/>
                </a:solidFill>
                <a:latin typeface="Calibri" pitchFamily="34" charset="0"/>
                <a:ea typeface="Calibri" pitchFamily="34" charset="-122"/>
                <a:cs typeface="Calibri" pitchFamily="34" charset="-120"/>
              </a:rPr>
              <a:t>Different N for different correlations - can produce non-positive definite matrices.</a:t>
            </a:r>
            <a:endParaRPr lang="en-US" sz="800" dirty="0"/>
          </a:p>
        </p:txBody>
      </p:sp>
      <p:sp>
        <p:nvSpPr>
          <p:cNvPr id="18" name="Shape 16"/>
          <p:cNvSpPr/>
          <p:nvPr/>
        </p:nvSpPr>
        <p:spPr>
          <a:xfrm>
            <a:off x="274320" y="2999232"/>
            <a:ext cx="4160520" cy="1993392"/>
          </a:xfrm>
          <a:prstGeom prst="roundRect">
            <a:avLst>
              <a:gd name="adj" fmla="val 4128"/>
            </a:avLst>
          </a:prstGeom>
          <a:solidFill>
            <a:srgbClr val="0D2218"/>
          </a:solidFill>
          <a:ln w="12700">
            <a:solidFill>
              <a:srgbClr val="E67E22"/>
            </a:solidFill>
            <a:prstDash val="solid"/>
          </a:ln>
        </p:spPr>
      </p:sp>
      <p:sp>
        <p:nvSpPr>
          <p:cNvPr id="19" name="Shape 17"/>
          <p:cNvSpPr/>
          <p:nvPr/>
        </p:nvSpPr>
        <p:spPr>
          <a:xfrm>
            <a:off x="365760" y="3090672"/>
            <a:ext cx="3977640" cy="274320"/>
          </a:xfrm>
          <a:prstGeom prst="roundRect">
            <a:avLst>
              <a:gd name="adj" fmla="val 16667"/>
            </a:avLst>
          </a:prstGeom>
          <a:solidFill>
            <a:srgbClr val="E67E22"/>
          </a:solidFill>
          <a:ln w="12700">
            <a:solidFill>
              <a:srgbClr val="E67E22"/>
            </a:solidFill>
            <a:prstDash val="solid"/>
          </a:ln>
        </p:spPr>
      </p:sp>
      <p:sp>
        <p:nvSpPr>
          <p:cNvPr id="20" name="Text 18"/>
          <p:cNvSpPr/>
          <p:nvPr/>
        </p:nvSpPr>
        <p:spPr>
          <a:xfrm>
            <a:off x="365760" y="3090672"/>
            <a:ext cx="2286000" cy="274320"/>
          </a:xfrm>
          <a:prstGeom prst="rect">
            <a:avLst/>
          </a:prstGeom>
          <a:noFill/>
          <a:ln/>
        </p:spPr>
        <p:txBody>
          <a:bodyPr wrap="square" lIns="0" tIns="0" rIns="0" bIns="0" rtlCol="0" anchor="ctr"/>
          <a:lstStyle/>
          <a:p>
            <a:pPr indent="0" marL="0">
              <a:buNone/>
            </a:pPr>
            <a:r>
              <a:rPr lang="en-US" sz="1100" b="1" dirty="0">
                <a:solidFill>
                  <a:srgbClr val="0B2218"/>
                </a:solidFill>
                <a:latin typeface="Calibri" pitchFamily="34" charset="0"/>
                <a:ea typeface="Calibri" pitchFamily="34" charset="-122"/>
                <a:cs typeface="Calibri" pitchFamily="34" charset="-120"/>
              </a:rPr>
              <a:t>Mean Substitution</a:t>
            </a:r>
            <a:endParaRPr lang="en-US" sz="1100" dirty="0"/>
          </a:p>
        </p:txBody>
      </p:sp>
      <p:sp>
        <p:nvSpPr>
          <p:cNvPr id="21" name="Text 19"/>
          <p:cNvSpPr/>
          <p:nvPr/>
        </p:nvSpPr>
        <p:spPr>
          <a:xfrm>
            <a:off x="2743200" y="3090672"/>
            <a:ext cx="1600200" cy="274320"/>
          </a:xfrm>
          <a:prstGeom prst="rect">
            <a:avLst/>
          </a:prstGeom>
          <a:noFill/>
          <a:ln/>
        </p:spPr>
        <p:txBody>
          <a:bodyPr wrap="square" lIns="0" tIns="0" rIns="0" bIns="0" rtlCol="0" anchor="ctr"/>
          <a:lstStyle/>
          <a:p>
            <a:pPr algn="r" indent="0" marL="0">
              <a:buNone/>
            </a:pPr>
            <a:r>
              <a:rPr lang="en-US" sz="850" dirty="0">
                <a:solidFill>
                  <a:srgbClr val="0B2218"/>
                </a:solidFill>
                <a:latin typeface="Calibri" pitchFamily="34" charset="0"/>
                <a:ea typeface="Calibri" pitchFamily="34" charset="-122"/>
                <a:cs typeface="Calibri" pitchFamily="34" charset="-120"/>
              </a:rPr>
              <a:t>When: MCAR, scale variables, &lt; 5% missing</a:t>
            </a:r>
            <a:endParaRPr lang="en-US" sz="850" dirty="0"/>
          </a:p>
        </p:txBody>
      </p:sp>
      <p:sp>
        <p:nvSpPr>
          <p:cNvPr id="22" name="Text 20"/>
          <p:cNvSpPr/>
          <p:nvPr/>
        </p:nvSpPr>
        <p:spPr>
          <a:xfrm>
            <a:off x="384048" y="3419856"/>
            <a:ext cx="3913632" cy="219456"/>
          </a:xfrm>
          <a:prstGeom prst="rect">
            <a:avLst/>
          </a:prstGeom>
          <a:noFill/>
          <a:ln/>
        </p:spPr>
        <p:txBody>
          <a:bodyPr wrap="square" lIns="0" tIns="0" rIns="0" bIns="0" rtlCol="0" anchor="ctr"/>
          <a:lstStyle/>
          <a:p>
            <a:pPr indent="0" marL="0">
              <a:buNone/>
            </a:pPr>
            <a:r>
              <a:rPr lang="en-US" sz="850" i="1" dirty="0">
                <a:solidFill>
                  <a:srgbClr val="E67E22"/>
                </a:solidFill>
                <a:latin typeface="Calibri" pitchFamily="34" charset="0"/>
                <a:ea typeface="Calibri" pitchFamily="34" charset="-122"/>
                <a:cs typeface="Calibri" pitchFamily="34" charset="-120"/>
              </a:rPr>
              <a:t>Transform &gt; Replace Missing Values &gt; Series Mean</a:t>
            </a:r>
            <a:endParaRPr lang="en-US" sz="850" dirty="0"/>
          </a:p>
        </p:txBody>
      </p:sp>
      <p:sp>
        <p:nvSpPr>
          <p:cNvPr id="23" name="Text 21"/>
          <p:cNvSpPr/>
          <p:nvPr/>
        </p:nvSpPr>
        <p:spPr>
          <a:xfrm>
            <a:off x="384048" y="3657600"/>
            <a:ext cx="3913632" cy="713232"/>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Transform &gt; Replace Missing Values &gt; select the variable &gt; choose Series Mean. SPSS replaces each missing value with the mean of the observed values for that variable.</a:t>
            </a:r>
            <a:endParaRPr lang="en-US" sz="850" dirty="0"/>
          </a:p>
        </p:txBody>
      </p:sp>
      <p:sp>
        <p:nvSpPr>
          <p:cNvPr id="24" name="Text 22"/>
          <p:cNvSpPr/>
          <p:nvPr/>
        </p:nvSpPr>
        <p:spPr>
          <a:xfrm>
            <a:off x="384048" y="4407408"/>
            <a:ext cx="3913632" cy="512064"/>
          </a:xfrm>
          <a:prstGeom prst="rect">
            <a:avLst/>
          </a:prstGeom>
          <a:noFill/>
          <a:ln/>
        </p:spPr>
        <p:txBody>
          <a:bodyPr wrap="square" lIns="0" tIns="0" rIns="0" bIns="0" rtlCol="0" anchor="ctr"/>
          <a:lstStyle/>
          <a:p>
            <a:pPr indent="0" marL="0">
              <a:buNone/>
            </a:pPr>
            <a:r>
              <a:rPr lang="en-US" sz="800" b="1" dirty="0">
                <a:solidFill>
                  <a:srgbClr val="27AE60"/>
                </a:solidFill>
                <a:latin typeface="Calibri" pitchFamily="34" charset="0"/>
                <a:ea typeface="Calibri" pitchFamily="34" charset="-122"/>
                <a:cs typeface="Calibri" pitchFamily="34" charset="-120"/>
              </a:rPr>
              <a:t>Pro: </a:t>
            </a:r>
            <a:pPr indent="0" marL="0">
              <a:buNone/>
            </a:pPr>
            <a:r>
              <a:rPr lang="en-US" sz="800" dirty="0">
                <a:solidFill>
                  <a:srgbClr val="A8D4BC"/>
                </a:solidFill>
                <a:latin typeface="Calibri" pitchFamily="34" charset="0"/>
                <a:ea typeface="Calibri" pitchFamily="34" charset="-122"/>
                <a:cs typeface="Calibri" pitchFamily="34" charset="-120"/>
              </a:rPr>
              <a:t>Preserves N. Simple to implement.   </a:t>
            </a:r>
            <a:pPr indent="0" marL="0">
              <a:buNone/>
            </a:pPr>
            <a:r>
              <a:rPr lang="en-US" sz="800" b="1" dirty="0">
                <a:solidFill>
                  <a:srgbClr val="C0392B"/>
                </a:solidFill>
                <a:latin typeface="Calibri" pitchFamily="34" charset="0"/>
                <a:ea typeface="Calibri" pitchFamily="34" charset="-122"/>
                <a:cs typeface="Calibri" pitchFamily="34" charset="-120"/>
              </a:rPr>
              <a:t>Con: </a:t>
            </a:r>
            <a:pPr indent="0" marL="0">
              <a:buNone/>
            </a:pPr>
            <a:r>
              <a:rPr lang="en-US" sz="800" dirty="0">
                <a:solidFill>
                  <a:srgbClr val="FFAAAA"/>
                </a:solidFill>
                <a:latin typeface="Calibri" pitchFamily="34" charset="0"/>
                <a:ea typeface="Calibri" pitchFamily="34" charset="-122"/>
                <a:cs typeface="Calibri" pitchFamily="34" charset="-120"/>
              </a:rPr>
              <a:t>Reduces variance. Distorts distributions and correlations. Not recommended for modern research.</a:t>
            </a:r>
            <a:endParaRPr lang="en-US" sz="800" dirty="0"/>
          </a:p>
        </p:txBody>
      </p:sp>
      <p:sp>
        <p:nvSpPr>
          <p:cNvPr id="25" name="Shape 23"/>
          <p:cNvSpPr/>
          <p:nvPr/>
        </p:nvSpPr>
        <p:spPr>
          <a:xfrm>
            <a:off x="4736592" y="2999232"/>
            <a:ext cx="4160520" cy="1993392"/>
          </a:xfrm>
          <a:prstGeom prst="roundRect">
            <a:avLst>
              <a:gd name="adj" fmla="val 4128"/>
            </a:avLst>
          </a:prstGeom>
          <a:solidFill>
            <a:srgbClr val="0D2218"/>
          </a:solidFill>
          <a:ln w="12700">
            <a:solidFill>
              <a:srgbClr val="0E7C7B"/>
            </a:solidFill>
            <a:prstDash val="solid"/>
          </a:ln>
        </p:spPr>
      </p:sp>
      <p:sp>
        <p:nvSpPr>
          <p:cNvPr id="26" name="Shape 24"/>
          <p:cNvSpPr/>
          <p:nvPr/>
        </p:nvSpPr>
        <p:spPr>
          <a:xfrm>
            <a:off x="4828032" y="3090672"/>
            <a:ext cx="3977640" cy="274320"/>
          </a:xfrm>
          <a:prstGeom prst="roundRect">
            <a:avLst>
              <a:gd name="adj" fmla="val 16667"/>
            </a:avLst>
          </a:prstGeom>
          <a:solidFill>
            <a:srgbClr val="0E7C7B"/>
          </a:solidFill>
          <a:ln w="12700">
            <a:solidFill>
              <a:srgbClr val="0E7C7B"/>
            </a:solidFill>
            <a:prstDash val="solid"/>
          </a:ln>
        </p:spPr>
      </p:sp>
      <p:sp>
        <p:nvSpPr>
          <p:cNvPr id="27" name="Text 25"/>
          <p:cNvSpPr/>
          <p:nvPr/>
        </p:nvSpPr>
        <p:spPr>
          <a:xfrm>
            <a:off x="4828032" y="3090672"/>
            <a:ext cx="2286000" cy="274320"/>
          </a:xfrm>
          <a:prstGeom prst="rect">
            <a:avLst/>
          </a:prstGeom>
          <a:noFill/>
          <a:ln/>
        </p:spPr>
        <p:txBody>
          <a:bodyPr wrap="square" lIns="0" tIns="0" rIns="0" bIns="0" rtlCol="0" anchor="ctr"/>
          <a:lstStyle/>
          <a:p>
            <a:pPr indent="0" marL="0">
              <a:buNone/>
            </a:pPr>
            <a:r>
              <a:rPr lang="en-US" sz="1100" b="1" dirty="0">
                <a:solidFill>
                  <a:srgbClr val="0B2218"/>
                </a:solidFill>
                <a:latin typeface="Calibri" pitchFamily="34" charset="0"/>
                <a:ea typeface="Calibri" pitchFamily="34" charset="-122"/>
                <a:cs typeface="Calibri" pitchFamily="34" charset="-120"/>
              </a:rPr>
              <a:t>Multiple Imputation (MI)</a:t>
            </a:r>
            <a:endParaRPr lang="en-US" sz="1100" dirty="0"/>
          </a:p>
        </p:txBody>
      </p:sp>
      <p:sp>
        <p:nvSpPr>
          <p:cNvPr id="28" name="Text 26"/>
          <p:cNvSpPr/>
          <p:nvPr/>
        </p:nvSpPr>
        <p:spPr>
          <a:xfrm>
            <a:off x="7205472" y="3090672"/>
            <a:ext cx="1600200" cy="274320"/>
          </a:xfrm>
          <a:prstGeom prst="rect">
            <a:avLst/>
          </a:prstGeom>
          <a:noFill/>
          <a:ln/>
        </p:spPr>
        <p:txBody>
          <a:bodyPr wrap="square" lIns="0" tIns="0" rIns="0" bIns="0" rtlCol="0" anchor="ctr"/>
          <a:lstStyle/>
          <a:p>
            <a:pPr algn="r" indent="0" marL="0">
              <a:buNone/>
            </a:pPr>
            <a:r>
              <a:rPr lang="en-US" sz="850" dirty="0">
                <a:solidFill>
                  <a:srgbClr val="0B2218"/>
                </a:solidFill>
                <a:latin typeface="Calibri" pitchFamily="34" charset="0"/>
                <a:ea typeface="Calibri" pitchFamily="34" charset="-122"/>
                <a:cs typeface="Calibri" pitchFamily="34" charset="-120"/>
              </a:rPr>
              <a:t>When: MAR data. GOLD STANDARD for modern research</a:t>
            </a:r>
            <a:endParaRPr lang="en-US" sz="850" dirty="0"/>
          </a:p>
        </p:txBody>
      </p:sp>
      <p:sp>
        <p:nvSpPr>
          <p:cNvPr id="29" name="Text 27"/>
          <p:cNvSpPr/>
          <p:nvPr/>
        </p:nvSpPr>
        <p:spPr>
          <a:xfrm>
            <a:off x="4846320" y="3419856"/>
            <a:ext cx="3913632" cy="219456"/>
          </a:xfrm>
          <a:prstGeom prst="rect">
            <a:avLst/>
          </a:prstGeom>
          <a:noFill/>
          <a:ln/>
        </p:spPr>
        <p:txBody>
          <a:bodyPr wrap="square" lIns="0" tIns="0" rIns="0" bIns="0" rtlCol="0" anchor="ctr"/>
          <a:lstStyle/>
          <a:p>
            <a:pPr indent="0" marL="0">
              <a:buNone/>
            </a:pPr>
            <a:r>
              <a:rPr lang="en-US" sz="850" i="1" dirty="0">
                <a:solidFill>
                  <a:srgbClr val="0E7C7B"/>
                </a:solidFill>
                <a:latin typeface="Calibri" pitchFamily="34" charset="0"/>
                <a:ea typeface="Calibri" pitchFamily="34" charset="-122"/>
                <a:cs typeface="Calibri" pitchFamily="34" charset="-120"/>
              </a:rPr>
              <a:t>Analyze &gt; Multiple Imputation &gt; Impute Missing Data Values</a:t>
            </a:r>
            <a:endParaRPr lang="en-US" sz="850" dirty="0"/>
          </a:p>
        </p:txBody>
      </p:sp>
      <p:sp>
        <p:nvSpPr>
          <p:cNvPr id="30" name="Text 28"/>
          <p:cNvSpPr/>
          <p:nvPr/>
        </p:nvSpPr>
        <p:spPr>
          <a:xfrm>
            <a:off x="4846320" y="3657600"/>
            <a:ext cx="3913632" cy="713232"/>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SPSS creates M complete datasets (typically 5-20), each with slightly different plausible replacement values. All analyses run on each dataset separately. Results pooled using Rubin's Rules automatically.</a:t>
            </a:r>
            <a:endParaRPr lang="en-US" sz="850" dirty="0"/>
          </a:p>
        </p:txBody>
      </p:sp>
      <p:sp>
        <p:nvSpPr>
          <p:cNvPr id="31" name="Text 29"/>
          <p:cNvSpPr/>
          <p:nvPr/>
        </p:nvSpPr>
        <p:spPr>
          <a:xfrm>
            <a:off x="4846320" y="4407408"/>
            <a:ext cx="3913632" cy="512064"/>
          </a:xfrm>
          <a:prstGeom prst="rect">
            <a:avLst/>
          </a:prstGeom>
          <a:noFill/>
          <a:ln/>
        </p:spPr>
        <p:txBody>
          <a:bodyPr wrap="square" lIns="0" tIns="0" rIns="0" bIns="0" rtlCol="0" anchor="ctr"/>
          <a:lstStyle/>
          <a:p>
            <a:pPr indent="0" marL="0">
              <a:buNone/>
            </a:pPr>
            <a:r>
              <a:rPr lang="en-US" sz="800" b="1" dirty="0">
                <a:solidFill>
                  <a:srgbClr val="27AE60"/>
                </a:solidFill>
                <a:latin typeface="Calibri" pitchFamily="34" charset="0"/>
                <a:ea typeface="Calibri" pitchFamily="34" charset="-122"/>
                <a:cs typeface="Calibri" pitchFamily="34" charset="-120"/>
              </a:rPr>
              <a:t>Pro: </a:t>
            </a:r>
            <a:pPr indent="0" marL="0">
              <a:buNone/>
            </a:pPr>
            <a:r>
              <a:rPr lang="en-US" sz="800" dirty="0">
                <a:solidFill>
                  <a:srgbClr val="A8D4BC"/>
                </a:solidFill>
                <a:latin typeface="Calibri" pitchFamily="34" charset="0"/>
                <a:ea typeface="Calibri" pitchFamily="34" charset="-122"/>
                <a:cs typeface="Calibri" pitchFamily="34" charset="-120"/>
              </a:rPr>
              <a:t>Statistically valid for MAR. Accounts for uncertainty in missing values. Required by many journals.   </a:t>
            </a:r>
            <a:pPr indent="0" marL="0">
              <a:buNone/>
            </a:pPr>
            <a:r>
              <a:rPr lang="en-US" sz="800" b="1" dirty="0">
                <a:solidFill>
                  <a:srgbClr val="C0392B"/>
                </a:solidFill>
                <a:latin typeface="Calibri" pitchFamily="34" charset="0"/>
                <a:ea typeface="Calibri" pitchFamily="34" charset="-122"/>
                <a:cs typeface="Calibri" pitchFamily="34" charset="-120"/>
              </a:rPr>
              <a:t>Con: </a:t>
            </a:r>
            <a:pPr indent="0" marL="0">
              <a:buNone/>
            </a:pPr>
            <a:r>
              <a:rPr lang="en-US" sz="800" dirty="0">
                <a:solidFill>
                  <a:srgbClr val="FFAAAA"/>
                </a:solidFill>
                <a:latin typeface="Calibri" pitchFamily="34" charset="0"/>
                <a:ea typeface="Calibri" pitchFamily="34" charset="-122"/>
                <a:cs typeface="Calibri" pitchFamily="34" charset="-120"/>
              </a:rPr>
              <a:t>Complex setup. Interpretation requires understanding of pooled results.</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A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6B3C"/>
          </a:solidFill>
          <a:ln w="12700">
            <a:solidFill>
              <a:srgbClr val="1A6B3C"/>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Replace Missing Values - Transform &gt; Replace Missing Values</a:t>
            </a:r>
            <a:endParaRPr lang="en-US" sz="2200" dirty="0"/>
          </a:p>
        </p:txBody>
      </p:sp>
      <p:sp>
        <p:nvSpPr>
          <p:cNvPr id="4" name="Text 2"/>
          <p:cNvSpPr/>
          <p:nvPr/>
        </p:nvSpPr>
        <p:spPr>
          <a:xfrm>
            <a:off x="365760" y="1024128"/>
            <a:ext cx="8412480" cy="438912"/>
          </a:xfrm>
          <a:prstGeom prst="rect">
            <a:avLst/>
          </a:prstGeom>
          <a:noFill/>
          <a:ln/>
        </p:spPr>
        <p:txBody>
          <a:bodyPr wrap="square" lIns="0" tIns="0" rIns="0" bIns="0" rtlCol="0" anchor="ctr"/>
          <a:lstStyle/>
          <a:p>
            <a:pPr indent="0" marL="0">
              <a:buNone/>
            </a:pPr>
            <a:r>
              <a:rPr lang="en-US" sz="1100" dirty="0">
                <a:solidFill>
                  <a:srgbClr val="1E3A2E"/>
                </a:solidFill>
                <a:latin typeface="Calibri" pitchFamily="34" charset="0"/>
                <a:ea typeface="Calibri" pitchFamily="34" charset="-122"/>
                <a:cs typeface="Calibri" pitchFamily="34" charset="-120"/>
              </a:rPr>
              <a:t>The Replace Missing Values command is used for TIME SERIES and LONGITUDINAL data where the sequence of values matters. For cross-sectional survey data, use Multiple Imputation instead.</a:t>
            </a:r>
            <a:endParaRPr lang="en-US" sz="1100" dirty="0"/>
          </a:p>
        </p:txBody>
      </p:sp>
      <p:sp>
        <p:nvSpPr>
          <p:cNvPr id="5" name="Shape 3"/>
          <p:cNvSpPr/>
          <p:nvPr/>
        </p:nvSpPr>
        <p:spPr>
          <a:xfrm>
            <a:off x="228600" y="1572768"/>
            <a:ext cx="2834640" cy="1444752"/>
          </a:xfrm>
          <a:prstGeom prst="roundRect">
            <a:avLst>
              <a:gd name="adj" fmla="val 5063"/>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6" name="Shape 4"/>
          <p:cNvSpPr/>
          <p:nvPr/>
        </p:nvSpPr>
        <p:spPr>
          <a:xfrm>
            <a:off x="283464" y="1627632"/>
            <a:ext cx="2724912" cy="274320"/>
          </a:xfrm>
          <a:prstGeom prst="roundRect">
            <a:avLst>
              <a:gd name="adj" fmla="val 16667"/>
            </a:avLst>
          </a:prstGeom>
          <a:solidFill>
            <a:srgbClr val="1A6B3C"/>
          </a:solidFill>
          <a:ln w="12700">
            <a:solidFill>
              <a:srgbClr val="1A6B3C"/>
            </a:solidFill>
            <a:prstDash val="solid"/>
          </a:ln>
        </p:spPr>
      </p:sp>
      <p:sp>
        <p:nvSpPr>
          <p:cNvPr id="7" name="Text 5"/>
          <p:cNvSpPr/>
          <p:nvPr/>
        </p:nvSpPr>
        <p:spPr>
          <a:xfrm>
            <a:off x="283464" y="1627632"/>
            <a:ext cx="272491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Series Mean</a:t>
            </a:r>
            <a:endParaRPr lang="en-US" sz="1050" dirty="0"/>
          </a:p>
        </p:txBody>
      </p:sp>
      <p:sp>
        <p:nvSpPr>
          <p:cNvPr id="8" name="Text 6"/>
          <p:cNvSpPr/>
          <p:nvPr/>
        </p:nvSpPr>
        <p:spPr>
          <a:xfrm>
            <a:off x="320040" y="1956816"/>
            <a:ext cx="2633472" cy="658368"/>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Replaces each missing value with the mean of ALL valid values for that variable. Simplest option.</a:t>
            </a:r>
            <a:endParaRPr lang="en-US" sz="950" dirty="0"/>
          </a:p>
        </p:txBody>
      </p:sp>
      <p:sp>
        <p:nvSpPr>
          <p:cNvPr id="9" name="Text 7"/>
          <p:cNvSpPr/>
          <p:nvPr/>
        </p:nvSpPr>
        <p:spPr>
          <a:xfrm>
            <a:off x="320040" y="2651760"/>
            <a:ext cx="2633472" cy="310896"/>
          </a:xfrm>
          <a:prstGeom prst="rect">
            <a:avLst/>
          </a:prstGeom>
          <a:noFill/>
          <a:ln/>
        </p:spPr>
        <p:txBody>
          <a:bodyPr wrap="square" lIns="0" tIns="0" rIns="0" bIns="0" rtlCol="0" anchor="ctr"/>
          <a:lstStyle/>
          <a:p>
            <a:pPr indent="0" marL="0">
              <a:buNone/>
            </a:pPr>
            <a:r>
              <a:rPr lang="en-US" sz="850" i="1" dirty="0">
                <a:solidFill>
                  <a:srgbClr val="1A6B3C"/>
                </a:solidFill>
                <a:latin typeface="Calibri" pitchFamily="34" charset="0"/>
                <a:ea typeface="Calibri" pitchFamily="34" charset="-122"/>
                <a:cs typeface="Calibri" pitchFamily="34" charset="-120"/>
              </a:rPr>
              <a:t>Use when: Cross-sectional scale variables with MCAR, &lt; 5% missing</a:t>
            </a:r>
            <a:endParaRPr lang="en-US" sz="850" dirty="0"/>
          </a:p>
        </p:txBody>
      </p:sp>
      <p:sp>
        <p:nvSpPr>
          <p:cNvPr id="10" name="Shape 8"/>
          <p:cNvSpPr/>
          <p:nvPr/>
        </p:nvSpPr>
        <p:spPr>
          <a:xfrm>
            <a:off x="3200400" y="1572768"/>
            <a:ext cx="2834640" cy="1444752"/>
          </a:xfrm>
          <a:prstGeom prst="roundRect">
            <a:avLst>
              <a:gd name="adj" fmla="val 5063"/>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3255264" y="1627632"/>
            <a:ext cx="2724912" cy="274320"/>
          </a:xfrm>
          <a:prstGeom prst="roundRect">
            <a:avLst>
              <a:gd name="adj" fmla="val 16667"/>
            </a:avLst>
          </a:prstGeom>
          <a:solidFill>
            <a:srgbClr val="0E7C7B"/>
          </a:solidFill>
          <a:ln w="12700">
            <a:solidFill>
              <a:srgbClr val="0E7C7B"/>
            </a:solidFill>
            <a:prstDash val="solid"/>
          </a:ln>
        </p:spPr>
      </p:sp>
      <p:sp>
        <p:nvSpPr>
          <p:cNvPr id="12" name="Text 10"/>
          <p:cNvSpPr/>
          <p:nvPr/>
        </p:nvSpPr>
        <p:spPr>
          <a:xfrm>
            <a:off x="3255264" y="1627632"/>
            <a:ext cx="272491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Mean of Nearby Points</a:t>
            </a:r>
            <a:endParaRPr lang="en-US" sz="1050" dirty="0"/>
          </a:p>
        </p:txBody>
      </p:sp>
      <p:sp>
        <p:nvSpPr>
          <p:cNvPr id="13" name="Text 11"/>
          <p:cNvSpPr/>
          <p:nvPr/>
        </p:nvSpPr>
        <p:spPr>
          <a:xfrm>
            <a:off x="3291840" y="1956816"/>
            <a:ext cx="2633472" cy="658368"/>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Replaces missing value with the mean of the N cases immediately before and after it in sequence.</a:t>
            </a:r>
            <a:endParaRPr lang="en-US" sz="950" dirty="0"/>
          </a:p>
        </p:txBody>
      </p:sp>
      <p:sp>
        <p:nvSpPr>
          <p:cNvPr id="14" name="Text 12"/>
          <p:cNvSpPr/>
          <p:nvPr/>
        </p:nvSpPr>
        <p:spPr>
          <a:xfrm>
            <a:off x="3291840" y="2651760"/>
            <a:ext cx="2633472" cy="310896"/>
          </a:xfrm>
          <a:prstGeom prst="rect">
            <a:avLst/>
          </a:prstGeom>
          <a:noFill/>
          <a:ln/>
        </p:spPr>
        <p:txBody>
          <a:bodyPr wrap="square" lIns="0" tIns="0" rIns="0" bIns="0" rtlCol="0" anchor="ctr"/>
          <a:lstStyle/>
          <a:p>
            <a:pPr indent="0" marL="0">
              <a:buNone/>
            </a:pPr>
            <a:r>
              <a:rPr lang="en-US" sz="850" i="1" dirty="0">
                <a:solidFill>
                  <a:srgbClr val="0E7C7B"/>
                </a:solidFill>
                <a:latin typeface="Calibri" pitchFamily="34" charset="0"/>
                <a:ea typeface="Calibri" pitchFamily="34" charset="-122"/>
                <a:cs typeface="Calibri" pitchFamily="34" charset="-120"/>
              </a:rPr>
              <a:t>Use when: Time series data where nearby values are similar to the missing one</a:t>
            </a:r>
            <a:endParaRPr lang="en-US" sz="850" dirty="0"/>
          </a:p>
        </p:txBody>
      </p:sp>
      <p:sp>
        <p:nvSpPr>
          <p:cNvPr id="15" name="Shape 13"/>
          <p:cNvSpPr/>
          <p:nvPr/>
        </p:nvSpPr>
        <p:spPr>
          <a:xfrm>
            <a:off x="6172200" y="1572768"/>
            <a:ext cx="2834640" cy="1444752"/>
          </a:xfrm>
          <a:prstGeom prst="roundRect">
            <a:avLst>
              <a:gd name="adj" fmla="val 5063"/>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6" name="Shape 14"/>
          <p:cNvSpPr/>
          <p:nvPr/>
        </p:nvSpPr>
        <p:spPr>
          <a:xfrm>
            <a:off x="6227064" y="1627632"/>
            <a:ext cx="2724912" cy="274320"/>
          </a:xfrm>
          <a:prstGeom prst="roundRect">
            <a:avLst>
              <a:gd name="adj" fmla="val 16667"/>
            </a:avLst>
          </a:prstGeom>
          <a:solidFill>
            <a:srgbClr val="1B5CA0"/>
          </a:solidFill>
          <a:ln w="12700">
            <a:solidFill>
              <a:srgbClr val="1B5CA0"/>
            </a:solidFill>
            <a:prstDash val="solid"/>
          </a:ln>
        </p:spPr>
      </p:sp>
      <p:sp>
        <p:nvSpPr>
          <p:cNvPr id="17" name="Text 15"/>
          <p:cNvSpPr/>
          <p:nvPr/>
        </p:nvSpPr>
        <p:spPr>
          <a:xfrm>
            <a:off x="6227064" y="1627632"/>
            <a:ext cx="272491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Median of Nearby Points</a:t>
            </a:r>
            <a:endParaRPr lang="en-US" sz="1050" dirty="0"/>
          </a:p>
        </p:txBody>
      </p:sp>
      <p:sp>
        <p:nvSpPr>
          <p:cNvPr id="18" name="Text 16"/>
          <p:cNvSpPr/>
          <p:nvPr/>
        </p:nvSpPr>
        <p:spPr>
          <a:xfrm>
            <a:off x="6263640" y="1956816"/>
            <a:ext cx="2633472" cy="658368"/>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Like Mean of Nearby Points but uses the median - more robust to outliers in the nearby cases.</a:t>
            </a:r>
            <a:endParaRPr lang="en-US" sz="950" dirty="0"/>
          </a:p>
        </p:txBody>
      </p:sp>
      <p:sp>
        <p:nvSpPr>
          <p:cNvPr id="19" name="Text 17"/>
          <p:cNvSpPr/>
          <p:nvPr/>
        </p:nvSpPr>
        <p:spPr>
          <a:xfrm>
            <a:off x="6263640" y="2651760"/>
            <a:ext cx="2633472" cy="310896"/>
          </a:xfrm>
          <a:prstGeom prst="rect">
            <a:avLst/>
          </a:prstGeom>
          <a:noFill/>
          <a:ln/>
        </p:spPr>
        <p:txBody>
          <a:bodyPr wrap="square" lIns="0" tIns="0" rIns="0" bIns="0" rtlCol="0" anchor="ctr"/>
          <a:lstStyle/>
          <a:p>
            <a:pPr indent="0" marL="0">
              <a:buNone/>
            </a:pPr>
            <a:r>
              <a:rPr lang="en-US" sz="850" i="1" dirty="0">
                <a:solidFill>
                  <a:srgbClr val="1B5CA0"/>
                </a:solidFill>
                <a:latin typeface="Calibri" pitchFamily="34" charset="0"/>
                <a:ea typeface="Calibri" pitchFamily="34" charset="-122"/>
                <a:cs typeface="Calibri" pitchFamily="34" charset="-120"/>
              </a:rPr>
              <a:t>Use when: Time series with outliers in surrounding values</a:t>
            </a:r>
            <a:endParaRPr lang="en-US" sz="850" dirty="0"/>
          </a:p>
        </p:txBody>
      </p:sp>
      <p:sp>
        <p:nvSpPr>
          <p:cNvPr id="20" name="Shape 18"/>
          <p:cNvSpPr/>
          <p:nvPr/>
        </p:nvSpPr>
        <p:spPr>
          <a:xfrm>
            <a:off x="228600" y="3108960"/>
            <a:ext cx="2834640" cy="1444752"/>
          </a:xfrm>
          <a:prstGeom prst="roundRect">
            <a:avLst>
              <a:gd name="adj" fmla="val 5063"/>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1" name="Shape 19"/>
          <p:cNvSpPr/>
          <p:nvPr/>
        </p:nvSpPr>
        <p:spPr>
          <a:xfrm>
            <a:off x="283464" y="3163824"/>
            <a:ext cx="2724912" cy="274320"/>
          </a:xfrm>
          <a:prstGeom prst="roundRect">
            <a:avLst>
              <a:gd name="adj" fmla="val 16667"/>
            </a:avLst>
          </a:prstGeom>
          <a:solidFill>
            <a:srgbClr val="E67E22"/>
          </a:solidFill>
          <a:ln w="12700">
            <a:solidFill>
              <a:srgbClr val="E67E22"/>
            </a:solidFill>
            <a:prstDash val="solid"/>
          </a:ln>
        </p:spPr>
      </p:sp>
      <p:sp>
        <p:nvSpPr>
          <p:cNvPr id="22" name="Text 20"/>
          <p:cNvSpPr/>
          <p:nvPr/>
        </p:nvSpPr>
        <p:spPr>
          <a:xfrm>
            <a:off x="283464" y="3163824"/>
            <a:ext cx="272491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Linear Interpolation</a:t>
            </a:r>
            <a:endParaRPr lang="en-US" sz="1050" dirty="0"/>
          </a:p>
        </p:txBody>
      </p:sp>
      <p:sp>
        <p:nvSpPr>
          <p:cNvPr id="23" name="Text 21"/>
          <p:cNvSpPr/>
          <p:nvPr/>
        </p:nvSpPr>
        <p:spPr>
          <a:xfrm>
            <a:off x="320040" y="3493008"/>
            <a:ext cx="2633472" cy="658368"/>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Calculates the missing value by linear interpolation between the last valid value before and the first valid value after the missing point.</a:t>
            </a:r>
            <a:endParaRPr lang="en-US" sz="950" dirty="0"/>
          </a:p>
        </p:txBody>
      </p:sp>
      <p:sp>
        <p:nvSpPr>
          <p:cNvPr id="24" name="Text 22"/>
          <p:cNvSpPr/>
          <p:nvPr/>
        </p:nvSpPr>
        <p:spPr>
          <a:xfrm>
            <a:off x="320040" y="4187952"/>
            <a:ext cx="2633472" cy="310896"/>
          </a:xfrm>
          <a:prstGeom prst="rect">
            <a:avLst/>
          </a:prstGeom>
          <a:noFill/>
          <a:ln/>
        </p:spPr>
        <p:txBody>
          <a:bodyPr wrap="square" lIns="0" tIns="0" rIns="0" bIns="0" rtlCol="0" anchor="ctr"/>
          <a:lstStyle/>
          <a:p>
            <a:pPr indent="0" marL="0">
              <a:buNone/>
            </a:pPr>
            <a:r>
              <a:rPr lang="en-US" sz="850" i="1" dirty="0">
                <a:solidFill>
                  <a:srgbClr val="E67E22"/>
                </a:solidFill>
                <a:latin typeface="Calibri" pitchFamily="34" charset="0"/>
                <a:ea typeface="Calibri" pitchFamily="34" charset="-122"/>
                <a:cs typeface="Calibri" pitchFamily="34" charset="-120"/>
              </a:rPr>
              <a:t>Use when: Trend data where values change smoothly over time</a:t>
            </a:r>
            <a:endParaRPr lang="en-US" sz="850" dirty="0"/>
          </a:p>
        </p:txBody>
      </p:sp>
      <p:sp>
        <p:nvSpPr>
          <p:cNvPr id="25" name="Shape 23"/>
          <p:cNvSpPr/>
          <p:nvPr/>
        </p:nvSpPr>
        <p:spPr>
          <a:xfrm>
            <a:off x="3200400" y="3108960"/>
            <a:ext cx="2834640" cy="1444752"/>
          </a:xfrm>
          <a:prstGeom prst="roundRect">
            <a:avLst>
              <a:gd name="adj" fmla="val 5063"/>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6" name="Shape 24"/>
          <p:cNvSpPr/>
          <p:nvPr/>
        </p:nvSpPr>
        <p:spPr>
          <a:xfrm>
            <a:off x="3255264" y="3163824"/>
            <a:ext cx="2724912" cy="274320"/>
          </a:xfrm>
          <a:prstGeom prst="roundRect">
            <a:avLst>
              <a:gd name="adj" fmla="val 16667"/>
            </a:avLst>
          </a:prstGeom>
          <a:solidFill>
            <a:srgbClr val="5B2D8E"/>
          </a:solidFill>
          <a:ln w="12700">
            <a:solidFill>
              <a:srgbClr val="5B2D8E"/>
            </a:solidFill>
            <a:prstDash val="solid"/>
          </a:ln>
        </p:spPr>
      </p:sp>
      <p:sp>
        <p:nvSpPr>
          <p:cNvPr id="27" name="Text 25"/>
          <p:cNvSpPr/>
          <p:nvPr/>
        </p:nvSpPr>
        <p:spPr>
          <a:xfrm>
            <a:off x="3255264" y="3163824"/>
            <a:ext cx="272491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Linear Trend at Point</a:t>
            </a:r>
            <a:endParaRPr lang="en-US" sz="1050" dirty="0"/>
          </a:p>
        </p:txBody>
      </p:sp>
      <p:sp>
        <p:nvSpPr>
          <p:cNvPr id="28" name="Text 26"/>
          <p:cNvSpPr/>
          <p:nvPr/>
        </p:nvSpPr>
        <p:spPr>
          <a:xfrm>
            <a:off x="3291840" y="3493008"/>
            <a:ext cx="2633472" cy="658368"/>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Fits a linear trend to the entire series and uses the trend line value at the missing point.</a:t>
            </a:r>
            <a:endParaRPr lang="en-US" sz="950" dirty="0"/>
          </a:p>
        </p:txBody>
      </p:sp>
      <p:sp>
        <p:nvSpPr>
          <p:cNvPr id="29" name="Text 27"/>
          <p:cNvSpPr/>
          <p:nvPr/>
        </p:nvSpPr>
        <p:spPr>
          <a:xfrm>
            <a:off x="3291840" y="4187952"/>
            <a:ext cx="2633472" cy="310896"/>
          </a:xfrm>
          <a:prstGeom prst="rect">
            <a:avLst/>
          </a:prstGeom>
          <a:noFill/>
          <a:ln/>
        </p:spPr>
        <p:txBody>
          <a:bodyPr wrap="square" lIns="0" tIns="0" rIns="0" bIns="0" rtlCol="0" anchor="ctr"/>
          <a:lstStyle/>
          <a:p>
            <a:pPr indent="0" marL="0">
              <a:buNone/>
            </a:pPr>
            <a:r>
              <a:rPr lang="en-US" sz="850" i="1" dirty="0">
                <a:solidFill>
                  <a:srgbClr val="5B2D8E"/>
                </a:solidFill>
                <a:latin typeface="Calibri" pitchFamily="34" charset="0"/>
                <a:ea typeface="Calibri" pitchFamily="34" charset="-122"/>
                <a:cs typeface="Calibri" pitchFamily="34" charset="-120"/>
              </a:rPr>
              <a:t>Use when: Data with a strong overall linear trend across the time period</a:t>
            </a:r>
            <a:endParaRPr lang="en-US" sz="850" dirty="0"/>
          </a:p>
        </p:txBody>
      </p:sp>
      <p:sp>
        <p:nvSpPr>
          <p:cNvPr id="30" name="Shape 28"/>
          <p:cNvSpPr/>
          <p:nvPr/>
        </p:nvSpPr>
        <p:spPr>
          <a:xfrm>
            <a:off x="256032" y="4096512"/>
            <a:ext cx="4114800" cy="1051560"/>
          </a:xfrm>
          <a:prstGeom prst="roundRect">
            <a:avLst>
              <a:gd name="adj" fmla="val 8696"/>
            </a:avLst>
          </a:prstGeom>
          <a:solidFill>
            <a:srgbClr val="0A1A12"/>
          </a:solidFill>
          <a:ln w="12700">
            <a:solidFill>
              <a:srgbClr val="27AE60"/>
            </a:solidFill>
            <a:prstDash val="solid"/>
          </a:ln>
          <a:effectLst>
            <a:outerShdw sx="100000" sy="100000" kx="0" ky="0" algn="bl" rotWithShape="0" blurRad="76200" dist="25400" dir="2700000">
              <a:srgbClr val="000000">
                <a:alpha val="12000"/>
              </a:srgbClr>
            </a:outerShdw>
          </a:effectLst>
        </p:spPr>
      </p:sp>
      <p:sp>
        <p:nvSpPr>
          <p:cNvPr id="31" name="Text 29"/>
          <p:cNvSpPr/>
          <p:nvPr/>
        </p:nvSpPr>
        <p:spPr>
          <a:xfrm>
            <a:off x="384048" y="4187952"/>
            <a:ext cx="3931920" cy="256032"/>
          </a:xfrm>
          <a:prstGeom prst="rect">
            <a:avLst/>
          </a:prstGeom>
          <a:noFill/>
          <a:ln/>
        </p:spPr>
        <p:txBody>
          <a:bodyPr wrap="square" lIns="0" tIns="0" rIns="0" bIns="0" rtlCol="0" anchor="ctr"/>
          <a:lstStyle/>
          <a:p>
            <a:pPr indent="0" marL="0">
              <a:buNone/>
            </a:pPr>
            <a:r>
              <a:rPr lang="en-US" sz="950" b="1" dirty="0">
                <a:solidFill>
                  <a:srgbClr val="F0C040"/>
                </a:solidFill>
                <a:latin typeface="Calibri" pitchFamily="34" charset="0"/>
                <a:ea typeface="Calibri" pitchFamily="34" charset="-122"/>
                <a:cs typeface="Calibri" pitchFamily="34" charset="-120"/>
              </a:rPr>
              <a:t>Replace Missing Values - Syntax:</a:t>
            </a:r>
            <a:endParaRPr lang="en-US" sz="950" dirty="0"/>
          </a:p>
        </p:txBody>
      </p:sp>
      <p:sp>
        <p:nvSpPr>
          <p:cNvPr id="32" name="Text 30"/>
          <p:cNvSpPr/>
          <p:nvPr/>
        </p:nvSpPr>
        <p:spPr>
          <a:xfrm>
            <a:off x="384048" y="4498848"/>
            <a:ext cx="3913632"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Replace missing salary values with series mean.</a:t>
            </a:r>
            <a:endParaRPr lang="en-US" sz="850" dirty="0"/>
          </a:p>
        </p:txBody>
      </p:sp>
      <p:sp>
        <p:nvSpPr>
          <p:cNvPr id="33" name="Text 31"/>
          <p:cNvSpPr/>
          <p:nvPr/>
        </p:nvSpPr>
        <p:spPr>
          <a:xfrm>
            <a:off x="384048" y="4681728"/>
            <a:ext cx="3913632"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RMV monthly_salary_new=SMEAN(monthly_salary_ngn).</a:t>
            </a:r>
            <a:endParaRPr lang="en-US" sz="850" dirty="0"/>
          </a:p>
        </p:txBody>
      </p:sp>
      <p:sp>
        <p:nvSpPr>
          <p:cNvPr id="34" name="Text 32"/>
          <p:cNvSpPr/>
          <p:nvPr/>
        </p:nvSpPr>
        <p:spPr>
          <a:xfrm>
            <a:off x="384048" y="4864608"/>
            <a:ext cx="3913632" cy="182880"/>
          </a:xfrm>
          <a:prstGeom prst="rect">
            <a:avLst/>
          </a:prstGeom>
          <a:noFill/>
          <a:ln/>
        </p:spPr>
        <p:txBody>
          <a:bodyPr wrap="square" lIns="0" tIns="0" rIns="0" bIns="0" rtlCol="0" anchor="ctr"/>
          <a:lstStyle/>
          <a:p>
            <a:pPr indent="0" marL="0">
              <a:buNone/>
            </a:pPr>
            <a:r>
              <a:rPr lang="en-US" sz="850" dirty="0">
                <a:solidFill>
                  <a:srgbClr val="569CD6"/>
                </a:solidFill>
                <a:latin typeface="Courier New" pitchFamily="34" charset="0"/>
                <a:ea typeface="Courier New" pitchFamily="34" charset="-122"/>
                <a:cs typeface="Courier New" pitchFamily="34" charset="-120"/>
              </a:rPr>
              <a:t>EXECUTE.</a:t>
            </a:r>
            <a:endParaRPr lang="en-US" sz="850" dirty="0"/>
          </a:p>
        </p:txBody>
      </p:sp>
      <p:sp>
        <p:nvSpPr>
          <p:cNvPr id="35" name="Shape 33"/>
          <p:cNvSpPr/>
          <p:nvPr/>
        </p:nvSpPr>
        <p:spPr>
          <a:xfrm>
            <a:off x="4663440" y="4096512"/>
            <a:ext cx="4187952" cy="1051560"/>
          </a:xfrm>
          <a:prstGeom prst="roundRect">
            <a:avLst>
              <a:gd name="adj" fmla="val 8696"/>
            </a:avLst>
          </a:prstGeom>
          <a:solidFill>
            <a:srgbClr val="0A1A12"/>
          </a:solidFill>
          <a:ln w="12700">
            <a:solidFill>
              <a:srgbClr val="27AE60"/>
            </a:solidFill>
            <a:prstDash val="solid"/>
          </a:ln>
          <a:effectLst>
            <a:outerShdw sx="100000" sy="100000" kx="0" ky="0" algn="bl" rotWithShape="0" blurRad="76200" dist="25400" dir="2700000">
              <a:srgbClr val="000000">
                <a:alpha val="12000"/>
              </a:srgbClr>
            </a:outerShdw>
          </a:effectLst>
        </p:spPr>
      </p:sp>
      <p:sp>
        <p:nvSpPr>
          <p:cNvPr id="36" name="Text 34"/>
          <p:cNvSpPr/>
          <p:nvPr/>
        </p:nvSpPr>
        <p:spPr>
          <a:xfrm>
            <a:off x="4791456" y="4187952"/>
            <a:ext cx="4005072" cy="256032"/>
          </a:xfrm>
          <a:prstGeom prst="rect">
            <a:avLst/>
          </a:prstGeom>
          <a:noFill/>
          <a:ln/>
        </p:spPr>
        <p:txBody>
          <a:bodyPr wrap="square" lIns="0" tIns="0" rIns="0" bIns="0" rtlCol="0" anchor="ctr"/>
          <a:lstStyle/>
          <a:p>
            <a:pPr indent="0" marL="0">
              <a:buNone/>
            </a:pPr>
            <a:r>
              <a:rPr lang="en-US" sz="950" b="1" dirty="0">
                <a:solidFill>
                  <a:srgbClr val="F0C040"/>
                </a:solidFill>
                <a:latin typeface="Calibri" pitchFamily="34" charset="0"/>
                <a:ea typeface="Calibri" pitchFamily="34" charset="-122"/>
                <a:cs typeface="Calibri" pitchFamily="34" charset="-120"/>
              </a:rPr>
              <a:t>Missing Value Analysis - Syntax:</a:t>
            </a:r>
            <a:endParaRPr lang="en-US" sz="950" dirty="0"/>
          </a:p>
        </p:txBody>
      </p:sp>
      <p:sp>
        <p:nvSpPr>
          <p:cNvPr id="37" name="Text 35"/>
          <p:cNvSpPr/>
          <p:nvPr/>
        </p:nvSpPr>
        <p:spPr>
          <a:xfrm>
            <a:off x="4791456" y="4498848"/>
            <a:ext cx="3986784"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Run missing value analysis report.</a:t>
            </a:r>
            <a:endParaRPr lang="en-US" sz="850" dirty="0"/>
          </a:p>
        </p:txBody>
      </p:sp>
      <p:sp>
        <p:nvSpPr>
          <p:cNvPr id="38" name="Text 36"/>
          <p:cNvSpPr/>
          <p:nvPr/>
        </p:nvSpPr>
        <p:spPr>
          <a:xfrm>
            <a:off x="4791456" y="4681728"/>
            <a:ext cx="3986784"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MVA VARIABLES=q1_quality q2_packaging</a:t>
            </a:r>
            <a:endParaRPr lang="en-US" sz="850" dirty="0"/>
          </a:p>
        </p:txBody>
      </p:sp>
      <p:sp>
        <p:nvSpPr>
          <p:cNvPr id="39" name="Text 37"/>
          <p:cNvSpPr/>
          <p:nvPr/>
        </p:nvSpPr>
        <p:spPr>
          <a:xfrm>
            <a:off x="4791456" y="4864608"/>
            <a:ext cx="3986784"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    q3_value q4_availability</a:t>
            </a:r>
            <a:endParaRPr lang="en-US" sz="850" dirty="0"/>
          </a:p>
        </p:txBody>
      </p:sp>
      <p:sp>
        <p:nvSpPr>
          <p:cNvPr id="40" name="Text 38"/>
          <p:cNvSpPr/>
          <p:nvPr/>
        </p:nvSpPr>
        <p:spPr>
          <a:xfrm>
            <a:off x="4791456" y="5047488"/>
            <a:ext cx="3986784" cy="182880"/>
          </a:xfrm>
          <a:prstGeom prst="rect">
            <a:avLst/>
          </a:prstGeom>
          <a:noFill/>
          <a:ln/>
        </p:spPr>
        <p:txBody>
          <a:bodyPr wrap="square" lIns="0" tIns="0" rIns="0" bIns="0" rtlCol="0" anchor="ctr"/>
          <a:lstStyle/>
          <a:p>
            <a:pPr indent="0" marL="0">
              <a:buNone/>
            </a:pPr>
            <a:r>
              <a:rPr lang="en-US" sz="850" dirty="0">
                <a:solidFill>
                  <a:srgbClr val="9CDCFE"/>
                </a:solidFill>
                <a:latin typeface="Courier New" pitchFamily="34" charset="0"/>
                <a:ea typeface="Courier New" pitchFamily="34" charset="-122"/>
                <a:cs typeface="Courier New" pitchFamily="34" charset="-120"/>
              </a:rPr>
              <a:t>  /MPATTERN.</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6B3C">
              <a:alpha val="18000"/>
            </a:srgbClr>
          </a:solidFill>
          <a:ln w="12700">
            <a:solidFill>
              <a:srgbClr val="1A6B3C"/>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2  |  SECTION 07</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Merging Files and Restructuring</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D4BC"/>
                </a:solidFill>
                <a:latin typeface="Calibri" pitchFamily="34" charset="0"/>
                <a:ea typeface="Calibri" pitchFamily="34" charset="-122"/>
                <a:cs typeface="Calibri" pitchFamily="34" charset="-120"/>
              </a:rPr>
              <a:t>Combining datasets from multiple sources - Add Cases and Add Variables</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A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218"/>
          </a:solidFill>
          <a:ln w="12700">
            <a:solidFill>
              <a:srgbClr val="0B2218"/>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Merge Files - Add Cases (Appending / Stacking Datasets)</a:t>
            </a:r>
            <a:endParaRPr lang="en-US" sz="2200" dirty="0"/>
          </a:p>
        </p:txBody>
      </p:sp>
      <p:sp>
        <p:nvSpPr>
          <p:cNvPr id="4" name="Shape 2"/>
          <p:cNvSpPr/>
          <p:nvPr/>
        </p:nvSpPr>
        <p:spPr>
          <a:xfrm>
            <a:off x="256032" y="1024128"/>
            <a:ext cx="8631936" cy="621792"/>
          </a:xfrm>
          <a:prstGeom prst="roundRect">
            <a:avLst>
              <a:gd name="adj" fmla="val 11765"/>
            </a:avLst>
          </a:prstGeom>
          <a:solidFill>
            <a:srgbClr val="EAF4EE"/>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42416"/>
            <a:ext cx="8321040" cy="566928"/>
          </a:xfrm>
          <a:prstGeom prst="rect">
            <a:avLst/>
          </a:prstGeom>
          <a:noFill/>
          <a:ln/>
        </p:spPr>
        <p:txBody>
          <a:bodyPr wrap="square" lIns="0" tIns="0" rIns="0" bIns="0" rtlCol="0" anchor="ctr"/>
          <a:lstStyle/>
          <a:p>
            <a:pPr indent="0" marL="0">
              <a:buNone/>
            </a:pPr>
            <a:r>
              <a:rPr lang="en-US" sz="1050" b="1" dirty="0">
                <a:solidFill>
                  <a:srgbClr val="0B2218"/>
                </a:solidFill>
                <a:latin typeface="Calibri" pitchFamily="34" charset="0"/>
                <a:ea typeface="Calibri" pitchFamily="34" charset="-122"/>
                <a:cs typeface="Calibri" pitchFamily="34" charset="-120"/>
              </a:rPr>
              <a:t>Add Cases: </a:t>
            </a:r>
            <a:pPr indent="0" marL="0">
              <a:buNone/>
            </a:pPr>
            <a:r>
              <a:rPr lang="en-US" sz="1050" dirty="0">
                <a:solidFill>
                  <a:srgbClr val="1E3A2E"/>
                </a:solidFill>
                <a:latin typeface="Calibri" pitchFamily="34" charset="0"/>
                <a:ea typeface="Calibri" pitchFamily="34" charset="-122"/>
                <a:cs typeface="Calibri" pitchFamily="34" charset="-120"/>
              </a:rPr>
              <a:t>Vertically stacks two or more datasets that have the SAME variables but different cases (respondents). Used when data was collected in batches and needs to be combined.</a:t>
            </a:r>
            <a:endParaRPr lang="en-US" sz="1050" dirty="0"/>
          </a:p>
        </p:txBody>
      </p:sp>
      <p:sp>
        <p:nvSpPr>
          <p:cNvPr id="6" name="Shape 4"/>
          <p:cNvSpPr/>
          <p:nvPr/>
        </p:nvSpPr>
        <p:spPr>
          <a:xfrm>
            <a:off x="274320" y="1737360"/>
            <a:ext cx="2377440" cy="1810512"/>
          </a:xfrm>
          <a:prstGeom prst="roundRect">
            <a:avLst>
              <a:gd name="adj" fmla="val 4040"/>
            </a:avLst>
          </a:prstGeom>
          <a:solidFill>
            <a:srgbClr val="113322"/>
          </a:solidFill>
          <a:ln w="12700">
            <a:solidFill>
              <a:srgbClr val="1A6B3C"/>
            </a:solidFill>
            <a:prstDash val="solid"/>
          </a:ln>
        </p:spPr>
      </p:sp>
      <p:sp>
        <p:nvSpPr>
          <p:cNvPr id="7" name="Text 5"/>
          <p:cNvSpPr/>
          <p:nvPr/>
        </p:nvSpPr>
        <p:spPr>
          <a:xfrm>
            <a:off x="347472" y="1792224"/>
            <a:ext cx="2231136" cy="237744"/>
          </a:xfrm>
          <a:prstGeom prst="rect">
            <a:avLst/>
          </a:prstGeom>
          <a:noFill/>
          <a:ln/>
        </p:spPr>
        <p:txBody>
          <a:bodyPr wrap="square" lIns="0" tIns="0" rIns="0" bIns="0" rtlCol="0" anchor="ctr"/>
          <a:lstStyle/>
          <a:p>
            <a:pPr indent="0" marL="0">
              <a:buNone/>
            </a:pPr>
            <a:r>
              <a:rPr lang="en-US" sz="950" b="1" dirty="0">
                <a:solidFill>
                  <a:srgbClr val="F0C040"/>
                </a:solidFill>
                <a:latin typeface="Calibri" pitchFamily="34" charset="0"/>
                <a:ea typeface="Calibri" pitchFamily="34" charset="-122"/>
                <a:cs typeface="Calibri" pitchFamily="34" charset="-120"/>
              </a:rPr>
              <a:t>Dataset 1 - Batch A (N=200)</a:t>
            </a:r>
            <a:endParaRPr lang="en-US" sz="950" dirty="0"/>
          </a:p>
        </p:txBody>
      </p:sp>
      <p:sp>
        <p:nvSpPr>
          <p:cNvPr id="8" name="Shape 6"/>
          <p:cNvSpPr/>
          <p:nvPr/>
        </p:nvSpPr>
        <p:spPr>
          <a:xfrm>
            <a:off x="438912" y="2084832"/>
            <a:ext cx="676656" cy="219456"/>
          </a:xfrm>
          <a:prstGeom prst="rect">
            <a:avLst/>
          </a:prstGeom>
          <a:solidFill>
            <a:srgbClr val="1A6B3C"/>
          </a:solidFill>
          <a:ln w="12700">
            <a:solidFill>
              <a:srgbClr val="1A6B3C"/>
            </a:solidFill>
            <a:prstDash val="solid"/>
          </a:ln>
        </p:spPr>
      </p:sp>
      <p:sp>
        <p:nvSpPr>
          <p:cNvPr id="9" name="Text 7"/>
          <p:cNvSpPr/>
          <p:nvPr/>
        </p:nvSpPr>
        <p:spPr>
          <a:xfrm>
            <a:off x="438912" y="2084832"/>
            <a:ext cx="676656"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resp_id</a:t>
            </a:r>
            <a:endParaRPr lang="en-US" sz="700" dirty="0"/>
          </a:p>
        </p:txBody>
      </p:sp>
      <p:sp>
        <p:nvSpPr>
          <p:cNvPr id="10" name="Shape 8"/>
          <p:cNvSpPr/>
          <p:nvPr/>
        </p:nvSpPr>
        <p:spPr>
          <a:xfrm>
            <a:off x="1152144" y="2084832"/>
            <a:ext cx="438912" cy="219456"/>
          </a:xfrm>
          <a:prstGeom prst="rect">
            <a:avLst/>
          </a:prstGeom>
          <a:solidFill>
            <a:srgbClr val="1A6B3C"/>
          </a:solidFill>
          <a:ln w="12700">
            <a:solidFill>
              <a:srgbClr val="1A6B3C"/>
            </a:solidFill>
            <a:prstDash val="solid"/>
          </a:ln>
        </p:spPr>
      </p:sp>
      <p:sp>
        <p:nvSpPr>
          <p:cNvPr id="11" name="Text 9"/>
          <p:cNvSpPr/>
          <p:nvPr/>
        </p:nvSpPr>
        <p:spPr>
          <a:xfrm>
            <a:off x="1152144" y="2084832"/>
            <a:ext cx="438912"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gender</a:t>
            </a:r>
            <a:endParaRPr lang="en-US" sz="700" dirty="0"/>
          </a:p>
        </p:txBody>
      </p:sp>
      <p:sp>
        <p:nvSpPr>
          <p:cNvPr id="12" name="Shape 10"/>
          <p:cNvSpPr/>
          <p:nvPr/>
        </p:nvSpPr>
        <p:spPr>
          <a:xfrm>
            <a:off x="1627632" y="2084832"/>
            <a:ext cx="402336" cy="219456"/>
          </a:xfrm>
          <a:prstGeom prst="rect">
            <a:avLst/>
          </a:prstGeom>
          <a:solidFill>
            <a:srgbClr val="1A6B3C"/>
          </a:solidFill>
          <a:ln w="12700">
            <a:solidFill>
              <a:srgbClr val="1A6B3C"/>
            </a:solidFill>
            <a:prstDash val="solid"/>
          </a:ln>
        </p:spPr>
      </p:sp>
      <p:sp>
        <p:nvSpPr>
          <p:cNvPr id="13" name="Text 11"/>
          <p:cNvSpPr/>
          <p:nvPr/>
        </p:nvSpPr>
        <p:spPr>
          <a:xfrm>
            <a:off x="1627632" y="2084832"/>
            <a:ext cx="402336"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age</a:t>
            </a:r>
            <a:endParaRPr lang="en-US" sz="700" dirty="0"/>
          </a:p>
        </p:txBody>
      </p:sp>
      <p:sp>
        <p:nvSpPr>
          <p:cNvPr id="14" name="Shape 12"/>
          <p:cNvSpPr/>
          <p:nvPr/>
        </p:nvSpPr>
        <p:spPr>
          <a:xfrm>
            <a:off x="2066544" y="2084832"/>
            <a:ext cx="640080" cy="219456"/>
          </a:xfrm>
          <a:prstGeom prst="rect">
            <a:avLst/>
          </a:prstGeom>
          <a:solidFill>
            <a:srgbClr val="1A6B3C"/>
          </a:solidFill>
          <a:ln w="12700">
            <a:solidFill>
              <a:srgbClr val="1A6B3C"/>
            </a:solidFill>
            <a:prstDash val="solid"/>
          </a:ln>
        </p:spPr>
      </p:sp>
      <p:sp>
        <p:nvSpPr>
          <p:cNvPr id="15" name="Text 13"/>
          <p:cNvSpPr/>
          <p:nvPr/>
        </p:nvSpPr>
        <p:spPr>
          <a:xfrm>
            <a:off x="2066544" y="2084832"/>
            <a:ext cx="64008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satisfaction</a:t>
            </a:r>
            <a:endParaRPr lang="en-US" sz="700" dirty="0"/>
          </a:p>
        </p:txBody>
      </p:sp>
      <p:sp>
        <p:nvSpPr>
          <p:cNvPr id="16" name="Shape 14"/>
          <p:cNvSpPr/>
          <p:nvPr/>
        </p:nvSpPr>
        <p:spPr>
          <a:xfrm>
            <a:off x="438912" y="2322576"/>
            <a:ext cx="676656" cy="201168"/>
          </a:xfrm>
          <a:prstGeom prst="rect">
            <a:avLst/>
          </a:prstGeom>
          <a:solidFill>
            <a:srgbClr val="EAF4EE"/>
          </a:solidFill>
          <a:ln w="6350">
            <a:solidFill>
              <a:srgbClr val="C8E6D4"/>
            </a:solidFill>
            <a:prstDash val="solid"/>
          </a:ln>
        </p:spPr>
      </p:sp>
      <p:sp>
        <p:nvSpPr>
          <p:cNvPr id="17" name="Text 15"/>
          <p:cNvSpPr/>
          <p:nvPr/>
        </p:nvSpPr>
        <p:spPr>
          <a:xfrm>
            <a:off x="438912" y="2322576"/>
            <a:ext cx="676656"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001</a:t>
            </a:r>
            <a:endParaRPr lang="en-US" sz="750" dirty="0"/>
          </a:p>
        </p:txBody>
      </p:sp>
      <p:sp>
        <p:nvSpPr>
          <p:cNvPr id="18" name="Shape 16"/>
          <p:cNvSpPr/>
          <p:nvPr/>
        </p:nvSpPr>
        <p:spPr>
          <a:xfrm>
            <a:off x="1152144" y="2322576"/>
            <a:ext cx="438912" cy="201168"/>
          </a:xfrm>
          <a:prstGeom prst="rect">
            <a:avLst/>
          </a:prstGeom>
          <a:solidFill>
            <a:srgbClr val="EAF4EE"/>
          </a:solidFill>
          <a:ln w="6350">
            <a:solidFill>
              <a:srgbClr val="C8E6D4"/>
            </a:solidFill>
            <a:prstDash val="solid"/>
          </a:ln>
        </p:spPr>
      </p:sp>
      <p:sp>
        <p:nvSpPr>
          <p:cNvPr id="19" name="Text 17"/>
          <p:cNvSpPr/>
          <p:nvPr/>
        </p:nvSpPr>
        <p:spPr>
          <a:xfrm>
            <a:off x="1152144" y="2322576"/>
            <a:ext cx="438912"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1</a:t>
            </a:r>
            <a:endParaRPr lang="en-US" sz="750" dirty="0"/>
          </a:p>
        </p:txBody>
      </p:sp>
      <p:sp>
        <p:nvSpPr>
          <p:cNvPr id="20" name="Shape 18"/>
          <p:cNvSpPr/>
          <p:nvPr/>
        </p:nvSpPr>
        <p:spPr>
          <a:xfrm>
            <a:off x="1627632" y="2322576"/>
            <a:ext cx="402336" cy="201168"/>
          </a:xfrm>
          <a:prstGeom prst="rect">
            <a:avLst/>
          </a:prstGeom>
          <a:solidFill>
            <a:srgbClr val="EAF4EE"/>
          </a:solidFill>
          <a:ln w="6350">
            <a:solidFill>
              <a:srgbClr val="C8E6D4"/>
            </a:solidFill>
            <a:prstDash val="solid"/>
          </a:ln>
        </p:spPr>
      </p:sp>
      <p:sp>
        <p:nvSpPr>
          <p:cNvPr id="21" name="Text 19"/>
          <p:cNvSpPr/>
          <p:nvPr/>
        </p:nvSpPr>
        <p:spPr>
          <a:xfrm>
            <a:off x="1627632" y="2322576"/>
            <a:ext cx="402336"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34</a:t>
            </a:r>
            <a:endParaRPr lang="en-US" sz="750" dirty="0"/>
          </a:p>
        </p:txBody>
      </p:sp>
      <p:sp>
        <p:nvSpPr>
          <p:cNvPr id="22" name="Shape 20"/>
          <p:cNvSpPr/>
          <p:nvPr/>
        </p:nvSpPr>
        <p:spPr>
          <a:xfrm>
            <a:off x="2066544" y="2322576"/>
            <a:ext cx="640080" cy="201168"/>
          </a:xfrm>
          <a:prstGeom prst="rect">
            <a:avLst/>
          </a:prstGeom>
          <a:solidFill>
            <a:srgbClr val="EAF4EE"/>
          </a:solidFill>
          <a:ln w="6350">
            <a:solidFill>
              <a:srgbClr val="C8E6D4"/>
            </a:solidFill>
            <a:prstDash val="solid"/>
          </a:ln>
        </p:spPr>
      </p:sp>
      <p:sp>
        <p:nvSpPr>
          <p:cNvPr id="23" name="Text 21"/>
          <p:cNvSpPr/>
          <p:nvPr/>
        </p:nvSpPr>
        <p:spPr>
          <a:xfrm>
            <a:off x="2066544" y="2322576"/>
            <a:ext cx="640080"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7.2</a:t>
            </a:r>
            <a:endParaRPr lang="en-US" sz="750" dirty="0"/>
          </a:p>
        </p:txBody>
      </p:sp>
      <p:sp>
        <p:nvSpPr>
          <p:cNvPr id="24" name="Shape 22"/>
          <p:cNvSpPr/>
          <p:nvPr/>
        </p:nvSpPr>
        <p:spPr>
          <a:xfrm>
            <a:off x="438912" y="2542032"/>
            <a:ext cx="676656" cy="201168"/>
          </a:xfrm>
          <a:prstGeom prst="rect">
            <a:avLst/>
          </a:prstGeom>
          <a:solidFill>
            <a:srgbClr val="FFFFFF"/>
          </a:solidFill>
          <a:ln w="6350">
            <a:solidFill>
              <a:srgbClr val="C8E6D4"/>
            </a:solidFill>
            <a:prstDash val="solid"/>
          </a:ln>
        </p:spPr>
      </p:sp>
      <p:sp>
        <p:nvSpPr>
          <p:cNvPr id="25" name="Text 23"/>
          <p:cNvSpPr/>
          <p:nvPr/>
        </p:nvSpPr>
        <p:spPr>
          <a:xfrm>
            <a:off x="438912" y="2542032"/>
            <a:ext cx="676656"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002</a:t>
            </a:r>
            <a:endParaRPr lang="en-US" sz="750" dirty="0"/>
          </a:p>
        </p:txBody>
      </p:sp>
      <p:sp>
        <p:nvSpPr>
          <p:cNvPr id="26" name="Shape 24"/>
          <p:cNvSpPr/>
          <p:nvPr/>
        </p:nvSpPr>
        <p:spPr>
          <a:xfrm>
            <a:off x="1152144" y="2542032"/>
            <a:ext cx="438912" cy="201168"/>
          </a:xfrm>
          <a:prstGeom prst="rect">
            <a:avLst/>
          </a:prstGeom>
          <a:solidFill>
            <a:srgbClr val="FFFFFF"/>
          </a:solidFill>
          <a:ln w="6350">
            <a:solidFill>
              <a:srgbClr val="C8E6D4"/>
            </a:solidFill>
            <a:prstDash val="solid"/>
          </a:ln>
        </p:spPr>
      </p:sp>
      <p:sp>
        <p:nvSpPr>
          <p:cNvPr id="27" name="Text 25"/>
          <p:cNvSpPr/>
          <p:nvPr/>
        </p:nvSpPr>
        <p:spPr>
          <a:xfrm>
            <a:off x="1152144" y="2542032"/>
            <a:ext cx="438912"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2</a:t>
            </a:r>
            <a:endParaRPr lang="en-US" sz="750" dirty="0"/>
          </a:p>
        </p:txBody>
      </p:sp>
      <p:sp>
        <p:nvSpPr>
          <p:cNvPr id="28" name="Shape 26"/>
          <p:cNvSpPr/>
          <p:nvPr/>
        </p:nvSpPr>
        <p:spPr>
          <a:xfrm>
            <a:off x="1627632" y="2542032"/>
            <a:ext cx="402336" cy="201168"/>
          </a:xfrm>
          <a:prstGeom prst="rect">
            <a:avLst/>
          </a:prstGeom>
          <a:solidFill>
            <a:srgbClr val="FFFFFF"/>
          </a:solidFill>
          <a:ln w="6350">
            <a:solidFill>
              <a:srgbClr val="C8E6D4"/>
            </a:solidFill>
            <a:prstDash val="solid"/>
          </a:ln>
        </p:spPr>
      </p:sp>
      <p:sp>
        <p:nvSpPr>
          <p:cNvPr id="29" name="Text 27"/>
          <p:cNvSpPr/>
          <p:nvPr/>
        </p:nvSpPr>
        <p:spPr>
          <a:xfrm>
            <a:off x="1627632" y="2542032"/>
            <a:ext cx="402336"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28</a:t>
            </a:r>
            <a:endParaRPr lang="en-US" sz="750" dirty="0"/>
          </a:p>
        </p:txBody>
      </p:sp>
      <p:sp>
        <p:nvSpPr>
          <p:cNvPr id="30" name="Shape 28"/>
          <p:cNvSpPr/>
          <p:nvPr/>
        </p:nvSpPr>
        <p:spPr>
          <a:xfrm>
            <a:off x="2066544" y="2542032"/>
            <a:ext cx="640080" cy="201168"/>
          </a:xfrm>
          <a:prstGeom prst="rect">
            <a:avLst/>
          </a:prstGeom>
          <a:solidFill>
            <a:srgbClr val="FFFFFF"/>
          </a:solidFill>
          <a:ln w="6350">
            <a:solidFill>
              <a:srgbClr val="C8E6D4"/>
            </a:solidFill>
            <a:prstDash val="solid"/>
          </a:ln>
        </p:spPr>
      </p:sp>
      <p:sp>
        <p:nvSpPr>
          <p:cNvPr id="31" name="Text 29"/>
          <p:cNvSpPr/>
          <p:nvPr/>
        </p:nvSpPr>
        <p:spPr>
          <a:xfrm>
            <a:off x="2066544" y="2542032"/>
            <a:ext cx="640080"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8.5</a:t>
            </a:r>
            <a:endParaRPr lang="en-US" sz="750" dirty="0"/>
          </a:p>
        </p:txBody>
      </p:sp>
      <p:sp>
        <p:nvSpPr>
          <p:cNvPr id="32" name="Text 30"/>
          <p:cNvSpPr/>
          <p:nvPr/>
        </p:nvSpPr>
        <p:spPr>
          <a:xfrm>
            <a:off x="384048" y="2834640"/>
            <a:ext cx="2176272" cy="219456"/>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...200 more rows</a:t>
            </a:r>
            <a:endParaRPr lang="en-US" sz="800" dirty="0"/>
          </a:p>
        </p:txBody>
      </p:sp>
      <p:sp>
        <p:nvSpPr>
          <p:cNvPr id="33" name="Text 31"/>
          <p:cNvSpPr/>
          <p:nvPr/>
        </p:nvSpPr>
        <p:spPr>
          <a:xfrm>
            <a:off x="347472" y="3163824"/>
            <a:ext cx="2231136" cy="256032"/>
          </a:xfrm>
          <a:prstGeom prst="rect">
            <a:avLst/>
          </a:prstGeom>
          <a:noFill/>
          <a:ln/>
        </p:spPr>
        <p:txBody>
          <a:bodyPr wrap="square" lIns="0" tIns="0" rIns="0" bIns="0" rtlCol="0" anchor="ctr"/>
          <a:lstStyle/>
          <a:p>
            <a:pPr algn="ctr" indent="0" marL="0">
              <a:buNone/>
            </a:pPr>
            <a:r>
              <a:rPr lang="en-US" sz="850" dirty="0">
                <a:solidFill>
                  <a:srgbClr val="27AE60"/>
                </a:solidFill>
                <a:latin typeface="Calibri" pitchFamily="34" charset="0"/>
                <a:ea typeface="Calibri" pitchFamily="34" charset="-122"/>
                <a:cs typeface="Calibri" pitchFamily="34" charset="-120"/>
              </a:rPr>
              <a:t>Abuja office survey batch</a:t>
            </a:r>
            <a:endParaRPr lang="en-US" sz="850" dirty="0"/>
          </a:p>
        </p:txBody>
      </p:sp>
      <p:sp>
        <p:nvSpPr>
          <p:cNvPr id="34" name="Shape 32"/>
          <p:cNvSpPr/>
          <p:nvPr/>
        </p:nvSpPr>
        <p:spPr>
          <a:xfrm>
            <a:off x="2944368" y="1737360"/>
            <a:ext cx="2377440" cy="1810512"/>
          </a:xfrm>
          <a:prstGeom prst="roundRect">
            <a:avLst>
              <a:gd name="adj" fmla="val 4040"/>
            </a:avLst>
          </a:prstGeom>
          <a:solidFill>
            <a:srgbClr val="113322"/>
          </a:solidFill>
          <a:ln w="12700">
            <a:solidFill>
              <a:srgbClr val="0E7C7B"/>
            </a:solidFill>
            <a:prstDash val="solid"/>
          </a:ln>
        </p:spPr>
      </p:sp>
      <p:sp>
        <p:nvSpPr>
          <p:cNvPr id="35" name="Text 33"/>
          <p:cNvSpPr/>
          <p:nvPr/>
        </p:nvSpPr>
        <p:spPr>
          <a:xfrm>
            <a:off x="3017520" y="1792224"/>
            <a:ext cx="2231136" cy="237744"/>
          </a:xfrm>
          <a:prstGeom prst="rect">
            <a:avLst/>
          </a:prstGeom>
          <a:noFill/>
          <a:ln/>
        </p:spPr>
        <p:txBody>
          <a:bodyPr wrap="square" lIns="0" tIns="0" rIns="0" bIns="0" rtlCol="0" anchor="ctr"/>
          <a:lstStyle/>
          <a:p>
            <a:pPr indent="0" marL="0">
              <a:buNone/>
            </a:pPr>
            <a:r>
              <a:rPr lang="en-US" sz="950" b="1" dirty="0">
                <a:solidFill>
                  <a:srgbClr val="F0C040"/>
                </a:solidFill>
                <a:latin typeface="Calibri" pitchFamily="34" charset="0"/>
                <a:ea typeface="Calibri" pitchFamily="34" charset="-122"/>
                <a:cs typeface="Calibri" pitchFamily="34" charset="-120"/>
              </a:rPr>
              <a:t>Dataset 2 - Batch B (N=250)</a:t>
            </a:r>
            <a:endParaRPr lang="en-US" sz="950" dirty="0"/>
          </a:p>
        </p:txBody>
      </p:sp>
      <p:sp>
        <p:nvSpPr>
          <p:cNvPr id="36" name="Shape 34"/>
          <p:cNvSpPr/>
          <p:nvPr/>
        </p:nvSpPr>
        <p:spPr>
          <a:xfrm>
            <a:off x="3108960" y="2084832"/>
            <a:ext cx="676656" cy="219456"/>
          </a:xfrm>
          <a:prstGeom prst="rect">
            <a:avLst/>
          </a:prstGeom>
          <a:solidFill>
            <a:srgbClr val="0E7C7B"/>
          </a:solidFill>
          <a:ln w="12700">
            <a:solidFill>
              <a:srgbClr val="0E7C7B"/>
            </a:solidFill>
            <a:prstDash val="solid"/>
          </a:ln>
        </p:spPr>
      </p:sp>
      <p:sp>
        <p:nvSpPr>
          <p:cNvPr id="37" name="Text 35"/>
          <p:cNvSpPr/>
          <p:nvPr/>
        </p:nvSpPr>
        <p:spPr>
          <a:xfrm>
            <a:off x="3108960" y="2084832"/>
            <a:ext cx="676656"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resp_id</a:t>
            </a:r>
            <a:endParaRPr lang="en-US" sz="700" dirty="0"/>
          </a:p>
        </p:txBody>
      </p:sp>
      <p:sp>
        <p:nvSpPr>
          <p:cNvPr id="38" name="Shape 36"/>
          <p:cNvSpPr/>
          <p:nvPr/>
        </p:nvSpPr>
        <p:spPr>
          <a:xfrm>
            <a:off x="3822192" y="2084832"/>
            <a:ext cx="438912" cy="219456"/>
          </a:xfrm>
          <a:prstGeom prst="rect">
            <a:avLst/>
          </a:prstGeom>
          <a:solidFill>
            <a:srgbClr val="0E7C7B"/>
          </a:solidFill>
          <a:ln w="12700">
            <a:solidFill>
              <a:srgbClr val="0E7C7B"/>
            </a:solidFill>
            <a:prstDash val="solid"/>
          </a:ln>
        </p:spPr>
      </p:sp>
      <p:sp>
        <p:nvSpPr>
          <p:cNvPr id="39" name="Text 37"/>
          <p:cNvSpPr/>
          <p:nvPr/>
        </p:nvSpPr>
        <p:spPr>
          <a:xfrm>
            <a:off x="3822192" y="2084832"/>
            <a:ext cx="438912"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gender</a:t>
            </a:r>
            <a:endParaRPr lang="en-US" sz="700" dirty="0"/>
          </a:p>
        </p:txBody>
      </p:sp>
      <p:sp>
        <p:nvSpPr>
          <p:cNvPr id="40" name="Shape 38"/>
          <p:cNvSpPr/>
          <p:nvPr/>
        </p:nvSpPr>
        <p:spPr>
          <a:xfrm>
            <a:off x="4297680" y="2084832"/>
            <a:ext cx="402336" cy="219456"/>
          </a:xfrm>
          <a:prstGeom prst="rect">
            <a:avLst/>
          </a:prstGeom>
          <a:solidFill>
            <a:srgbClr val="0E7C7B"/>
          </a:solidFill>
          <a:ln w="12700">
            <a:solidFill>
              <a:srgbClr val="0E7C7B"/>
            </a:solidFill>
            <a:prstDash val="solid"/>
          </a:ln>
        </p:spPr>
      </p:sp>
      <p:sp>
        <p:nvSpPr>
          <p:cNvPr id="41" name="Text 39"/>
          <p:cNvSpPr/>
          <p:nvPr/>
        </p:nvSpPr>
        <p:spPr>
          <a:xfrm>
            <a:off x="4297680" y="2084832"/>
            <a:ext cx="402336"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age</a:t>
            </a:r>
            <a:endParaRPr lang="en-US" sz="700" dirty="0"/>
          </a:p>
        </p:txBody>
      </p:sp>
      <p:sp>
        <p:nvSpPr>
          <p:cNvPr id="42" name="Shape 40"/>
          <p:cNvSpPr/>
          <p:nvPr/>
        </p:nvSpPr>
        <p:spPr>
          <a:xfrm>
            <a:off x="4736592" y="2084832"/>
            <a:ext cx="640080" cy="219456"/>
          </a:xfrm>
          <a:prstGeom prst="rect">
            <a:avLst/>
          </a:prstGeom>
          <a:solidFill>
            <a:srgbClr val="0E7C7B"/>
          </a:solidFill>
          <a:ln w="12700">
            <a:solidFill>
              <a:srgbClr val="0E7C7B"/>
            </a:solidFill>
            <a:prstDash val="solid"/>
          </a:ln>
        </p:spPr>
      </p:sp>
      <p:sp>
        <p:nvSpPr>
          <p:cNvPr id="43" name="Text 41"/>
          <p:cNvSpPr/>
          <p:nvPr/>
        </p:nvSpPr>
        <p:spPr>
          <a:xfrm>
            <a:off x="4736592" y="2084832"/>
            <a:ext cx="64008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satisfaction</a:t>
            </a:r>
            <a:endParaRPr lang="en-US" sz="700" dirty="0"/>
          </a:p>
        </p:txBody>
      </p:sp>
      <p:sp>
        <p:nvSpPr>
          <p:cNvPr id="44" name="Shape 42"/>
          <p:cNvSpPr/>
          <p:nvPr/>
        </p:nvSpPr>
        <p:spPr>
          <a:xfrm>
            <a:off x="3108960" y="2322576"/>
            <a:ext cx="676656" cy="201168"/>
          </a:xfrm>
          <a:prstGeom prst="rect">
            <a:avLst/>
          </a:prstGeom>
          <a:solidFill>
            <a:srgbClr val="EAF9F8"/>
          </a:solidFill>
          <a:ln w="6350">
            <a:solidFill>
              <a:srgbClr val="C8E6D4"/>
            </a:solidFill>
            <a:prstDash val="solid"/>
          </a:ln>
        </p:spPr>
      </p:sp>
      <p:sp>
        <p:nvSpPr>
          <p:cNvPr id="45" name="Text 43"/>
          <p:cNvSpPr/>
          <p:nvPr/>
        </p:nvSpPr>
        <p:spPr>
          <a:xfrm>
            <a:off x="3108960" y="2322576"/>
            <a:ext cx="676656"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003</a:t>
            </a:r>
            <a:endParaRPr lang="en-US" sz="750" dirty="0"/>
          </a:p>
        </p:txBody>
      </p:sp>
      <p:sp>
        <p:nvSpPr>
          <p:cNvPr id="46" name="Shape 44"/>
          <p:cNvSpPr/>
          <p:nvPr/>
        </p:nvSpPr>
        <p:spPr>
          <a:xfrm>
            <a:off x="3822192" y="2322576"/>
            <a:ext cx="438912" cy="201168"/>
          </a:xfrm>
          <a:prstGeom prst="rect">
            <a:avLst/>
          </a:prstGeom>
          <a:solidFill>
            <a:srgbClr val="EAF9F8"/>
          </a:solidFill>
          <a:ln w="6350">
            <a:solidFill>
              <a:srgbClr val="C8E6D4"/>
            </a:solidFill>
            <a:prstDash val="solid"/>
          </a:ln>
        </p:spPr>
      </p:sp>
      <p:sp>
        <p:nvSpPr>
          <p:cNvPr id="47" name="Text 45"/>
          <p:cNvSpPr/>
          <p:nvPr/>
        </p:nvSpPr>
        <p:spPr>
          <a:xfrm>
            <a:off x="3822192" y="2322576"/>
            <a:ext cx="438912"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1</a:t>
            </a:r>
            <a:endParaRPr lang="en-US" sz="750" dirty="0"/>
          </a:p>
        </p:txBody>
      </p:sp>
      <p:sp>
        <p:nvSpPr>
          <p:cNvPr id="48" name="Shape 46"/>
          <p:cNvSpPr/>
          <p:nvPr/>
        </p:nvSpPr>
        <p:spPr>
          <a:xfrm>
            <a:off x="4297680" y="2322576"/>
            <a:ext cx="402336" cy="201168"/>
          </a:xfrm>
          <a:prstGeom prst="rect">
            <a:avLst/>
          </a:prstGeom>
          <a:solidFill>
            <a:srgbClr val="EAF9F8"/>
          </a:solidFill>
          <a:ln w="6350">
            <a:solidFill>
              <a:srgbClr val="C8E6D4"/>
            </a:solidFill>
            <a:prstDash val="solid"/>
          </a:ln>
        </p:spPr>
      </p:sp>
      <p:sp>
        <p:nvSpPr>
          <p:cNvPr id="49" name="Text 47"/>
          <p:cNvSpPr/>
          <p:nvPr/>
        </p:nvSpPr>
        <p:spPr>
          <a:xfrm>
            <a:off x="4297680" y="2322576"/>
            <a:ext cx="402336"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45</a:t>
            </a:r>
            <a:endParaRPr lang="en-US" sz="750" dirty="0"/>
          </a:p>
        </p:txBody>
      </p:sp>
      <p:sp>
        <p:nvSpPr>
          <p:cNvPr id="50" name="Shape 48"/>
          <p:cNvSpPr/>
          <p:nvPr/>
        </p:nvSpPr>
        <p:spPr>
          <a:xfrm>
            <a:off x="4736592" y="2322576"/>
            <a:ext cx="640080" cy="201168"/>
          </a:xfrm>
          <a:prstGeom prst="rect">
            <a:avLst/>
          </a:prstGeom>
          <a:solidFill>
            <a:srgbClr val="EAF9F8"/>
          </a:solidFill>
          <a:ln w="6350">
            <a:solidFill>
              <a:srgbClr val="C8E6D4"/>
            </a:solidFill>
            <a:prstDash val="solid"/>
          </a:ln>
        </p:spPr>
      </p:sp>
      <p:sp>
        <p:nvSpPr>
          <p:cNvPr id="51" name="Text 49"/>
          <p:cNvSpPr/>
          <p:nvPr/>
        </p:nvSpPr>
        <p:spPr>
          <a:xfrm>
            <a:off x="4736592" y="2322576"/>
            <a:ext cx="640080"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6.0</a:t>
            </a:r>
            <a:endParaRPr lang="en-US" sz="750" dirty="0"/>
          </a:p>
        </p:txBody>
      </p:sp>
      <p:sp>
        <p:nvSpPr>
          <p:cNvPr id="52" name="Shape 50"/>
          <p:cNvSpPr/>
          <p:nvPr/>
        </p:nvSpPr>
        <p:spPr>
          <a:xfrm>
            <a:off x="3108960" y="2542032"/>
            <a:ext cx="676656" cy="201168"/>
          </a:xfrm>
          <a:prstGeom prst="rect">
            <a:avLst/>
          </a:prstGeom>
          <a:solidFill>
            <a:srgbClr val="FFFFFF"/>
          </a:solidFill>
          <a:ln w="6350">
            <a:solidFill>
              <a:srgbClr val="C8E6D4"/>
            </a:solidFill>
            <a:prstDash val="solid"/>
          </a:ln>
        </p:spPr>
      </p:sp>
      <p:sp>
        <p:nvSpPr>
          <p:cNvPr id="53" name="Text 51"/>
          <p:cNvSpPr/>
          <p:nvPr/>
        </p:nvSpPr>
        <p:spPr>
          <a:xfrm>
            <a:off x="3108960" y="2542032"/>
            <a:ext cx="676656"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004</a:t>
            </a:r>
            <a:endParaRPr lang="en-US" sz="750" dirty="0"/>
          </a:p>
        </p:txBody>
      </p:sp>
      <p:sp>
        <p:nvSpPr>
          <p:cNvPr id="54" name="Shape 52"/>
          <p:cNvSpPr/>
          <p:nvPr/>
        </p:nvSpPr>
        <p:spPr>
          <a:xfrm>
            <a:off x="3822192" y="2542032"/>
            <a:ext cx="438912" cy="201168"/>
          </a:xfrm>
          <a:prstGeom prst="rect">
            <a:avLst/>
          </a:prstGeom>
          <a:solidFill>
            <a:srgbClr val="FFFFFF"/>
          </a:solidFill>
          <a:ln w="6350">
            <a:solidFill>
              <a:srgbClr val="C8E6D4"/>
            </a:solidFill>
            <a:prstDash val="solid"/>
          </a:ln>
        </p:spPr>
      </p:sp>
      <p:sp>
        <p:nvSpPr>
          <p:cNvPr id="55" name="Text 53"/>
          <p:cNvSpPr/>
          <p:nvPr/>
        </p:nvSpPr>
        <p:spPr>
          <a:xfrm>
            <a:off x="3822192" y="2542032"/>
            <a:ext cx="438912"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2</a:t>
            </a:r>
            <a:endParaRPr lang="en-US" sz="750" dirty="0"/>
          </a:p>
        </p:txBody>
      </p:sp>
      <p:sp>
        <p:nvSpPr>
          <p:cNvPr id="56" name="Shape 54"/>
          <p:cNvSpPr/>
          <p:nvPr/>
        </p:nvSpPr>
        <p:spPr>
          <a:xfrm>
            <a:off x="4297680" y="2542032"/>
            <a:ext cx="402336" cy="201168"/>
          </a:xfrm>
          <a:prstGeom prst="rect">
            <a:avLst/>
          </a:prstGeom>
          <a:solidFill>
            <a:srgbClr val="FFFFFF"/>
          </a:solidFill>
          <a:ln w="6350">
            <a:solidFill>
              <a:srgbClr val="C8E6D4"/>
            </a:solidFill>
            <a:prstDash val="solid"/>
          </a:ln>
        </p:spPr>
      </p:sp>
      <p:sp>
        <p:nvSpPr>
          <p:cNvPr id="57" name="Text 55"/>
          <p:cNvSpPr/>
          <p:nvPr/>
        </p:nvSpPr>
        <p:spPr>
          <a:xfrm>
            <a:off x="4297680" y="2542032"/>
            <a:ext cx="402336"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52</a:t>
            </a:r>
            <a:endParaRPr lang="en-US" sz="750" dirty="0"/>
          </a:p>
        </p:txBody>
      </p:sp>
      <p:sp>
        <p:nvSpPr>
          <p:cNvPr id="58" name="Shape 56"/>
          <p:cNvSpPr/>
          <p:nvPr/>
        </p:nvSpPr>
        <p:spPr>
          <a:xfrm>
            <a:off x="4736592" y="2542032"/>
            <a:ext cx="640080" cy="201168"/>
          </a:xfrm>
          <a:prstGeom prst="rect">
            <a:avLst/>
          </a:prstGeom>
          <a:solidFill>
            <a:srgbClr val="FFFFFF"/>
          </a:solidFill>
          <a:ln w="6350">
            <a:solidFill>
              <a:srgbClr val="C8E6D4"/>
            </a:solidFill>
            <a:prstDash val="solid"/>
          </a:ln>
        </p:spPr>
      </p:sp>
      <p:sp>
        <p:nvSpPr>
          <p:cNvPr id="59" name="Text 57"/>
          <p:cNvSpPr/>
          <p:nvPr/>
        </p:nvSpPr>
        <p:spPr>
          <a:xfrm>
            <a:off x="4736592" y="2542032"/>
            <a:ext cx="640080"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9.1</a:t>
            </a:r>
            <a:endParaRPr lang="en-US" sz="750" dirty="0"/>
          </a:p>
        </p:txBody>
      </p:sp>
      <p:sp>
        <p:nvSpPr>
          <p:cNvPr id="60" name="Text 58"/>
          <p:cNvSpPr/>
          <p:nvPr/>
        </p:nvSpPr>
        <p:spPr>
          <a:xfrm>
            <a:off x="3054096" y="2834640"/>
            <a:ext cx="2176272" cy="219456"/>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...250 more rows</a:t>
            </a:r>
            <a:endParaRPr lang="en-US" sz="800" dirty="0"/>
          </a:p>
        </p:txBody>
      </p:sp>
      <p:sp>
        <p:nvSpPr>
          <p:cNvPr id="61" name="Text 59"/>
          <p:cNvSpPr/>
          <p:nvPr/>
        </p:nvSpPr>
        <p:spPr>
          <a:xfrm>
            <a:off x="3017520" y="3163824"/>
            <a:ext cx="2231136" cy="256032"/>
          </a:xfrm>
          <a:prstGeom prst="rect">
            <a:avLst/>
          </a:prstGeom>
          <a:noFill/>
          <a:ln/>
        </p:spPr>
        <p:txBody>
          <a:bodyPr wrap="square" lIns="0" tIns="0" rIns="0" bIns="0" rtlCol="0" anchor="ctr"/>
          <a:lstStyle/>
          <a:p>
            <a:pPr algn="ctr" indent="0" marL="0">
              <a:buNone/>
            </a:pPr>
            <a:r>
              <a:rPr lang="en-US" sz="850" dirty="0">
                <a:solidFill>
                  <a:srgbClr val="0E7C7B"/>
                </a:solidFill>
                <a:latin typeface="Calibri" pitchFamily="34" charset="0"/>
                <a:ea typeface="Calibri" pitchFamily="34" charset="-122"/>
                <a:cs typeface="Calibri" pitchFamily="34" charset="-120"/>
              </a:rPr>
              <a:t>Lagos office survey batch</a:t>
            </a:r>
            <a:endParaRPr lang="en-US" sz="850" dirty="0"/>
          </a:p>
        </p:txBody>
      </p:sp>
      <p:sp>
        <p:nvSpPr>
          <p:cNvPr id="62" name="Text 60"/>
          <p:cNvSpPr/>
          <p:nvPr/>
        </p:nvSpPr>
        <p:spPr>
          <a:xfrm>
            <a:off x="5559552" y="2212848"/>
            <a:ext cx="548640" cy="749808"/>
          </a:xfrm>
          <a:prstGeom prst="rect">
            <a:avLst/>
          </a:prstGeom>
          <a:noFill/>
          <a:ln/>
        </p:spPr>
        <p:txBody>
          <a:bodyPr wrap="square" lIns="0" tIns="0" rIns="0" bIns="0" rtlCol="0" anchor="ctr"/>
          <a:lstStyle/>
          <a:p>
            <a:pPr algn="ctr" indent="0" marL="0">
              <a:buNone/>
            </a:pPr>
            <a:r>
              <a:rPr lang="en-US" sz="1200" b="1" dirty="0">
                <a:solidFill>
                  <a:srgbClr val="1A6B3C"/>
                </a:solidFill>
                <a:latin typeface="Calibri" pitchFamily="34" charset="0"/>
                <a:ea typeface="Calibri" pitchFamily="34" charset="-122"/>
                <a:cs typeface="Calibri" pitchFamily="34" charset="-120"/>
              </a:rPr>
              <a:t>→</a:t>
            </a:r>
            <a:endParaRPr lang="en-US" sz="1200" dirty="0"/>
          </a:p>
          <a:p>
            <a:pPr algn="ctr" indent="0" marL="0">
              <a:buNone/>
            </a:pPr>
            <a:r>
              <a:rPr lang="en-US" sz="1200" b="1" dirty="0">
                <a:solidFill>
                  <a:srgbClr val="1A6B3C"/>
                </a:solidFill>
                <a:latin typeface="Calibri" pitchFamily="34" charset="0"/>
                <a:ea typeface="Calibri" pitchFamily="34" charset="-122"/>
                <a:cs typeface="Calibri" pitchFamily="34" charset="-120"/>
              </a:rPr>
              <a:t>MERGE</a:t>
            </a:r>
            <a:endParaRPr lang="en-US" sz="1200" dirty="0"/>
          </a:p>
        </p:txBody>
      </p:sp>
      <p:sp>
        <p:nvSpPr>
          <p:cNvPr id="63" name="Shape 61"/>
          <p:cNvSpPr/>
          <p:nvPr/>
        </p:nvSpPr>
        <p:spPr>
          <a:xfrm>
            <a:off x="6236208" y="1737360"/>
            <a:ext cx="2633472" cy="2121408"/>
          </a:xfrm>
          <a:prstGeom prst="roundRect">
            <a:avLst>
              <a:gd name="adj" fmla="val 3448"/>
            </a:avLst>
          </a:prstGeom>
          <a:solidFill>
            <a:srgbClr val="113322"/>
          </a:solidFill>
          <a:ln w="19050">
            <a:solidFill>
              <a:srgbClr val="D4A017"/>
            </a:solidFill>
            <a:prstDash val="solid"/>
          </a:ln>
        </p:spPr>
      </p:sp>
      <p:sp>
        <p:nvSpPr>
          <p:cNvPr id="64" name="Text 62"/>
          <p:cNvSpPr/>
          <p:nvPr/>
        </p:nvSpPr>
        <p:spPr>
          <a:xfrm>
            <a:off x="6309360" y="1792224"/>
            <a:ext cx="2487168" cy="237744"/>
          </a:xfrm>
          <a:prstGeom prst="rect">
            <a:avLst/>
          </a:prstGeom>
          <a:noFill/>
          <a:ln/>
        </p:spPr>
        <p:txBody>
          <a:bodyPr wrap="square" lIns="0" tIns="0" rIns="0" bIns="0" rtlCol="0" anchor="ctr"/>
          <a:lstStyle/>
          <a:p>
            <a:pPr indent="0" marL="0">
              <a:buNone/>
            </a:pPr>
            <a:r>
              <a:rPr lang="en-US" sz="950" b="1" dirty="0">
                <a:solidFill>
                  <a:srgbClr val="F0C040"/>
                </a:solidFill>
                <a:latin typeface="Calibri" pitchFamily="34" charset="0"/>
                <a:ea typeface="Calibri" pitchFamily="34" charset="-122"/>
                <a:cs typeface="Calibri" pitchFamily="34" charset="-120"/>
              </a:rPr>
              <a:t>MERGED - Total N=450</a:t>
            </a:r>
            <a:endParaRPr lang="en-US" sz="950" dirty="0"/>
          </a:p>
        </p:txBody>
      </p:sp>
      <p:sp>
        <p:nvSpPr>
          <p:cNvPr id="65" name="Shape 63"/>
          <p:cNvSpPr/>
          <p:nvPr/>
        </p:nvSpPr>
        <p:spPr>
          <a:xfrm>
            <a:off x="6373368" y="2084832"/>
            <a:ext cx="473659" cy="201168"/>
          </a:xfrm>
          <a:prstGeom prst="rect">
            <a:avLst/>
          </a:prstGeom>
          <a:solidFill>
            <a:srgbClr val="E8F8F4"/>
          </a:solidFill>
          <a:ln w="6350">
            <a:solidFill>
              <a:srgbClr val="C8E6D4"/>
            </a:solidFill>
            <a:prstDash val="solid"/>
          </a:ln>
        </p:spPr>
      </p:sp>
      <p:sp>
        <p:nvSpPr>
          <p:cNvPr id="66" name="Text 64"/>
          <p:cNvSpPr/>
          <p:nvPr/>
        </p:nvSpPr>
        <p:spPr>
          <a:xfrm>
            <a:off x="6373368" y="2084832"/>
            <a:ext cx="473659"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001</a:t>
            </a:r>
            <a:endParaRPr lang="en-US" sz="750" dirty="0"/>
          </a:p>
        </p:txBody>
      </p:sp>
      <p:sp>
        <p:nvSpPr>
          <p:cNvPr id="67" name="Shape 65"/>
          <p:cNvSpPr/>
          <p:nvPr/>
        </p:nvSpPr>
        <p:spPr>
          <a:xfrm>
            <a:off x="6872630" y="2084832"/>
            <a:ext cx="307238" cy="201168"/>
          </a:xfrm>
          <a:prstGeom prst="rect">
            <a:avLst/>
          </a:prstGeom>
          <a:solidFill>
            <a:srgbClr val="E8F8F4"/>
          </a:solidFill>
          <a:ln w="6350">
            <a:solidFill>
              <a:srgbClr val="C8E6D4"/>
            </a:solidFill>
            <a:prstDash val="solid"/>
          </a:ln>
        </p:spPr>
      </p:sp>
      <p:sp>
        <p:nvSpPr>
          <p:cNvPr id="68" name="Text 66"/>
          <p:cNvSpPr/>
          <p:nvPr/>
        </p:nvSpPr>
        <p:spPr>
          <a:xfrm>
            <a:off x="6872630" y="2084832"/>
            <a:ext cx="307238"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1</a:t>
            </a:r>
            <a:endParaRPr lang="en-US" sz="750" dirty="0"/>
          </a:p>
        </p:txBody>
      </p:sp>
      <p:sp>
        <p:nvSpPr>
          <p:cNvPr id="69" name="Shape 67"/>
          <p:cNvSpPr/>
          <p:nvPr/>
        </p:nvSpPr>
        <p:spPr>
          <a:xfrm>
            <a:off x="7205472" y="2084832"/>
            <a:ext cx="281635" cy="201168"/>
          </a:xfrm>
          <a:prstGeom prst="rect">
            <a:avLst/>
          </a:prstGeom>
          <a:solidFill>
            <a:srgbClr val="E8F8F4"/>
          </a:solidFill>
          <a:ln w="6350">
            <a:solidFill>
              <a:srgbClr val="C8E6D4"/>
            </a:solidFill>
            <a:prstDash val="solid"/>
          </a:ln>
        </p:spPr>
      </p:sp>
      <p:sp>
        <p:nvSpPr>
          <p:cNvPr id="70" name="Text 68"/>
          <p:cNvSpPr/>
          <p:nvPr/>
        </p:nvSpPr>
        <p:spPr>
          <a:xfrm>
            <a:off x="7205472" y="2084832"/>
            <a:ext cx="281635"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34</a:t>
            </a:r>
            <a:endParaRPr lang="en-US" sz="750" dirty="0"/>
          </a:p>
        </p:txBody>
      </p:sp>
      <p:sp>
        <p:nvSpPr>
          <p:cNvPr id="71" name="Shape 69"/>
          <p:cNvSpPr/>
          <p:nvPr/>
        </p:nvSpPr>
        <p:spPr>
          <a:xfrm>
            <a:off x="7512710" y="2084832"/>
            <a:ext cx="448056" cy="201168"/>
          </a:xfrm>
          <a:prstGeom prst="rect">
            <a:avLst/>
          </a:prstGeom>
          <a:solidFill>
            <a:srgbClr val="E8F8F4"/>
          </a:solidFill>
          <a:ln w="6350">
            <a:solidFill>
              <a:srgbClr val="C8E6D4"/>
            </a:solidFill>
            <a:prstDash val="solid"/>
          </a:ln>
        </p:spPr>
      </p:sp>
      <p:sp>
        <p:nvSpPr>
          <p:cNvPr id="72" name="Text 70"/>
          <p:cNvSpPr/>
          <p:nvPr/>
        </p:nvSpPr>
        <p:spPr>
          <a:xfrm>
            <a:off x="7512710" y="2084832"/>
            <a:ext cx="448056"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7.2</a:t>
            </a:r>
            <a:endParaRPr lang="en-US" sz="750" dirty="0"/>
          </a:p>
        </p:txBody>
      </p:sp>
      <p:sp>
        <p:nvSpPr>
          <p:cNvPr id="73" name="Shape 71"/>
          <p:cNvSpPr/>
          <p:nvPr/>
        </p:nvSpPr>
        <p:spPr>
          <a:xfrm>
            <a:off x="6373368" y="2304288"/>
            <a:ext cx="473659" cy="201168"/>
          </a:xfrm>
          <a:prstGeom prst="rect">
            <a:avLst/>
          </a:prstGeom>
          <a:solidFill>
            <a:srgbClr val="E8F8F4"/>
          </a:solidFill>
          <a:ln w="6350">
            <a:solidFill>
              <a:srgbClr val="C8E6D4"/>
            </a:solidFill>
            <a:prstDash val="solid"/>
          </a:ln>
        </p:spPr>
      </p:sp>
      <p:sp>
        <p:nvSpPr>
          <p:cNvPr id="74" name="Text 72"/>
          <p:cNvSpPr/>
          <p:nvPr/>
        </p:nvSpPr>
        <p:spPr>
          <a:xfrm>
            <a:off x="6373368" y="2304288"/>
            <a:ext cx="473659"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002</a:t>
            </a:r>
            <a:endParaRPr lang="en-US" sz="750" dirty="0"/>
          </a:p>
        </p:txBody>
      </p:sp>
      <p:sp>
        <p:nvSpPr>
          <p:cNvPr id="75" name="Shape 73"/>
          <p:cNvSpPr/>
          <p:nvPr/>
        </p:nvSpPr>
        <p:spPr>
          <a:xfrm>
            <a:off x="6872630" y="2304288"/>
            <a:ext cx="307238" cy="201168"/>
          </a:xfrm>
          <a:prstGeom prst="rect">
            <a:avLst/>
          </a:prstGeom>
          <a:solidFill>
            <a:srgbClr val="E8F8F4"/>
          </a:solidFill>
          <a:ln w="6350">
            <a:solidFill>
              <a:srgbClr val="C8E6D4"/>
            </a:solidFill>
            <a:prstDash val="solid"/>
          </a:ln>
        </p:spPr>
      </p:sp>
      <p:sp>
        <p:nvSpPr>
          <p:cNvPr id="76" name="Text 74"/>
          <p:cNvSpPr/>
          <p:nvPr/>
        </p:nvSpPr>
        <p:spPr>
          <a:xfrm>
            <a:off x="6872630" y="2304288"/>
            <a:ext cx="307238"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2</a:t>
            </a:r>
            <a:endParaRPr lang="en-US" sz="750" dirty="0"/>
          </a:p>
        </p:txBody>
      </p:sp>
      <p:sp>
        <p:nvSpPr>
          <p:cNvPr id="77" name="Shape 75"/>
          <p:cNvSpPr/>
          <p:nvPr/>
        </p:nvSpPr>
        <p:spPr>
          <a:xfrm>
            <a:off x="7205472" y="2304288"/>
            <a:ext cx="281635" cy="201168"/>
          </a:xfrm>
          <a:prstGeom prst="rect">
            <a:avLst/>
          </a:prstGeom>
          <a:solidFill>
            <a:srgbClr val="E8F8F4"/>
          </a:solidFill>
          <a:ln w="6350">
            <a:solidFill>
              <a:srgbClr val="C8E6D4"/>
            </a:solidFill>
            <a:prstDash val="solid"/>
          </a:ln>
        </p:spPr>
      </p:sp>
      <p:sp>
        <p:nvSpPr>
          <p:cNvPr id="78" name="Text 76"/>
          <p:cNvSpPr/>
          <p:nvPr/>
        </p:nvSpPr>
        <p:spPr>
          <a:xfrm>
            <a:off x="7205472" y="2304288"/>
            <a:ext cx="281635"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28</a:t>
            </a:r>
            <a:endParaRPr lang="en-US" sz="750" dirty="0"/>
          </a:p>
        </p:txBody>
      </p:sp>
      <p:sp>
        <p:nvSpPr>
          <p:cNvPr id="79" name="Shape 77"/>
          <p:cNvSpPr/>
          <p:nvPr/>
        </p:nvSpPr>
        <p:spPr>
          <a:xfrm>
            <a:off x="7512710" y="2304288"/>
            <a:ext cx="448056" cy="201168"/>
          </a:xfrm>
          <a:prstGeom prst="rect">
            <a:avLst/>
          </a:prstGeom>
          <a:solidFill>
            <a:srgbClr val="E8F8F4"/>
          </a:solidFill>
          <a:ln w="6350">
            <a:solidFill>
              <a:srgbClr val="C8E6D4"/>
            </a:solidFill>
            <a:prstDash val="solid"/>
          </a:ln>
        </p:spPr>
      </p:sp>
      <p:sp>
        <p:nvSpPr>
          <p:cNvPr id="80" name="Text 78"/>
          <p:cNvSpPr/>
          <p:nvPr/>
        </p:nvSpPr>
        <p:spPr>
          <a:xfrm>
            <a:off x="7512710" y="2304288"/>
            <a:ext cx="448056"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8.5</a:t>
            </a:r>
            <a:endParaRPr lang="en-US" sz="750" dirty="0"/>
          </a:p>
        </p:txBody>
      </p:sp>
      <p:sp>
        <p:nvSpPr>
          <p:cNvPr id="81" name="Shape 79"/>
          <p:cNvSpPr/>
          <p:nvPr/>
        </p:nvSpPr>
        <p:spPr>
          <a:xfrm>
            <a:off x="6373368" y="2523744"/>
            <a:ext cx="473659" cy="201168"/>
          </a:xfrm>
          <a:prstGeom prst="rect">
            <a:avLst/>
          </a:prstGeom>
          <a:solidFill>
            <a:srgbClr val="EAF9F0"/>
          </a:solidFill>
          <a:ln w="6350">
            <a:solidFill>
              <a:srgbClr val="C8E6D4"/>
            </a:solidFill>
            <a:prstDash val="solid"/>
          </a:ln>
        </p:spPr>
      </p:sp>
      <p:sp>
        <p:nvSpPr>
          <p:cNvPr id="82" name="Text 80"/>
          <p:cNvSpPr/>
          <p:nvPr/>
        </p:nvSpPr>
        <p:spPr>
          <a:xfrm>
            <a:off x="6373368" y="2523744"/>
            <a:ext cx="473659"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003</a:t>
            </a:r>
            <a:endParaRPr lang="en-US" sz="750" dirty="0"/>
          </a:p>
        </p:txBody>
      </p:sp>
      <p:sp>
        <p:nvSpPr>
          <p:cNvPr id="83" name="Shape 81"/>
          <p:cNvSpPr/>
          <p:nvPr/>
        </p:nvSpPr>
        <p:spPr>
          <a:xfrm>
            <a:off x="6872630" y="2523744"/>
            <a:ext cx="307238" cy="201168"/>
          </a:xfrm>
          <a:prstGeom prst="rect">
            <a:avLst/>
          </a:prstGeom>
          <a:solidFill>
            <a:srgbClr val="EAF9F0"/>
          </a:solidFill>
          <a:ln w="6350">
            <a:solidFill>
              <a:srgbClr val="C8E6D4"/>
            </a:solidFill>
            <a:prstDash val="solid"/>
          </a:ln>
        </p:spPr>
      </p:sp>
      <p:sp>
        <p:nvSpPr>
          <p:cNvPr id="84" name="Text 82"/>
          <p:cNvSpPr/>
          <p:nvPr/>
        </p:nvSpPr>
        <p:spPr>
          <a:xfrm>
            <a:off x="6872630" y="2523744"/>
            <a:ext cx="307238"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1</a:t>
            </a:r>
            <a:endParaRPr lang="en-US" sz="750" dirty="0"/>
          </a:p>
        </p:txBody>
      </p:sp>
      <p:sp>
        <p:nvSpPr>
          <p:cNvPr id="85" name="Shape 83"/>
          <p:cNvSpPr/>
          <p:nvPr/>
        </p:nvSpPr>
        <p:spPr>
          <a:xfrm>
            <a:off x="7205472" y="2523744"/>
            <a:ext cx="281635" cy="201168"/>
          </a:xfrm>
          <a:prstGeom prst="rect">
            <a:avLst/>
          </a:prstGeom>
          <a:solidFill>
            <a:srgbClr val="EAF9F0"/>
          </a:solidFill>
          <a:ln w="6350">
            <a:solidFill>
              <a:srgbClr val="C8E6D4"/>
            </a:solidFill>
            <a:prstDash val="solid"/>
          </a:ln>
        </p:spPr>
      </p:sp>
      <p:sp>
        <p:nvSpPr>
          <p:cNvPr id="86" name="Text 84"/>
          <p:cNvSpPr/>
          <p:nvPr/>
        </p:nvSpPr>
        <p:spPr>
          <a:xfrm>
            <a:off x="7205472" y="2523744"/>
            <a:ext cx="281635"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45</a:t>
            </a:r>
            <a:endParaRPr lang="en-US" sz="750" dirty="0"/>
          </a:p>
        </p:txBody>
      </p:sp>
      <p:sp>
        <p:nvSpPr>
          <p:cNvPr id="87" name="Shape 85"/>
          <p:cNvSpPr/>
          <p:nvPr/>
        </p:nvSpPr>
        <p:spPr>
          <a:xfrm>
            <a:off x="7512710" y="2523744"/>
            <a:ext cx="448056" cy="201168"/>
          </a:xfrm>
          <a:prstGeom prst="rect">
            <a:avLst/>
          </a:prstGeom>
          <a:solidFill>
            <a:srgbClr val="EAF9F0"/>
          </a:solidFill>
          <a:ln w="6350">
            <a:solidFill>
              <a:srgbClr val="C8E6D4"/>
            </a:solidFill>
            <a:prstDash val="solid"/>
          </a:ln>
        </p:spPr>
      </p:sp>
      <p:sp>
        <p:nvSpPr>
          <p:cNvPr id="88" name="Text 86"/>
          <p:cNvSpPr/>
          <p:nvPr/>
        </p:nvSpPr>
        <p:spPr>
          <a:xfrm>
            <a:off x="7512710" y="2523744"/>
            <a:ext cx="448056"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6.0</a:t>
            </a:r>
            <a:endParaRPr lang="en-US" sz="750" dirty="0"/>
          </a:p>
        </p:txBody>
      </p:sp>
      <p:sp>
        <p:nvSpPr>
          <p:cNvPr id="89" name="Shape 87"/>
          <p:cNvSpPr/>
          <p:nvPr/>
        </p:nvSpPr>
        <p:spPr>
          <a:xfrm>
            <a:off x="6373368" y="2743200"/>
            <a:ext cx="473659" cy="201168"/>
          </a:xfrm>
          <a:prstGeom prst="rect">
            <a:avLst/>
          </a:prstGeom>
          <a:solidFill>
            <a:srgbClr val="EAF9F0"/>
          </a:solidFill>
          <a:ln w="6350">
            <a:solidFill>
              <a:srgbClr val="C8E6D4"/>
            </a:solidFill>
            <a:prstDash val="solid"/>
          </a:ln>
        </p:spPr>
      </p:sp>
      <p:sp>
        <p:nvSpPr>
          <p:cNvPr id="90" name="Text 88"/>
          <p:cNvSpPr/>
          <p:nvPr/>
        </p:nvSpPr>
        <p:spPr>
          <a:xfrm>
            <a:off x="6373368" y="2743200"/>
            <a:ext cx="473659"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004</a:t>
            </a:r>
            <a:endParaRPr lang="en-US" sz="750" dirty="0"/>
          </a:p>
        </p:txBody>
      </p:sp>
      <p:sp>
        <p:nvSpPr>
          <p:cNvPr id="91" name="Shape 89"/>
          <p:cNvSpPr/>
          <p:nvPr/>
        </p:nvSpPr>
        <p:spPr>
          <a:xfrm>
            <a:off x="6872630" y="2743200"/>
            <a:ext cx="307238" cy="201168"/>
          </a:xfrm>
          <a:prstGeom prst="rect">
            <a:avLst/>
          </a:prstGeom>
          <a:solidFill>
            <a:srgbClr val="EAF9F0"/>
          </a:solidFill>
          <a:ln w="6350">
            <a:solidFill>
              <a:srgbClr val="C8E6D4"/>
            </a:solidFill>
            <a:prstDash val="solid"/>
          </a:ln>
        </p:spPr>
      </p:sp>
      <p:sp>
        <p:nvSpPr>
          <p:cNvPr id="92" name="Text 90"/>
          <p:cNvSpPr/>
          <p:nvPr/>
        </p:nvSpPr>
        <p:spPr>
          <a:xfrm>
            <a:off x="6872630" y="2743200"/>
            <a:ext cx="307238"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2</a:t>
            </a:r>
            <a:endParaRPr lang="en-US" sz="750" dirty="0"/>
          </a:p>
        </p:txBody>
      </p:sp>
      <p:sp>
        <p:nvSpPr>
          <p:cNvPr id="93" name="Shape 91"/>
          <p:cNvSpPr/>
          <p:nvPr/>
        </p:nvSpPr>
        <p:spPr>
          <a:xfrm>
            <a:off x="7205472" y="2743200"/>
            <a:ext cx="281635" cy="201168"/>
          </a:xfrm>
          <a:prstGeom prst="rect">
            <a:avLst/>
          </a:prstGeom>
          <a:solidFill>
            <a:srgbClr val="EAF9F0"/>
          </a:solidFill>
          <a:ln w="6350">
            <a:solidFill>
              <a:srgbClr val="C8E6D4"/>
            </a:solidFill>
            <a:prstDash val="solid"/>
          </a:ln>
        </p:spPr>
      </p:sp>
      <p:sp>
        <p:nvSpPr>
          <p:cNvPr id="94" name="Text 92"/>
          <p:cNvSpPr/>
          <p:nvPr/>
        </p:nvSpPr>
        <p:spPr>
          <a:xfrm>
            <a:off x="7205472" y="2743200"/>
            <a:ext cx="281635"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52</a:t>
            </a:r>
            <a:endParaRPr lang="en-US" sz="750" dirty="0"/>
          </a:p>
        </p:txBody>
      </p:sp>
      <p:sp>
        <p:nvSpPr>
          <p:cNvPr id="95" name="Shape 93"/>
          <p:cNvSpPr/>
          <p:nvPr/>
        </p:nvSpPr>
        <p:spPr>
          <a:xfrm>
            <a:off x="7512710" y="2743200"/>
            <a:ext cx="448056" cy="201168"/>
          </a:xfrm>
          <a:prstGeom prst="rect">
            <a:avLst/>
          </a:prstGeom>
          <a:solidFill>
            <a:srgbClr val="EAF9F0"/>
          </a:solidFill>
          <a:ln w="6350">
            <a:solidFill>
              <a:srgbClr val="C8E6D4"/>
            </a:solidFill>
            <a:prstDash val="solid"/>
          </a:ln>
        </p:spPr>
      </p:sp>
      <p:sp>
        <p:nvSpPr>
          <p:cNvPr id="96" name="Text 94"/>
          <p:cNvSpPr/>
          <p:nvPr/>
        </p:nvSpPr>
        <p:spPr>
          <a:xfrm>
            <a:off x="7512710" y="2743200"/>
            <a:ext cx="448056" cy="201168"/>
          </a:xfrm>
          <a:prstGeom prst="rect">
            <a:avLst/>
          </a:prstGeom>
          <a:noFill/>
          <a:ln/>
        </p:spPr>
        <p:txBody>
          <a:bodyPr wrap="square" lIns="0" tIns="0" rIns="0" bIns="0" rtlCol="0" anchor="ctr"/>
          <a:lstStyle/>
          <a:p>
            <a:pPr algn="ctr" indent="0" marL="0">
              <a:buNone/>
            </a:pPr>
            <a:r>
              <a:rPr lang="en-US" sz="750" dirty="0">
                <a:solidFill>
                  <a:srgbClr val="0B2218"/>
                </a:solidFill>
                <a:latin typeface="Calibri" pitchFamily="34" charset="0"/>
                <a:ea typeface="Calibri" pitchFamily="34" charset="-122"/>
                <a:cs typeface="Calibri" pitchFamily="34" charset="-120"/>
              </a:rPr>
              <a:t>9.1</a:t>
            </a:r>
            <a:endParaRPr lang="en-US" sz="750" dirty="0"/>
          </a:p>
        </p:txBody>
      </p:sp>
      <p:sp>
        <p:nvSpPr>
          <p:cNvPr id="97" name="Shape 95"/>
          <p:cNvSpPr/>
          <p:nvPr/>
        </p:nvSpPr>
        <p:spPr>
          <a:xfrm>
            <a:off x="256032" y="3931920"/>
            <a:ext cx="4160520" cy="1115568"/>
          </a:xfrm>
          <a:prstGeom prst="roundRect">
            <a:avLst>
              <a:gd name="adj" fmla="val 6557"/>
            </a:avLst>
          </a:prstGeom>
          <a:solidFill>
            <a:srgbClr val="F5FAF7"/>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98" name="Text 96"/>
          <p:cNvSpPr/>
          <p:nvPr/>
        </p:nvSpPr>
        <p:spPr>
          <a:xfrm>
            <a:off x="384048" y="3968496"/>
            <a:ext cx="3931920" cy="1042416"/>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Steps: File &gt; Open the PRIMARY dataset &gt; Data &gt; Merge Files &gt; Add Cases &gt; Browse to second .sav file &gt; Review the paired variables list &gt; Variables must have IDENTICAL names and types to be matched &gt; Click OK.</a:t>
            </a:r>
            <a:endParaRPr lang="en-US" sz="950" dirty="0"/>
          </a:p>
        </p:txBody>
      </p:sp>
      <p:sp>
        <p:nvSpPr>
          <p:cNvPr id="99" name="Shape 97"/>
          <p:cNvSpPr/>
          <p:nvPr/>
        </p:nvSpPr>
        <p:spPr>
          <a:xfrm>
            <a:off x="4663440" y="3931920"/>
            <a:ext cx="4187952" cy="1115568"/>
          </a:xfrm>
          <a:prstGeom prst="roundRect">
            <a:avLst>
              <a:gd name="adj" fmla="val 8197"/>
            </a:avLst>
          </a:prstGeom>
          <a:solidFill>
            <a:srgbClr val="0A1A12"/>
          </a:solidFill>
          <a:ln w="12700">
            <a:solidFill>
              <a:srgbClr val="27AE60"/>
            </a:solidFill>
            <a:prstDash val="solid"/>
          </a:ln>
          <a:effectLst>
            <a:outerShdw sx="100000" sy="100000" kx="0" ky="0" algn="bl" rotWithShape="0" blurRad="76200" dist="25400" dir="2700000">
              <a:srgbClr val="000000">
                <a:alpha val="12000"/>
              </a:srgbClr>
            </a:outerShdw>
          </a:effectLst>
        </p:spPr>
      </p:sp>
      <p:sp>
        <p:nvSpPr>
          <p:cNvPr id="100" name="Text 98"/>
          <p:cNvSpPr/>
          <p:nvPr/>
        </p:nvSpPr>
        <p:spPr>
          <a:xfrm>
            <a:off x="4791456" y="4023360"/>
            <a:ext cx="4005072" cy="256032"/>
          </a:xfrm>
          <a:prstGeom prst="rect">
            <a:avLst/>
          </a:prstGeom>
          <a:noFill/>
          <a:ln/>
        </p:spPr>
        <p:txBody>
          <a:bodyPr wrap="square" lIns="0" tIns="0" rIns="0" bIns="0" rtlCol="0" anchor="ctr"/>
          <a:lstStyle/>
          <a:p>
            <a:pPr indent="0" marL="0">
              <a:buNone/>
            </a:pPr>
            <a:r>
              <a:rPr lang="en-US" sz="950" b="1" dirty="0">
                <a:solidFill>
                  <a:srgbClr val="F0C040"/>
                </a:solidFill>
                <a:latin typeface="Calibri" pitchFamily="34" charset="0"/>
                <a:ea typeface="Calibri" pitchFamily="34" charset="-122"/>
                <a:cs typeface="Calibri" pitchFamily="34" charset="-120"/>
              </a:rPr>
              <a:t>Add Cases Syntax:</a:t>
            </a:r>
            <a:endParaRPr lang="en-US" sz="950" dirty="0"/>
          </a:p>
        </p:txBody>
      </p:sp>
      <p:sp>
        <p:nvSpPr>
          <p:cNvPr id="101" name="Text 99"/>
          <p:cNvSpPr/>
          <p:nvPr/>
        </p:nvSpPr>
        <p:spPr>
          <a:xfrm>
            <a:off x="4791456" y="4334256"/>
            <a:ext cx="3986784"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Merge Lagos and Abuja batches.</a:t>
            </a:r>
            <a:endParaRPr lang="en-US" sz="850" dirty="0"/>
          </a:p>
        </p:txBody>
      </p:sp>
      <p:sp>
        <p:nvSpPr>
          <p:cNvPr id="102" name="Text 100"/>
          <p:cNvSpPr/>
          <p:nvPr/>
        </p:nvSpPr>
        <p:spPr>
          <a:xfrm>
            <a:off x="4791456" y="4517136"/>
            <a:ext cx="3986784"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ADD FILES FILE='/data/UAC_Abuja.sav'</a:t>
            </a:r>
            <a:endParaRPr lang="en-US" sz="850" dirty="0"/>
          </a:p>
        </p:txBody>
      </p:sp>
      <p:sp>
        <p:nvSpPr>
          <p:cNvPr id="103" name="Text 101"/>
          <p:cNvSpPr/>
          <p:nvPr/>
        </p:nvSpPr>
        <p:spPr>
          <a:xfrm>
            <a:off x="4791456" y="4700016"/>
            <a:ext cx="3986784"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  /FILE='/data/UAC_Lagos.sav'.</a:t>
            </a:r>
            <a:endParaRPr lang="en-US" sz="850" dirty="0"/>
          </a:p>
        </p:txBody>
      </p:sp>
      <p:sp>
        <p:nvSpPr>
          <p:cNvPr id="104" name="Text 102"/>
          <p:cNvSpPr/>
          <p:nvPr/>
        </p:nvSpPr>
        <p:spPr>
          <a:xfrm>
            <a:off x="4791456" y="4882896"/>
            <a:ext cx="3986784" cy="182880"/>
          </a:xfrm>
          <a:prstGeom prst="rect">
            <a:avLst/>
          </a:prstGeom>
          <a:noFill/>
          <a:ln/>
        </p:spPr>
        <p:txBody>
          <a:bodyPr wrap="square" lIns="0" tIns="0" rIns="0" bIns="0" rtlCol="0" anchor="ctr"/>
          <a:lstStyle/>
          <a:p>
            <a:pPr indent="0" marL="0">
              <a:buNone/>
            </a:pPr>
            <a:r>
              <a:rPr lang="en-US" sz="850" dirty="0">
                <a:solidFill>
                  <a:srgbClr val="569CD6"/>
                </a:solidFill>
                <a:latin typeface="Courier New" pitchFamily="34" charset="0"/>
                <a:ea typeface="Courier New" pitchFamily="34" charset="-122"/>
                <a:cs typeface="Courier New" pitchFamily="34" charset="-120"/>
              </a:rPr>
              <a:t>EXECUTE.</a:t>
            </a:r>
            <a:endParaRPr lang="en-US" sz="850" dirty="0"/>
          </a:p>
        </p:txBody>
      </p:sp>
      <p:sp>
        <p:nvSpPr>
          <p:cNvPr id="105" name="Shape 103"/>
          <p:cNvSpPr/>
          <p:nvPr/>
        </p:nvSpPr>
        <p:spPr>
          <a:xfrm>
            <a:off x="256032" y="5102352"/>
            <a:ext cx="8631936" cy="365760"/>
          </a:xfrm>
          <a:prstGeom prst="roundRect">
            <a:avLst>
              <a:gd name="adj" fmla="val 15000"/>
            </a:avLst>
          </a:prstGeom>
          <a:solidFill>
            <a:srgbClr val="FEF0ED"/>
          </a:solidFill>
          <a:ln w="19050">
            <a:solidFill>
              <a:srgbClr val="C0392B"/>
            </a:solidFill>
            <a:prstDash val="solid"/>
          </a:ln>
        </p:spPr>
      </p:sp>
      <p:sp>
        <p:nvSpPr>
          <p:cNvPr id="106" name="Text 104"/>
          <p:cNvSpPr/>
          <p:nvPr/>
        </p:nvSpPr>
        <p:spPr>
          <a:xfrm>
            <a:off x="384048" y="5102352"/>
            <a:ext cx="8449056" cy="365760"/>
          </a:xfrm>
          <a:prstGeom prst="rect">
            <a:avLst/>
          </a:prstGeom>
          <a:noFill/>
          <a:ln/>
        </p:spPr>
        <p:txBody>
          <a:bodyPr wrap="square" lIns="0" tIns="0" rIns="0" bIns="0" rtlCol="0" anchor="ctr"/>
          <a:lstStyle/>
          <a:p>
            <a:pPr indent="0" marL="0">
              <a:buNone/>
            </a:pPr>
            <a:r>
              <a:rPr lang="en-US" sz="1000" dirty="0">
                <a:solidFill>
                  <a:srgbClr val="7A1A0E"/>
                </a:solidFill>
                <a:latin typeface="Calibri" pitchFamily="34" charset="0"/>
                <a:ea typeface="Calibri" pitchFamily="34" charset="-122"/>
                <a:cs typeface="Calibri" pitchFamily="34" charset="-120"/>
              </a:rPr>
              <a:t>Variables with the same name but different Types (e.g., Numeric vs String) will NOT merge correctly. Harmonise variable types across both files before merging.</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914400" y="3200400"/>
            <a:ext cx="3657600" cy="3657600"/>
          </a:xfrm>
          <a:prstGeom prst="ellipse">
            <a:avLst/>
          </a:prstGeom>
          <a:solidFill>
            <a:srgbClr val="D4A017">
              <a:alpha val="14000"/>
            </a:srgbClr>
          </a:solidFill>
          <a:ln w="12700">
            <a:solidFill>
              <a:srgbClr val="D4A017"/>
            </a:solidFill>
            <a:prstDash val="solid"/>
          </a:ln>
        </p:spPr>
      </p:sp>
      <p:sp>
        <p:nvSpPr>
          <p:cNvPr id="3" name="Text 1"/>
          <p:cNvSpPr/>
          <p:nvPr/>
        </p:nvSpPr>
        <p:spPr>
          <a:xfrm>
            <a:off x="457200" y="201168"/>
            <a:ext cx="8229600" cy="621792"/>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Merge Files - Add Variables (Merging by Key Variable)</a:t>
            </a:r>
            <a:endParaRPr lang="en-US" sz="2600" dirty="0"/>
          </a:p>
        </p:txBody>
      </p:sp>
      <p:sp>
        <p:nvSpPr>
          <p:cNvPr id="4" name="Text 2"/>
          <p:cNvSpPr/>
          <p:nvPr/>
        </p:nvSpPr>
        <p:spPr>
          <a:xfrm>
            <a:off x="457200" y="877824"/>
            <a:ext cx="7772400" cy="347472"/>
          </a:xfrm>
          <a:prstGeom prst="rect">
            <a:avLst/>
          </a:prstGeom>
          <a:noFill/>
          <a:ln/>
        </p:spPr>
        <p:txBody>
          <a:bodyPr wrap="square" lIns="0" tIns="0" rIns="0" bIns="0" rtlCol="0" anchor="ctr"/>
          <a:lstStyle/>
          <a:p>
            <a:pPr indent="0" marL="0">
              <a:buNone/>
            </a:pPr>
            <a:r>
              <a:rPr lang="en-US" sz="1200" i="1" dirty="0">
                <a:solidFill>
                  <a:srgbClr val="A8D4BC"/>
                </a:solidFill>
                <a:latin typeface="Calibri" pitchFamily="34" charset="0"/>
                <a:ea typeface="Calibri" pitchFamily="34" charset="-122"/>
                <a:cs typeface="Calibri" pitchFamily="34" charset="-120"/>
              </a:rPr>
              <a:t>Horizontally joins two datasets that have DIFFERENT variables for the SAME cases, linked by a shared key variable</a:t>
            </a:r>
            <a:endParaRPr lang="en-US" sz="1200" dirty="0"/>
          </a:p>
        </p:txBody>
      </p:sp>
      <p:sp>
        <p:nvSpPr>
          <p:cNvPr id="5" name="Shape 3"/>
          <p:cNvSpPr/>
          <p:nvPr/>
        </p:nvSpPr>
        <p:spPr>
          <a:xfrm>
            <a:off x="274320" y="1298448"/>
            <a:ext cx="3840480" cy="1664208"/>
          </a:xfrm>
          <a:prstGeom prst="roundRect">
            <a:avLst>
              <a:gd name="adj" fmla="val 4945"/>
            </a:avLst>
          </a:prstGeom>
          <a:solidFill>
            <a:srgbClr val="113322"/>
          </a:solidFill>
          <a:ln w="15240">
            <a:solidFill>
              <a:srgbClr val="1A6B3C"/>
            </a:solidFill>
            <a:prstDash val="solid"/>
          </a:ln>
        </p:spPr>
      </p:sp>
      <p:sp>
        <p:nvSpPr>
          <p:cNvPr id="6" name="Text 4"/>
          <p:cNvSpPr/>
          <p:nvPr/>
        </p:nvSpPr>
        <p:spPr>
          <a:xfrm>
            <a:off x="384048" y="1389888"/>
            <a:ext cx="2286000" cy="329184"/>
          </a:xfrm>
          <a:prstGeom prst="rect">
            <a:avLst/>
          </a:prstGeom>
          <a:noFill/>
          <a:ln/>
        </p:spPr>
        <p:txBody>
          <a:bodyPr wrap="square" lIns="0" tIns="0" rIns="0" bIns="0" rtlCol="0" anchor="ctr"/>
          <a:lstStyle/>
          <a:p>
            <a:pPr indent="0" marL="0">
              <a:buNone/>
            </a:pPr>
            <a:r>
              <a:rPr lang="en-US" sz="1050" b="1" dirty="0">
                <a:solidFill>
                  <a:srgbClr val="1A6B3C"/>
                </a:solidFill>
                <a:latin typeface="Calibri" pitchFamily="34" charset="0"/>
                <a:ea typeface="Calibri" pitchFamily="34" charset="-122"/>
                <a:cs typeface="Calibri" pitchFamily="34" charset="-120"/>
              </a:rPr>
              <a:t>Survey Dataset</a:t>
            </a:r>
            <a:endParaRPr lang="en-US" sz="1050" dirty="0"/>
          </a:p>
          <a:p>
            <a:pPr indent="0" marL="0">
              <a:buNone/>
            </a:pPr>
            <a:r>
              <a:rPr lang="en-US" sz="1050" b="1" dirty="0">
                <a:solidFill>
                  <a:srgbClr val="1A6B3C"/>
                </a:solidFill>
                <a:latin typeface="Calibri" pitchFamily="34" charset="0"/>
                <a:ea typeface="Calibri" pitchFamily="34" charset="-122"/>
                <a:cs typeface="Calibri" pitchFamily="34" charset="-120"/>
              </a:rPr>
              <a:t>(450 respondents)</a:t>
            </a:r>
            <a:endParaRPr lang="en-US" sz="1050" dirty="0"/>
          </a:p>
        </p:txBody>
      </p:sp>
      <p:sp>
        <p:nvSpPr>
          <p:cNvPr id="7" name="Shape 5"/>
          <p:cNvSpPr/>
          <p:nvPr/>
        </p:nvSpPr>
        <p:spPr>
          <a:xfrm>
            <a:off x="365760" y="1773936"/>
            <a:ext cx="621792" cy="219456"/>
          </a:xfrm>
          <a:prstGeom prst="rect">
            <a:avLst/>
          </a:prstGeom>
          <a:solidFill>
            <a:srgbClr val="1A6B3C"/>
          </a:solidFill>
          <a:ln w="12700">
            <a:solidFill>
              <a:srgbClr val="1A6B3C"/>
            </a:solidFill>
            <a:prstDash val="solid"/>
          </a:ln>
        </p:spPr>
      </p:sp>
      <p:sp>
        <p:nvSpPr>
          <p:cNvPr id="8" name="Text 6"/>
          <p:cNvSpPr/>
          <p:nvPr/>
        </p:nvSpPr>
        <p:spPr>
          <a:xfrm>
            <a:off x="365760" y="1773936"/>
            <a:ext cx="621792"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resp_id</a:t>
            </a:r>
            <a:endParaRPr lang="en-US" sz="700" dirty="0"/>
          </a:p>
        </p:txBody>
      </p:sp>
      <p:sp>
        <p:nvSpPr>
          <p:cNvPr id="9" name="Shape 7"/>
          <p:cNvSpPr/>
          <p:nvPr/>
        </p:nvSpPr>
        <p:spPr>
          <a:xfrm>
            <a:off x="1024128" y="1773936"/>
            <a:ext cx="548640" cy="219456"/>
          </a:xfrm>
          <a:prstGeom prst="rect">
            <a:avLst/>
          </a:prstGeom>
          <a:solidFill>
            <a:srgbClr val="1A6B3C"/>
          </a:solidFill>
          <a:ln w="12700">
            <a:solidFill>
              <a:srgbClr val="1A6B3C"/>
            </a:solidFill>
            <a:prstDash val="solid"/>
          </a:ln>
        </p:spPr>
      </p:sp>
      <p:sp>
        <p:nvSpPr>
          <p:cNvPr id="10" name="Text 8"/>
          <p:cNvSpPr/>
          <p:nvPr/>
        </p:nvSpPr>
        <p:spPr>
          <a:xfrm>
            <a:off x="1024128" y="1773936"/>
            <a:ext cx="54864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gender</a:t>
            </a:r>
            <a:endParaRPr lang="en-US" sz="700" dirty="0"/>
          </a:p>
        </p:txBody>
      </p:sp>
      <p:sp>
        <p:nvSpPr>
          <p:cNvPr id="11" name="Shape 9"/>
          <p:cNvSpPr/>
          <p:nvPr/>
        </p:nvSpPr>
        <p:spPr>
          <a:xfrm>
            <a:off x="1609344" y="1773936"/>
            <a:ext cx="603504" cy="219456"/>
          </a:xfrm>
          <a:prstGeom prst="rect">
            <a:avLst/>
          </a:prstGeom>
          <a:solidFill>
            <a:srgbClr val="1A6B3C"/>
          </a:solidFill>
          <a:ln w="12700">
            <a:solidFill>
              <a:srgbClr val="1A6B3C"/>
            </a:solidFill>
            <a:prstDash val="solid"/>
          </a:ln>
        </p:spPr>
      </p:sp>
      <p:sp>
        <p:nvSpPr>
          <p:cNvPr id="12" name="Text 10"/>
          <p:cNvSpPr/>
          <p:nvPr/>
        </p:nvSpPr>
        <p:spPr>
          <a:xfrm>
            <a:off x="1609344" y="1773936"/>
            <a:ext cx="603504"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age</a:t>
            </a:r>
            <a:endParaRPr lang="en-US" sz="700" dirty="0"/>
          </a:p>
        </p:txBody>
      </p:sp>
      <p:sp>
        <p:nvSpPr>
          <p:cNvPr id="13" name="Shape 11"/>
          <p:cNvSpPr/>
          <p:nvPr/>
        </p:nvSpPr>
        <p:spPr>
          <a:xfrm>
            <a:off x="2249424" y="1773936"/>
            <a:ext cx="676656" cy="219456"/>
          </a:xfrm>
          <a:prstGeom prst="rect">
            <a:avLst/>
          </a:prstGeom>
          <a:solidFill>
            <a:srgbClr val="1A6B3C"/>
          </a:solidFill>
          <a:ln w="12700">
            <a:solidFill>
              <a:srgbClr val="1A6B3C"/>
            </a:solidFill>
            <a:prstDash val="solid"/>
          </a:ln>
        </p:spPr>
      </p:sp>
      <p:sp>
        <p:nvSpPr>
          <p:cNvPr id="14" name="Text 12"/>
          <p:cNvSpPr/>
          <p:nvPr/>
        </p:nvSpPr>
        <p:spPr>
          <a:xfrm>
            <a:off x="2249424" y="1773936"/>
            <a:ext cx="676656"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satisfaction</a:t>
            </a:r>
            <a:endParaRPr lang="en-US" sz="700" dirty="0"/>
          </a:p>
        </p:txBody>
      </p:sp>
      <p:sp>
        <p:nvSpPr>
          <p:cNvPr id="15" name="Shape 13"/>
          <p:cNvSpPr/>
          <p:nvPr/>
        </p:nvSpPr>
        <p:spPr>
          <a:xfrm>
            <a:off x="365760" y="2011680"/>
            <a:ext cx="621792" cy="219456"/>
          </a:xfrm>
          <a:prstGeom prst="rect">
            <a:avLst/>
          </a:prstGeom>
          <a:solidFill>
            <a:srgbClr val="1A3828"/>
          </a:solidFill>
          <a:ln w="6350">
            <a:solidFill>
              <a:srgbClr val="2A5A3A"/>
            </a:solidFill>
            <a:prstDash val="solid"/>
          </a:ln>
        </p:spPr>
      </p:sp>
      <p:sp>
        <p:nvSpPr>
          <p:cNvPr id="16" name="Text 14"/>
          <p:cNvSpPr/>
          <p:nvPr/>
        </p:nvSpPr>
        <p:spPr>
          <a:xfrm>
            <a:off x="365760" y="2011680"/>
            <a:ext cx="621792"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001</a:t>
            </a:r>
            <a:endParaRPr lang="en-US" sz="750" dirty="0"/>
          </a:p>
        </p:txBody>
      </p:sp>
      <p:sp>
        <p:nvSpPr>
          <p:cNvPr id="17" name="Shape 15"/>
          <p:cNvSpPr/>
          <p:nvPr/>
        </p:nvSpPr>
        <p:spPr>
          <a:xfrm>
            <a:off x="1024128" y="2011680"/>
            <a:ext cx="548640" cy="219456"/>
          </a:xfrm>
          <a:prstGeom prst="rect">
            <a:avLst/>
          </a:prstGeom>
          <a:solidFill>
            <a:srgbClr val="1A3828"/>
          </a:solidFill>
          <a:ln w="6350">
            <a:solidFill>
              <a:srgbClr val="2A5A3A"/>
            </a:solidFill>
            <a:prstDash val="solid"/>
          </a:ln>
        </p:spPr>
      </p:sp>
      <p:sp>
        <p:nvSpPr>
          <p:cNvPr id="18" name="Text 16"/>
          <p:cNvSpPr/>
          <p:nvPr/>
        </p:nvSpPr>
        <p:spPr>
          <a:xfrm>
            <a:off x="1024128" y="2011680"/>
            <a:ext cx="548640"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1</a:t>
            </a:r>
            <a:endParaRPr lang="en-US" sz="750" dirty="0"/>
          </a:p>
        </p:txBody>
      </p:sp>
      <p:sp>
        <p:nvSpPr>
          <p:cNvPr id="19" name="Shape 17"/>
          <p:cNvSpPr/>
          <p:nvPr/>
        </p:nvSpPr>
        <p:spPr>
          <a:xfrm>
            <a:off x="1609344" y="2011680"/>
            <a:ext cx="603504" cy="219456"/>
          </a:xfrm>
          <a:prstGeom prst="rect">
            <a:avLst/>
          </a:prstGeom>
          <a:solidFill>
            <a:srgbClr val="1A3828"/>
          </a:solidFill>
          <a:ln w="6350">
            <a:solidFill>
              <a:srgbClr val="2A5A3A"/>
            </a:solidFill>
            <a:prstDash val="solid"/>
          </a:ln>
        </p:spPr>
      </p:sp>
      <p:sp>
        <p:nvSpPr>
          <p:cNvPr id="20" name="Text 18"/>
          <p:cNvSpPr/>
          <p:nvPr/>
        </p:nvSpPr>
        <p:spPr>
          <a:xfrm>
            <a:off x="1609344" y="2011680"/>
            <a:ext cx="603504"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34</a:t>
            </a:r>
            <a:endParaRPr lang="en-US" sz="750" dirty="0"/>
          </a:p>
        </p:txBody>
      </p:sp>
      <p:sp>
        <p:nvSpPr>
          <p:cNvPr id="21" name="Shape 19"/>
          <p:cNvSpPr/>
          <p:nvPr/>
        </p:nvSpPr>
        <p:spPr>
          <a:xfrm>
            <a:off x="2249424" y="2011680"/>
            <a:ext cx="676656" cy="219456"/>
          </a:xfrm>
          <a:prstGeom prst="rect">
            <a:avLst/>
          </a:prstGeom>
          <a:solidFill>
            <a:srgbClr val="1A3828"/>
          </a:solidFill>
          <a:ln w="6350">
            <a:solidFill>
              <a:srgbClr val="2A5A3A"/>
            </a:solidFill>
            <a:prstDash val="solid"/>
          </a:ln>
        </p:spPr>
      </p:sp>
      <p:sp>
        <p:nvSpPr>
          <p:cNvPr id="22" name="Text 20"/>
          <p:cNvSpPr/>
          <p:nvPr/>
        </p:nvSpPr>
        <p:spPr>
          <a:xfrm>
            <a:off x="2249424" y="2011680"/>
            <a:ext cx="676656"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7.2</a:t>
            </a:r>
            <a:endParaRPr lang="en-US" sz="750" dirty="0"/>
          </a:p>
        </p:txBody>
      </p:sp>
      <p:sp>
        <p:nvSpPr>
          <p:cNvPr id="23" name="Shape 21"/>
          <p:cNvSpPr/>
          <p:nvPr/>
        </p:nvSpPr>
        <p:spPr>
          <a:xfrm>
            <a:off x="365760" y="2249424"/>
            <a:ext cx="621792" cy="219456"/>
          </a:xfrm>
          <a:prstGeom prst="rect">
            <a:avLst/>
          </a:prstGeom>
          <a:solidFill>
            <a:srgbClr val="162E22"/>
          </a:solidFill>
          <a:ln w="6350">
            <a:solidFill>
              <a:srgbClr val="2A5A3A"/>
            </a:solidFill>
            <a:prstDash val="solid"/>
          </a:ln>
        </p:spPr>
      </p:sp>
      <p:sp>
        <p:nvSpPr>
          <p:cNvPr id="24" name="Text 22"/>
          <p:cNvSpPr/>
          <p:nvPr/>
        </p:nvSpPr>
        <p:spPr>
          <a:xfrm>
            <a:off x="365760" y="2249424"/>
            <a:ext cx="621792"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002</a:t>
            </a:r>
            <a:endParaRPr lang="en-US" sz="750" dirty="0"/>
          </a:p>
        </p:txBody>
      </p:sp>
      <p:sp>
        <p:nvSpPr>
          <p:cNvPr id="25" name="Shape 23"/>
          <p:cNvSpPr/>
          <p:nvPr/>
        </p:nvSpPr>
        <p:spPr>
          <a:xfrm>
            <a:off x="1024128" y="2249424"/>
            <a:ext cx="548640" cy="219456"/>
          </a:xfrm>
          <a:prstGeom prst="rect">
            <a:avLst/>
          </a:prstGeom>
          <a:solidFill>
            <a:srgbClr val="162E22"/>
          </a:solidFill>
          <a:ln w="6350">
            <a:solidFill>
              <a:srgbClr val="2A5A3A"/>
            </a:solidFill>
            <a:prstDash val="solid"/>
          </a:ln>
        </p:spPr>
      </p:sp>
      <p:sp>
        <p:nvSpPr>
          <p:cNvPr id="26" name="Text 24"/>
          <p:cNvSpPr/>
          <p:nvPr/>
        </p:nvSpPr>
        <p:spPr>
          <a:xfrm>
            <a:off x="1024128" y="2249424"/>
            <a:ext cx="548640"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2</a:t>
            </a:r>
            <a:endParaRPr lang="en-US" sz="750" dirty="0"/>
          </a:p>
        </p:txBody>
      </p:sp>
      <p:sp>
        <p:nvSpPr>
          <p:cNvPr id="27" name="Shape 25"/>
          <p:cNvSpPr/>
          <p:nvPr/>
        </p:nvSpPr>
        <p:spPr>
          <a:xfrm>
            <a:off x="1609344" y="2249424"/>
            <a:ext cx="603504" cy="219456"/>
          </a:xfrm>
          <a:prstGeom prst="rect">
            <a:avLst/>
          </a:prstGeom>
          <a:solidFill>
            <a:srgbClr val="162E22"/>
          </a:solidFill>
          <a:ln w="6350">
            <a:solidFill>
              <a:srgbClr val="2A5A3A"/>
            </a:solidFill>
            <a:prstDash val="solid"/>
          </a:ln>
        </p:spPr>
      </p:sp>
      <p:sp>
        <p:nvSpPr>
          <p:cNvPr id="28" name="Text 26"/>
          <p:cNvSpPr/>
          <p:nvPr/>
        </p:nvSpPr>
        <p:spPr>
          <a:xfrm>
            <a:off x="1609344" y="2249424"/>
            <a:ext cx="603504"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28</a:t>
            </a:r>
            <a:endParaRPr lang="en-US" sz="750" dirty="0"/>
          </a:p>
        </p:txBody>
      </p:sp>
      <p:sp>
        <p:nvSpPr>
          <p:cNvPr id="29" name="Shape 27"/>
          <p:cNvSpPr/>
          <p:nvPr/>
        </p:nvSpPr>
        <p:spPr>
          <a:xfrm>
            <a:off x="2249424" y="2249424"/>
            <a:ext cx="676656" cy="219456"/>
          </a:xfrm>
          <a:prstGeom prst="rect">
            <a:avLst/>
          </a:prstGeom>
          <a:solidFill>
            <a:srgbClr val="162E22"/>
          </a:solidFill>
          <a:ln w="6350">
            <a:solidFill>
              <a:srgbClr val="2A5A3A"/>
            </a:solidFill>
            <a:prstDash val="solid"/>
          </a:ln>
        </p:spPr>
      </p:sp>
      <p:sp>
        <p:nvSpPr>
          <p:cNvPr id="30" name="Text 28"/>
          <p:cNvSpPr/>
          <p:nvPr/>
        </p:nvSpPr>
        <p:spPr>
          <a:xfrm>
            <a:off x="2249424" y="2249424"/>
            <a:ext cx="676656"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8.5</a:t>
            </a:r>
            <a:endParaRPr lang="en-US" sz="750" dirty="0"/>
          </a:p>
        </p:txBody>
      </p:sp>
      <p:sp>
        <p:nvSpPr>
          <p:cNvPr id="31" name="Shape 29"/>
          <p:cNvSpPr/>
          <p:nvPr/>
        </p:nvSpPr>
        <p:spPr>
          <a:xfrm>
            <a:off x="365760" y="2487168"/>
            <a:ext cx="621792" cy="219456"/>
          </a:xfrm>
          <a:prstGeom prst="rect">
            <a:avLst/>
          </a:prstGeom>
          <a:solidFill>
            <a:srgbClr val="1A3828"/>
          </a:solidFill>
          <a:ln w="6350">
            <a:solidFill>
              <a:srgbClr val="2A5A3A"/>
            </a:solidFill>
            <a:prstDash val="solid"/>
          </a:ln>
        </p:spPr>
      </p:sp>
      <p:sp>
        <p:nvSpPr>
          <p:cNvPr id="32" name="Text 30"/>
          <p:cNvSpPr/>
          <p:nvPr/>
        </p:nvSpPr>
        <p:spPr>
          <a:xfrm>
            <a:off x="365760" y="2487168"/>
            <a:ext cx="621792"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003</a:t>
            </a:r>
            <a:endParaRPr lang="en-US" sz="750" dirty="0"/>
          </a:p>
        </p:txBody>
      </p:sp>
      <p:sp>
        <p:nvSpPr>
          <p:cNvPr id="33" name="Shape 31"/>
          <p:cNvSpPr/>
          <p:nvPr/>
        </p:nvSpPr>
        <p:spPr>
          <a:xfrm>
            <a:off x="1024128" y="2487168"/>
            <a:ext cx="548640" cy="219456"/>
          </a:xfrm>
          <a:prstGeom prst="rect">
            <a:avLst/>
          </a:prstGeom>
          <a:solidFill>
            <a:srgbClr val="1A3828"/>
          </a:solidFill>
          <a:ln w="6350">
            <a:solidFill>
              <a:srgbClr val="2A5A3A"/>
            </a:solidFill>
            <a:prstDash val="solid"/>
          </a:ln>
        </p:spPr>
      </p:sp>
      <p:sp>
        <p:nvSpPr>
          <p:cNvPr id="34" name="Text 32"/>
          <p:cNvSpPr/>
          <p:nvPr/>
        </p:nvSpPr>
        <p:spPr>
          <a:xfrm>
            <a:off x="1024128" y="2487168"/>
            <a:ext cx="548640"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1</a:t>
            </a:r>
            <a:endParaRPr lang="en-US" sz="750" dirty="0"/>
          </a:p>
        </p:txBody>
      </p:sp>
      <p:sp>
        <p:nvSpPr>
          <p:cNvPr id="35" name="Shape 33"/>
          <p:cNvSpPr/>
          <p:nvPr/>
        </p:nvSpPr>
        <p:spPr>
          <a:xfrm>
            <a:off x="1609344" y="2487168"/>
            <a:ext cx="603504" cy="219456"/>
          </a:xfrm>
          <a:prstGeom prst="rect">
            <a:avLst/>
          </a:prstGeom>
          <a:solidFill>
            <a:srgbClr val="1A3828"/>
          </a:solidFill>
          <a:ln w="6350">
            <a:solidFill>
              <a:srgbClr val="2A5A3A"/>
            </a:solidFill>
            <a:prstDash val="solid"/>
          </a:ln>
        </p:spPr>
      </p:sp>
      <p:sp>
        <p:nvSpPr>
          <p:cNvPr id="36" name="Text 34"/>
          <p:cNvSpPr/>
          <p:nvPr/>
        </p:nvSpPr>
        <p:spPr>
          <a:xfrm>
            <a:off x="1609344" y="2487168"/>
            <a:ext cx="603504"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45</a:t>
            </a:r>
            <a:endParaRPr lang="en-US" sz="750" dirty="0"/>
          </a:p>
        </p:txBody>
      </p:sp>
      <p:sp>
        <p:nvSpPr>
          <p:cNvPr id="37" name="Shape 35"/>
          <p:cNvSpPr/>
          <p:nvPr/>
        </p:nvSpPr>
        <p:spPr>
          <a:xfrm>
            <a:off x="2249424" y="2487168"/>
            <a:ext cx="676656" cy="219456"/>
          </a:xfrm>
          <a:prstGeom prst="rect">
            <a:avLst/>
          </a:prstGeom>
          <a:solidFill>
            <a:srgbClr val="1A3828"/>
          </a:solidFill>
          <a:ln w="6350">
            <a:solidFill>
              <a:srgbClr val="2A5A3A"/>
            </a:solidFill>
            <a:prstDash val="solid"/>
          </a:ln>
        </p:spPr>
      </p:sp>
      <p:sp>
        <p:nvSpPr>
          <p:cNvPr id="38" name="Text 36"/>
          <p:cNvSpPr/>
          <p:nvPr/>
        </p:nvSpPr>
        <p:spPr>
          <a:xfrm>
            <a:off x="2249424" y="2487168"/>
            <a:ext cx="676656"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6.0</a:t>
            </a:r>
            <a:endParaRPr lang="en-US" sz="750" dirty="0"/>
          </a:p>
        </p:txBody>
      </p:sp>
      <p:sp>
        <p:nvSpPr>
          <p:cNvPr id="39" name="Shape 37"/>
          <p:cNvSpPr/>
          <p:nvPr/>
        </p:nvSpPr>
        <p:spPr>
          <a:xfrm>
            <a:off x="4389120" y="1298448"/>
            <a:ext cx="3840480" cy="1664208"/>
          </a:xfrm>
          <a:prstGeom prst="roundRect">
            <a:avLst>
              <a:gd name="adj" fmla="val 4945"/>
            </a:avLst>
          </a:prstGeom>
          <a:solidFill>
            <a:srgbClr val="113322"/>
          </a:solidFill>
          <a:ln w="15240">
            <a:solidFill>
              <a:srgbClr val="0E7C7B"/>
            </a:solidFill>
            <a:prstDash val="solid"/>
          </a:ln>
        </p:spPr>
      </p:sp>
      <p:sp>
        <p:nvSpPr>
          <p:cNvPr id="40" name="Text 38"/>
          <p:cNvSpPr/>
          <p:nvPr/>
        </p:nvSpPr>
        <p:spPr>
          <a:xfrm>
            <a:off x="4498848" y="1389888"/>
            <a:ext cx="2286000" cy="329184"/>
          </a:xfrm>
          <a:prstGeom prst="rect">
            <a:avLst/>
          </a:prstGeom>
          <a:noFill/>
          <a:ln/>
        </p:spPr>
        <p:txBody>
          <a:bodyPr wrap="square" lIns="0" tIns="0" rIns="0" bIns="0" rtlCol="0" anchor="ctr"/>
          <a:lstStyle/>
          <a:p>
            <a:pPr indent="0" marL="0">
              <a:buNone/>
            </a:pPr>
            <a:r>
              <a:rPr lang="en-US" sz="1050" b="1" dirty="0">
                <a:solidFill>
                  <a:srgbClr val="0E7C7B"/>
                </a:solidFill>
                <a:latin typeface="Calibri" pitchFamily="34" charset="0"/>
                <a:ea typeface="Calibri" pitchFamily="34" charset="-122"/>
                <a:cs typeface="Calibri" pitchFamily="34" charset="-120"/>
              </a:rPr>
              <a:t>Sales Dataset</a:t>
            </a:r>
            <a:endParaRPr lang="en-US" sz="1050" dirty="0"/>
          </a:p>
          <a:p>
            <a:pPr indent="0" marL="0">
              <a:buNone/>
            </a:pPr>
            <a:r>
              <a:rPr lang="en-US" sz="1050" b="1" dirty="0">
                <a:solidFill>
                  <a:srgbClr val="0E7C7B"/>
                </a:solidFill>
                <a:latin typeface="Calibri" pitchFamily="34" charset="0"/>
                <a:ea typeface="Calibri" pitchFamily="34" charset="-122"/>
                <a:cs typeface="Calibri" pitchFamily="34" charset="-120"/>
              </a:rPr>
              <a:t>(450 respondents)</a:t>
            </a:r>
            <a:endParaRPr lang="en-US" sz="1050" dirty="0"/>
          </a:p>
        </p:txBody>
      </p:sp>
      <p:sp>
        <p:nvSpPr>
          <p:cNvPr id="41" name="Shape 39"/>
          <p:cNvSpPr/>
          <p:nvPr/>
        </p:nvSpPr>
        <p:spPr>
          <a:xfrm>
            <a:off x="4480560" y="1773936"/>
            <a:ext cx="621792" cy="219456"/>
          </a:xfrm>
          <a:prstGeom prst="rect">
            <a:avLst/>
          </a:prstGeom>
          <a:solidFill>
            <a:srgbClr val="0E7C7B"/>
          </a:solidFill>
          <a:ln w="12700">
            <a:solidFill>
              <a:srgbClr val="0E7C7B"/>
            </a:solidFill>
            <a:prstDash val="solid"/>
          </a:ln>
        </p:spPr>
      </p:sp>
      <p:sp>
        <p:nvSpPr>
          <p:cNvPr id="42" name="Text 40"/>
          <p:cNvSpPr/>
          <p:nvPr/>
        </p:nvSpPr>
        <p:spPr>
          <a:xfrm>
            <a:off x="4480560" y="1773936"/>
            <a:ext cx="621792"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resp_id</a:t>
            </a:r>
            <a:endParaRPr lang="en-US" sz="700" dirty="0"/>
          </a:p>
        </p:txBody>
      </p:sp>
      <p:sp>
        <p:nvSpPr>
          <p:cNvPr id="43" name="Shape 41"/>
          <p:cNvSpPr/>
          <p:nvPr/>
        </p:nvSpPr>
        <p:spPr>
          <a:xfrm>
            <a:off x="5138928" y="1773936"/>
            <a:ext cx="548640" cy="219456"/>
          </a:xfrm>
          <a:prstGeom prst="rect">
            <a:avLst/>
          </a:prstGeom>
          <a:solidFill>
            <a:srgbClr val="0E7C7B"/>
          </a:solidFill>
          <a:ln w="12700">
            <a:solidFill>
              <a:srgbClr val="0E7C7B"/>
            </a:solidFill>
            <a:prstDash val="solid"/>
          </a:ln>
        </p:spPr>
      </p:sp>
      <p:sp>
        <p:nvSpPr>
          <p:cNvPr id="44" name="Text 42"/>
          <p:cNvSpPr/>
          <p:nvPr/>
        </p:nvSpPr>
        <p:spPr>
          <a:xfrm>
            <a:off x="5138928" y="1773936"/>
            <a:ext cx="54864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total_spend</a:t>
            </a:r>
            <a:endParaRPr lang="en-US" sz="700" dirty="0"/>
          </a:p>
        </p:txBody>
      </p:sp>
      <p:sp>
        <p:nvSpPr>
          <p:cNvPr id="45" name="Shape 43"/>
          <p:cNvSpPr/>
          <p:nvPr/>
        </p:nvSpPr>
        <p:spPr>
          <a:xfrm>
            <a:off x="5724144" y="1773936"/>
            <a:ext cx="603504" cy="219456"/>
          </a:xfrm>
          <a:prstGeom prst="rect">
            <a:avLst/>
          </a:prstGeom>
          <a:solidFill>
            <a:srgbClr val="0E7C7B"/>
          </a:solidFill>
          <a:ln w="12700">
            <a:solidFill>
              <a:srgbClr val="0E7C7B"/>
            </a:solidFill>
            <a:prstDash val="solid"/>
          </a:ln>
        </p:spPr>
      </p:sp>
      <p:sp>
        <p:nvSpPr>
          <p:cNvPr id="46" name="Text 44"/>
          <p:cNvSpPr/>
          <p:nvPr/>
        </p:nvSpPr>
        <p:spPr>
          <a:xfrm>
            <a:off x="5724144" y="1773936"/>
            <a:ext cx="603504"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purchase_freq</a:t>
            </a:r>
            <a:endParaRPr lang="en-US" sz="700" dirty="0"/>
          </a:p>
        </p:txBody>
      </p:sp>
      <p:sp>
        <p:nvSpPr>
          <p:cNvPr id="47" name="Shape 45"/>
          <p:cNvSpPr/>
          <p:nvPr/>
        </p:nvSpPr>
        <p:spPr>
          <a:xfrm>
            <a:off x="6364224" y="1773936"/>
            <a:ext cx="676656" cy="219456"/>
          </a:xfrm>
          <a:prstGeom prst="rect">
            <a:avLst/>
          </a:prstGeom>
          <a:solidFill>
            <a:srgbClr val="0E7C7B"/>
          </a:solidFill>
          <a:ln w="12700">
            <a:solidFill>
              <a:srgbClr val="0E7C7B"/>
            </a:solidFill>
            <a:prstDash val="solid"/>
          </a:ln>
        </p:spPr>
      </p:sp>
      <p:sp>
        <p:nvSpPr>
          <p:cNvPr id="48" name="Text 46"/>
          <p:cNvSpPr/>
          <p:nvPr/>
        </p:nvSpPr>
        <p:spPr>
          <a:xfrm>
            <a:off x="6364224" y="1773936"/>
            <a:ext cx="676656"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loyalty_pts</a:t>
            </a:r>
            <a:endParaRPr lang="en-US" sz="700" dirty="0"/>
          </a:p>
        </p:txBody>
      </p:sp>
      <p:sp>
        <p:nvSpPr>
          <p:cNvPr id="49" name="Shape 47"/>
          <p:cNvSpPr/>
          <p:nvPr/>
        </p:nvSpPr>
        <p:spPr>
          <a:xfrm>
            <a:off x="4480560" y="2011680"/>
            <a:ext cx="621792" cy="219456"/>
          </a:xfrm>
          <a:prstGeom prst="rect">
            <a:avLst/>
          </a:prstGeom>
          <a:solidFill>
            <a:srgbClr val="1A3828"/>
          </a:solidFill>
          <a:ln w="6350">
            <a:solidFill>
              <a:srgbClr val="2A5A3A"/>
            </a:solidFill>
            <a:prstDash val="solid"/>
          </a:ln>
        </p:spPr>
      </p:sp>
      <p:sp>
        <p:nvSpPr>
          <p:cNvPr id="50" name="Text 48"/>
          <p:cNvSpPr/>
          <p:nvPr/>
        </p:nvSpPr>
        <p:spPr>
          <a:xfrm>
            <a:off x="4480560" y="2011680"/>
            <a:ext cx="621792"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001</a:t>
            </a:r>
            <a:endParaRPr lang="en-US" sz="750" dirty="0"/>
          </a:p>
        </p:txBody>
      </p:sp>
      <p:sp>
        <p:nvSpPr>
          <p:cNvPr id="51" name="Shape 49"/>
          <p:cNvSpPr/>
          <p:nvPr/>
        </p:nvSpPr>
        <p:spPr>
          <a:xfrm>
            <a:off x="5138928" y="2011680"/>
            <a:ext cx="548640" cy="219456"/>
          </a:xfrm>
          <a:prstGeom prst="rect">
            <a:avLst/>
          </a:prstGeom>
          <a:solidFill>
            <a:srgbClr val="1A3828"/>
          </a:solidFill>
          <a:ln w="6350">
            <a:solidFill>
              <a:srgbClr val="2A5A3A"/>
            </a:solidFill>
            <a:prstDash val="solid"/>
          </a:ln>
        </p:spPr>
      </p:sp>
      <p:sp>
        <p:nvSpPr>
          <p:cNvPr id="52" name="Text 50"/>
          <p:cNvSpPr/>
          <p:nvPr/>
        </p:nvSpPr>
        <p:spPr>
          <a:xfrm>
            <a:off x="5138928" y="2011680"/>
            <a:ext cx="548640"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45200</a:t>
            </a:r>
            <a:endParaRPr lang="en-US" sz="750" dirty="0"/>
          </a:p>
        </p:txBody>
      </p:sp>
      <p:sp>
        <p:nvSpPr>
          <p:cNvPr id="53" name="Shape 51"/>
          <p:cNvSpPr/>
          <p:nvPr/>
        </p:nvSpPr>
        <p:spPr>
          <a:xfrm>
            <a:off x="5724144" y="2011680"/>
            <a:ext cx="603504" cy="219456"/>
          </a:xfrm>
          <a:prstGeom prst="rect">
            <a:avLst/>
          </a:prstGeom>
          <a:solidFill>
            <a:srgbClr val="1A3828"/>
          </a:solidFill>
          <a:ln w="6350">
            <a:solidFill>
              <a:srgbClr val="2A5A3A"/>
            </a:solidFill>
            <a:prstDash val="solid"/>
          </a:ln>
        </p:spPr>
      </p:sp>
      <p:sp>
        <p:nvSpPr>
          <p:cNvPr id="54" name="Text 52"/>
          <p:cNvSpPr/>
          <p:nvPr/>
        </p:nvSpPr>
        <p:spPr>
          <a:xfrm>
            <a:off x="5724144" y="2011680"/>
            <a:ext cx="603504"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12</a:t>
            </a:r>
            <a:endParaRPr lang="en-US" sz="750" dirty="0"/>
          </a:p>
        </p:txBody>
      </p:sp>
      <p:sp>
        <p:nvSpPr>
          <p:cNvPr id="55" name="Shape 53"/>
          <p:cNvSpPr/>
          <p:nvPr/>
        </p:nvSpPr>
        <p:spPr>
          <a:xfrm>
            <a:off x="6364224" y="2011680"/>
            <a:ext cx="676656" cy="219456"/>
          </a:xfrm>
          <a:prstGeom prst="rect">
            <a:avLst/>
          </a:prstGeom>
          <a:solidFill>
            <a:srgbClr val="1A3828"/>
          </a:solidFill>
          <a:ln w="6350">
            <a:solidFill>
              <a:srgbClr val="2A5A3A"/>
            </a:solidFill>
            <a:prstDash val="solid"/>
          </a:ln>
        </p:spPr>
      </p:sp>
      <p:sp>
        <p:nvSpPr>
          <p:cNvPr id="56" name="Text 54"/>
          <p:cNvSpPr/>
          <p:nvPr/>
        </p:nvSpPr>
        <p:spPr>
          <a:xfrm>
            <a:off x="6364224" y="2011680"/>
            <a:ext cx="676656"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450</a:t>
            </a:r>
            <a:endParaRPr lang="en-US" sz="750" dirty="0"/>
          </a:p>
        </p:txBody>
      </p:sp>
      <p:sp>
        <p:nvSpPr>
          <p:cNvPr id="57" name="Shape 55"/>
          <p:cNvSpPr/>
          <p:nvPr/>
        </p:nvSpPr>
        <p:spPr>
          <a:xfrm>
            <a:off x="4480560" y="2249424"/>
            <a:ext cx="621792" cy="219456"/>
          </a:xfrm>
          <a:prstGeom prst="rect">
            <a:avLst/>
          </a:prstGeom>
          <a:solidFill>
            <a:srgbClr val="162E22"/>
          </a:solidFill>
          <a:ln w="6350">
            <a:solidFill>
              <a:srgbClr val="2A5A3A"/>
            </a:solidFill>
            <a:prstDash val="solid"/>
          </a:ln>
        </p:spPr>
      </p:sp>
      <p:sp>
        <p:nvSpPr>
          <p:cNvPr id="58" name="Text 56"/>
          <p:cNvSpPr/>
          <p:nvPr/>
        </p:nvSpPr>
        <p:spPr>
          <a:xfrm>
            <a:off x="4480560" y="2249424"/>
            <a:ext cx="621792"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002</a:t>
            </a:r>
            <a:endParaRPr lang="en-US" sz="750" dirty="0"/>
          </a:p>
        </p:txBody>
      </p:sp>
      <p:sp>
        <p:nvSpPr>
          <p:cNvPr id="59" name="Shape 57"/>
          <p:cNvSpPr/>
          <p:nvPr/>
        </p:nvSpPr>
        <p:spPr>
          <a:xfrm>
            <a:off x="5138928" y="2249424"/>
            <a:ext cx="548640" cy="219456"/>
          </a:xfrm>
          <a:prstGeom prst="rect">
            <a:avLst/>
          </a:prstGeom>
          <a:solidFill>
            <a:srgbClr val="162E22"/>
          </a:solidFill>
          <a:ln w="6350">
            <a:solidFill>
              <a:srgbClr val="2A5A3A"/>
            </a:solidFill>
            <a:prstDash val="solid"/>
          </a:ln>
        </p:spPr>
      </p:sp>
      <p:sp>
        <p:nvSpPr>
          <p:cNvPr id="60" name="Text 58"/>
          <p:cNvSpPr/>
          <p:nvPr/>
        </p:nvSpPr>
        <p:spPr>
          <a:xfrm>
            <a:off x="5138928" y="2249424"/>
            <a:ext cx="548640"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28100</a:t>
            </a:r>
            <a:endParaRPr lang="en-US" sz="750" dirty="0"/>
          </a:p>
        </p:txBody>
      </p:sp>
      <p:sp>
        <p:nvSpPr>
          <p:cNvPr id="61" name="Shape 59"/>
          <p:cNvSpPr/>
          <p:nvPr/>
        </p:nvSpPr>
        <p:spPr>
          <a:xfrm>
            <a:off x="5724144" y="2249424"/>
            <a:ext cx="603504" cy="219456"/>
          </a:xfrm>
          <a:prstGeom prst="rect">
            <a:avLst/>
          </a:prstGeom>
          <a:solidFill>
            <a:srgbClr val="162E22"/>
          </a:solidFill>
          <a:ln w="6350">
            <a:solidFill>
              <a:srgbClr val="2A5A3A"/>
            </a:solidFill>
            <a:prstDash val="solid"/>
          </a:ln>
        </p:spPr>
      </p:sp>
      <p:sp>
        <p:nvSpPr>
          <p:cNvPr id="62" name="Text 60"/>
          <p:cNvSpPr/>
          <p:nvPr/>
        </p:nvSpPr>
        <p:spPr>
          <a:xfrm>
            <a:off x="5724144" y="2249424"/>
            <a:ext cx="603504"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8</a:t>
            </a:r>
            <a:endParaRPr lang="en-US" sz="750" dirty="0"/>
          </a:p>
        </p:txBody>
      </p:sp>
      <p:sp>
        <p:nvSpPr>
          <p:cNvPr id="63" name="Shape 61"/>
          <p:cNvSpPr/>
          <p:nvPr/>
        </p:nvSpPr>
        <p:spPr>
          <a:xfrm>
            <a:off x="6364224" y="2249424"/>
            <a:ext cx="676656" cy="219456"/>
          </a:xfrm>
          <a:prstGeom prst="rect">
            <a:avLst/>
          </a:prstGeom>
          <a:solidFill>
            <a:srgbClr val="162E22"/>
          </a:solidFill>
          <a:ln w="6350">
            <a:solidFill>
              <a:srgbClr val="2A5A3A"/>
            </a:solidFill>
            <a:prstDash val="solid"/>
          </a:ln>
        </p:spPr>
      </p:sp>
      <p:sp>
        <p:nvSpPr>
          <p:cNvPr id="64" name="Text 62"/>
          <p:cNvSpPr/>
          <p:nvPr/>
        </p:nvSpPr>
        <p:spPr>
          <a:xfrm>
            <a:off x="6364224" y="2249424"/>
            <a:ext cx="676656"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281</a:t>
            </a:r>
            <a:endParaRPr lang="en-US" sz="750" dirty="0"/>
          </a:p>
        </p:txBody>
      </p:sp>
      <p:sp>
        <p:nvSpPr>
          <p:cNvPr id="65" name="Shape 63"/>
          <p:cNvSpPr/>
          <p:nvPr/>
        </p:nvSpPr>
        <p:spPr>
          <a:xfrm>
            <a:off x="4480560" y="2487168"/>
            <a:ext cx="621792" cy="219456"/>
          </a:xfrm>
          <a:prstGeom prst="rect">
            <a:avLst/>
          </a:prstGeom>
          <a:solidFill>
            <a:srgbClr val="1A3828"/>
          </a:solidFill>
          <a:ln w="6350">
            <a:solidFill>
              <a:srgbClr val="2A5A3A"/>
            </a:solidFill>
            <a:prstDash val="solid"/>
          </a:ln>
        </p:spPr>
      </p:sp>
      <p:sp>
        <p:nvSpPr>
          <p:cNvPr id="66" name="Text 64"/>
          <p:cNvSpPr/>
          <p:nvPr/>
        </p:nvSpPr>
        <p:spPr>
          <a:xfrm>
            <a:off x="4480560" y="2487168"/>
            <a:ext cx="621792"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003</a:t>
            </a:r>
            <a:endParaRPr lang="en-US" sz="750" dirty="0"/>
          </a:p>
        </p:txBody>
      </p:sp>
      <p:sp>
        <p:nvSpPr>
          <p:cNvPr id="67" name="Shape 65"/>
          <p:cNvSpPr/>
          <p:nvPr/>
        </p:nvSpPr>
        <p:spPr>
          <a:xfrm>
            <a:off x="5138928" y="2487168"/>
            <a:ext cx="548640" cy="219456"/>
          </a:xfrm>
          <a:prstGeom prst="rect">
            <a:avLst/>
          </a:prstGeom>
          <a:solidFill>
            <a:srgbClr val="1A3828"/>
          </a:solidFill>
          <a:ln w="6350">
            <a:solidFill>
              <a:srgbClr val="2A5A3A"/>
            </a:solidFill>
            <a:prstDash val="solid"/>
          </a:ln>
        </p:spPr>
      </p:sp>
      <p:sp>
        <p:nvSpPr>
          <p:cNvPr id="68" name="Text 66"/>
          <p:cNvSpPr/>
          <p:nvPr/>
        </p:nvSpPr>
        <p:spPr>
          <a:xfrm>
            <a:off x="5138928" y="2487168"/>
            <a:ext cx="548640"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62400</a:t>
            </a:r>
            <a:endParaRPr lang="en-US" sz="750" dirty="0"/>
          </a:p>
        </p:txBody>
      </p:sp>
      <p:sp>
        <p:nvSpPr>
          <p:cNvPr id="69" name="Shape 67"/>
          <p:cNvSpPr/>
          <p:nvPr/>
        </p:nvSpPr>
        <p:spPr>
          <a:xfrm>
            <a:off x="5724144" y="2487168"/>
            <a:ext cx="603504" cy="219456"/>
          </a:xfrm>
          <a:prstGeom prst="rect">
            <a:avLst/>
          </a:prstGeom>
          <a:solidFill>
            <a:srgbClr val="1A3828"/>
          </a:solidFill>
          <a:ln w="6350">
            <a:solidFill>
              <a:srgbClr val="2A5A3A"/>
            </a:solidFill>
            <a:prstDash val="solid"/>
          </a:ln>
        </p:spPr>
      </p:sp>
      <p:sp>
        <p:nvSpPr>
          <p:cNvPr id="70" name="Text 68"/>
          <p:cNvSpPr/>
          <p:nvPr/>
        </p:nvSpPr>
        <p:spPr>
          <a:xfrm>
            <a:off x="5724144" y="2487168"/>
            <a:ext cx="603504"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15</a:t>
            </a:r>
            <a:endParaRPr lang="en-US" sz="750" dirty="0"/>
          </a:p>
        </p:txBody>
      </p:sp>
      <p:sp>
        <p:nvSpPr>
          <p:cNvPr id="71" name="Shape 69"/>
          <p:cNvSpPr/>
          <p:nvPr/>
        </p:nvSpPr>
        <p:spPr>
          <a:xfrm>
            <a:off x="6364224" y="2487168"/>
            <a:ext cx="676656" cy="219456"/>
          </a:xfrm>
          <a:prstGeom prst="rect">
            <a:avLst/>
          </a:prstGeom>
          <a:solidFill>
            <a:srgbClr val="1A3828"/>
          </a:solidFill>
          <a:ln w="6350">
            <a:solidFill>
              <a:srgbClr val="2A5A3A"/>
            </a:solidFill>
            <a:prstDash val="solid"/>
          </a:ln>
        </p:spPr>
      </p:sp>
      <p:sp>
        <p:nvSpPr>
          <p:cNvPr id="72" name="Text 70"/>
          <p:cNvSpPr/>
          <p:nvPr/>
        </p:nvSpPr>
        <p:spPr>
          <a:xfrm>
            <a:off x="6364224" y="2487168"/>
            <a:ext cx="676656"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624</a:t>
            </a:r>
            <a:endParaRPr lang="en-US" sz="750" dirty="0"/>
          </a:p>
        </p:txBody>
      </p:sp>
      <p:sp>
        <p:nvSpPr>
          <p:cNvPr id="73" name="Shape 71"/>
          <p:cNvSpPr/>
          <p:nvPr/>
        </p:nvSpPr>
        <p:spPr>
          <a:xfrm>
            <a:off x="274320" y="3127248"/>
            <a:ext cx="8595360" cy="1664208"/>
          </a:xfrm>
          <a:prstGeom prst="roundRect">
            <a:avLst>
              <a:gd name="adj" fmla="val 4945"/>
            </a:avLst>
          </a:prstGeom>
          <a:solidFill>
            <a:srgbClr val="113322"/>
          </a:solidFill>
          <a:ln w="15240">
            <a:solidFill>
              <a:srgbClr val="D4A017"/>
            </a:solidFill>
            <a:prstDash val="solid"/>
          </a:ln>
        </p:spPr>
      </p:sp>
      <p:sp>
        <p:nvSpPr>
          <p:cNvPr id="74" name="Text 72"/>
          <p:cNvSpPr/>
          <p:nvPr/>
        </p:nvSpPr>
        <p:spPr>
          <a:xfrm>
            <a:off x="384048" y="3218688"/>
            <a:ext cx="3200400" cy="329184"/>
          </a:xfrm>
          <a:prstGeom prst="rect">
            <a:avLst/>
          </a:prstGeom>
          <a:noFill/>
          <a:ln/>
        </p:spPr>
        <p:txBody>
          <a:bodyPr wrap="square" lIns="0" tIns="0" rIns="0" bIns="0" rtlCol="0" anchor="ctr"/>
          <a:lstStyle/>
          <a:p>
            <a:pPr indent="0" marL="0">
              <a:buNone/>
            </a:pPr>
            <a:r>
              <a:rPr lang="en-US" sz="1050" b="1" dirty="0">
                <a:solidFill>
                  <a:srgbClr val="D4A017"/>
                </a:solidFill>
                <a:latin typeface="Calibri" pitchFamily="34" charset="0"/>
                <a:ea typeface="Calibri" pitchFamily="34" charset="-122"/>
                <a:cs typeface="Calibri" pitchFamily="34" charset="-120"/>
              </a:rPr>
              <a:t>MERGED Result</a:t>
            </a:r>
            <a:endParaRPr lang="en-US" sz="1050" dirty="0"/>
          </a:p>
          <a:p>
            <a:pPr indent="0" marL="0">
              <a:buNone/>
            </a:pPr>
            <a:r>
              <a:rPr lang="en-US" sz="1050" b="1" dirty="0">
                <a:solidFill>
                  <a:srgbClr val="D4A017"/>
                </a:solidFill>
                <a:latin typeface="Calibri" pitchFamily="34" charset="0"/>
                <a:ea typeface="Calibri" pitchFamily="34" charset="-122"/>
                <a:cs typeface="Calibri" pitchFamily="34" charset="-120"/>
              </a:rPr>
              <a:t>(450 respondents, 7 variables)</a:t>
            </a:r>
            <a:endParaRPr lang="en-US" sz="1050" dirty="0"/>
          </a:p>
        </p:txBody>
      </p:sp>
      <p:sp>
        <p:nvSpPr>
          <p:cNvPr id="75" name="Shape 73"/>
          <p:cNvSpPr/>
          <p:nvPr/>
        </p:nvSpPr>
        <p:spPr>
          <a:xfrm>
            <a:off x="365760" y="3602736"/>
            <a:ext cx="530352" cy="219456"/>
          </a:xfrm>
          <a:prstGeom prst="rect">
            <a:avLst/>
          </a:prstGeom>
          <a:solidFill>
            <a:srgbClr val="D4A017"/>
          </a:solidFill>
          <a:ln w="12700">
            <a:solidFill>
              <a:srgbClr val="D4A017"/>
            </a:solidFill>
            <a:prstDash val="solid"/>
          </a:ln>
        </p:spPr>
      </p:sp>
      <p:sp>
        <p:nvSpPr>
          <p:cNvPr id="76" name="Text 74"/>
          <p:cNvSpPr/>
          <p:nvPr/>
        </p:nvSpPr>
        <p:spPr>
          <a:xfrm>
            <a:off x="365760" y="3602736"/>
            <a:ext cx="530352" cy="219456"/>
          </a:xfrm>
          <a:prstGeom prst="rect">
            <a:avLst/>
          </a:prstGeom>
          <a:noFill/>
          <a:ln/>
        </p:spPr>
        <p:txBody>
          <a:bodyPr wrap="square" lIns="0" tIns="0" rIns="0" bIns="0" rtlCol="0" anchor="ctr"/>
          <a:lstStyle/>
          <a:p>
            <a:pPr algn="ctr" indent="0" marL="0">
              <a:buNone/>
            </a:pPr>
            <a:r>
              <a:rPr lang="en-US" sz="700" b="1" dirty="0">
                <a:solidFill>
                  <a:srgbClr val="0B2218"/>
                </a:solidFill>
                <a:latin typeface="Calibri" pitchFamily="34" charset="0"/>
                <a:ea typeface="Calibri" pitchFamily="34" charset="-122"/>
                <a:cs typeface="Calibri" pitchFamily="34" charset="-120"/>
              </a:rPr>
              <a:t>resp_id</a:t>
            </a:r>
            <a:endParaRPr lang="en-US" sz="700" dirty="0"/>
          </a:p>
        </p:txBody>
      </p:sp>
      <p:sp>
        <p:nvSpPr>
          <p:cNvPr id="77" name="Shape 75"/>
          <p:cNvSpPr/>
          <p:nvPr/>
        </p:nvSpPr>
        <p:spPr>
          <a:xfrm>
            <a:off x="932688" y="3602736"/>
            <a:ext cx="566928" cy="219456"/>
          </a:xfrm>
          <a:prstGeom prst="rect">
            <a:avLst/>
          </a:prstGeom>
          <a:solidFill>
            <a:srgbClr val="D4A017"/>
          </a:solidFill>
          <a:ln w="12700">
            <a:solidFill>
              <a:srgbClr val="D4A017"/>
            </a:solidFill>
            <a:prstDash val="solid"/>
          </a:ln>
        </p:spPr>
      </p:sp>
      <p:sp>
        <p:nvSpPr>
          <p:cNvPr id="78" name="Text 76"/>
          <p:cNvSpPr/>
          <p:nvPr/>
        </p:nvSpPr>
        <p:spPr>
          <a:xfrm>
            <a:off x="932688" y="3602736"/>
            <a:ext cx="566928" cy="219456"/>
          </a:xfrm>
          <a:prstGeom prst="rect">
            <a:avLst/>
          </a:prstGeom>
          <a:noFill/>
          <a:ln/>
        </p:spPr>
        <p:txBody>
          <a:bodyPr wrap="square" lIns="0" tIns="0" rIns="0" bIns="0" rtlCol="0" anchor="ctr"/>
          <a:lstStyle/>
          <a:p>
            <a:pPr algn="ctr" indent="0" marL="0">
              <a:buNone/>
            </a:pPr>
            <a:r>
              <a:rPr lang="en-US" sz="700" b="1" dirty="0">
                <a:solidFill>
                  <a:srgbClr val="0B2218"/>
                </a:solidFill>
                <a:latin typeface="Calibri" pitchFamily="34" charset="0"/>
                <a:ea typeface="Calibri" pitchFamily="34" charset="-122"/>
                <a:cs typeface="Calibri" pitchFamily="34" charset="-120"/>
              </a:rPr>
              <a:t>gender</a:t>
            </a:r>
            <a:endParaRPr lang="en-US" sz="700" dirty="0"/>
          </a:p>
        </p:txBody>
      </p:sp>
      <p:sp>
        <p:nvSpPr>
          <p:cNvPr id="79" name="Shape 77"/>
          <p:cNvSpPr/>
          <p:nvPr/>
        </p:nvSpPr>
        <p:spPr>
          <a:xfrm>
            <a:off x="1536192" y="3602736"/>
            <a:ext cx="822960" cy="219456"/>
          </a:xfrm>
          <a:prstGeom prst="rect">
            <a:avLst/>
          </a:prstGeom>
          <a:solidFill>
            <a:srgbClr val="D4A017"/>
          </a:solidFill>
          <a:ln w="12700">
            <a:solidFill>
              <a:srgbClr val="D4A017"/>
            </a:solidFill>
            <a:prstDash val="solid"/>
          </a:ln>
        </p:spPr>
      </p:sp>
      <p:sp>
        <p:nvSpPr>
          <p:cNvPr id="80" name="Text 78"/>
          <p:cNvSpPr/>
          <p:nvPr/>
        </p:nvSpPr>
        <p:spPr>
          <a:xfrm>
            <a:off x="1536192" y="3602736"/>
            <a:ext cx="822960" cy="219456"/>
          </a:xfrm>
          <a:prstGeom prst="rect">
            <a:avLst/>
          </a:prstGeom>
          <a:noFill/>
          <a:ln/>
        </p:spPr>
        <p:txBody>
          <a:bodyPr wrap="square" lIns="0" tIns="0" rIns="0" bIns="0" rtlCol="0" anchor="ctr"/>
          <a:lstStyle/>
          <a:p>
            <a:pPr algn="ctr" indent="0" marL="0">
              <a:buNone/>
            </a:pPr>
            <a:r>
              <a:rPr lang="en-US" sz="700" b="1" dirty="0">
                <a:solidFill>
                  <a:srgbClr val="0B2218"/>
                </a:solidFill>
                <a:latin typeface="Calibri" pitchFamily="34" charset="0"/>
                <a:ea typeface="Calibri" pitchFamily="34" charset="-122"/>
                <a:cs typeface="Calibri" pitchFamily="34" charset="-120"/>
              </a:rPr>
              <a:t>satisfaction</a:t>
            </a:r>
            <a:endParaRPr lang="en-US" sz="700" dirty="0"/>
          </a:p>
        </p:txBody>
      </p:sp>
      <p:sp>
        <p:nvSpPr>
          <p:cNvPr id="81" name="Shape 79"/>
          <p:cNvSpPr/>
          <p:nvPr/>
        </p:nvSpPr>
        <p:spPr>
          <a:xfrm>
            <a:off x="2395728" y="3602736"/>
            <a:ext cx="841248" cy="219456"/>
          </a:xfrm>
          <a:prstGeom prst="rect">
            <a:avLst/>
          </a:prstGeom>
          <a:solidFill>
            <a:srgbClr val="D4A017"/>
          </a:solidFill>
          <a:ln w="12700">
            <a:solidFill>
              <a:srgbClr val="D4A017"/>
            </a:solidFill>
            <a:prstDash val="solid"/>
          </a:ln>
        </p:spPr>
      </p:sp>
      <p:sp>
        <p:nvSpPr>
          <p:cNvPr id="82" name="Text 80"/>
          <p:cNvSpPr/>
          <p:nvPr/>
        </p:nvSpPr>
        <p:spPr>
          <a:xfrm>
            <a:off x="2395728" y="3602736"/>
            <a:ext cx="841248" cy="219456"/>
          </a:xfrm>
          <a:prstGeom prst="rect">
            <a:avLst/>
          </a:prstGeom>
          <a:noFill/>
          <a:ln/>
        </p:spPr>
        <p:txBody>
          <a:bodyPr wrap="square" lIns="0" tIns="0" rIns="0" bIns="0" rtlCol="0" anchor="ctr"/>
          <a:lstStyle/>
          <a:p>
            <a:pPr algn="ctr" indent="0" marL="0">
              <a:buNone/>
            </a:pPr>
            <a:r>
              <a:rPr lang="en-US" sz="700" b="1" dirty="0">
                <a:solidFill>
                  <a:srgbClr val="0B2218"/>
                </a:solidFill>
                <a:latin typeface="Calibri" pitchFamily="34" charset="0"/>
                <a:ea typeface="Calibri" pitchFamily="34" charset="-122"/>
                <a:cs typeface="Calibri" pitchFamily="34" charset="-120"/>
              </a:rPr>
              <a:t>total_spend</a:t>
            </a:r>
            <a:endParaRPr lang="en-US" sz="700" dirty="0"/>
          </a:p>
        </p:txBody>
      </p:sp>
      <p:sp>
        <p:nvSpPr>
          <p:cNvPr id="83" name="Shape 81"/>
          <p:cNvSpPr/>
          <p:nvPr/>
        </p:nvSpPr>
        <p:spPr>
          <a:xfrm>
            <a:off x="3273552" y="3602736"/>
            <a:ext cx="841248" cy="219456"/>
          </a:xfrm>
          <a:prstGeom prst="rect">
            <a:avLst/>
          </a:prstGeom>
          <a:solidFill>
            <a:srgbClr val="D4A017"/>
          </a:solidFill>
          <a:ln w="12700">
            <a:solidFill>
              <a:srgbClr val="D4A017"/>
            </a:solidFill>
            <a:prstDash val="solid"/>
          </a:ln>
        </p:spPr>
      </p:sp>
      <p:sp>
        <p:nvSpPr>
          <p:cNvPr id="84" name="Text 82"/>
          <p:cNvSpPr/>
          <p:nvPr/>
        </p:nvSpPr>
        <p:spPr>
          <a:xfrm>
            <a:off x="3273552" y="3602736"/>
            <a:ext cx="841248" cy="219456"/>
          </a:xfrm>
          <a:prstGeom prst="rect">
            <a:avLst/>
          </a:prstGeom>
          <a:noFill/>
          <a:ln/>
        </p:spPr>
        <p:txBody>
          <a:bodyPr wrap="square" lIns="0" tIns="0" rIns="0" bIns="0" rtlCol="0" anchor="ctr"/>
          <a:lstStyle/>
          <a:p>
            <a:pPr algn="ctr" indent="0" marL="0">
              <a:buNone/>
            </a:pPr>
            <a:r>
              <a:rPr lang="en-US" sz="700" b="1" dirty="0">
                <a:solidFill>
                  <a:srgbClr val="0B2218"/>
                </a:solidFill>
                <a:latin typeface="Calibri" pitchFamily="34" charset="0"/>
                <a:ea typeface="Calibri" pitchFamily="34" charset="-122"/>
                <a:cs typeface="Calibri" pitchFamily="34" charset="-120"/>
              </a:rPr>
              <a:t>purchase_freq</a:t>
            </a:r>
            <a:endParaRPr lang="en-US" sz="700" dirty="0"/>
          </a:p>
        </p:txBody>
      </p:sp>
      <p:sp>
        <p:nvSpPr>
          <p:cNvPr id="85" name="Shape 83"/>
          <p:cNvSpPr/>
          <p:nvPr/>
        </p:nvSpPr>
        <p:spPr>
          <a:xfrm>
            <a:off x="365760" y="3840480"/>
            <a:ext cx="530352" cy="219456"/>
          </a:xfrm>
          <a:prstGeom prst="rect">
            <a:avLst/>
          </a:prstGeom>
          <a:solidFill>
            <a:srgbClr val="1A3828"/>
          </a:solidFill>
          <a:ln w="6350">
            <a:solidFill>
              <a:srgbClr val="2A5A3A"/>
            </a:solidFill>
            <a:prstDash val="solid"/>
          </a:ln>
        </p:spPr>
      </p:sp>
      <p:sp>
        <p:nvSpPr>
          <p:cNvPr id="86" name="Text 84"/>
          <p:cNvSpPr/>
          <p:nvPr/>
        </p:nvSpPr>
        <p:spPr>
          <a:xfrm>
            <a:off x="365760" y="3840480"/>
            <a:ext cx="530352"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001</a:t>
            </a:r>
            <a:endParaRPr lang="en-US" sz="750" dirty="0"/>
          </a:p>
        </p:txBody>
      </p:sp>
      <p:sp>
        <p:nvSpPr>
          <p:cNvPr id="87" name="Shape 85"/>
          <p:cNvSpPr/>
          <p:nvPr/>
        </p:nvSpPr>
        <p:spPr>
          <a:xfrm>
            <a:off x="932688" y="3840480"/>
            <a:ext cx="566928" cy="219456"/>
          </a:xfrm>
          <a:prstGeom prst="rect">
            <a:avLst/>
          </a:prstGeom>
          <a:solidFill>
            <a:srgbClr val="1A3828"/>
          </a:solidFill>
          <a:ln w="6350">
            <a:solidFill>
              <a:srgbClr val="2A5A3A"/>
            </a:solidFill>
            <a:prstDash val="solid"/>
          </a:ln>
        </p:spPr>
      </p:sp>
      <p:sp>
        <p:nvSpPr>
          <p:cNvPr id="88" name="Text 86"/>
          <p:cNvSpPr/>
          <p:nvPr/>
        </p:nvSpPr>
        <p:spPr>
          <a:xfrm>
            <a:off x="932688" y="3840480"/>
            <a:ext cx="566928"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1</a:t>
            </a:r>
            <a:endParaRPr lang="en-US" sz="750" dirty="0"/>
          </a:p>
        </p:txBody>
      </p:sp>
      <p:sp>
        <p:nvSpPr>
          <p:cNvPr id="89" name="Shape 87"/>
          <p:cNvSpPr/>
          <p:nvPr/>
        </p:nvSpPr>
        <p:spPr>
          <a:xfrm>
            <a:off x="1536192" y="3840480"/>
            <a:ext cx="822960" cy="219456"/>
          </a:xfrm>
          <a:prstGeom prst="rect">
            <a:avLst/>
          </a:prstGeom>
          <a:solidFill>
            <a:srgbClr val="1A3828"/>
          </a:solidFill>
          <a:ln w="6350">
            <a:solidFill>
              <a:srgbClr val="2A5A3A"/>
            </a:solidFill>
            <a:prstDash val="solid"/>
          </a:ln>
        </p:spPr>
      </p:sp>
      <p:sp>
        <p:nvSpPr>
          <p:cNvPr id="90" name="Text 88"/>
          <p:cNvSpPr/>
          <p:nvPr/>
        </p:nvSpPr>
        <p:spPr>
          <a:xfrm>
            <a:off x="1536192" y="3840480"/>
            <a:ext cx="822960"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7.2</a:t>
            </a:r>
            <a:endParaRPr lang="en-US" sz="750" dirty="0"/>
          </a:p>
        </p:txBody>
      </p:sp>
      <p:sp>
        <p:nvSpPr>
          <p:cNvPr id="91" name="Shape 89"/>
          <p:cNvSpPr/>
          <p:nvPr/>
        </p:nvSpPr>
        <p:spPr>
          <a:xfrm>
            <a:off x="2395728" y="3840480"/>
            <a:ext cx="841248" cy="219456"/>
          </a:xfrm>
          <a:prstGeom prst="rect">
            <a:avLst/>
          </a:prstGeom>
          <a:solidFill>
            <a:srgbClr val="1A3828"/>
          </a:solidFill>
          <a:ln w="6350">
            <a:solidFill>
              <a:srgbClr val="2A5A3A"/>
            </a:solidFill>
            <a:prstDash val="solid"/>
          </a:ln>
        </p:spPr>
      </p:sp>
      <p:sp>
        <p:nvSpPr>
          <p:cNvPr id="92" name="Text 90"/>
          <p:cNvSpPr/>
          <p:nvPr/>
        </p:nvSpPr>
        <p:spPr>
          <a:xfrm>
            <a:off x="2395728" y="3840480"/>
            <a:ext cx="841248"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45200</a:t>
            </a:r>
            <a:endParaRPr lang="en-US" sz="750" dirty="0"/>
          </a:p>
        </p:txBody>
      </p:sp>
      <p:sp>
        <p:nvSpPr>
          <p:cNvPr id="93" name="Shape 91"/>
          <p:cNvSpPr/>
          <p:nvPr/>
        </p:nvSpPr>
        <p:spPr>
          <a:xfrm>
            <a:off x="3273552" y="3840480"/>
            <a:ext cx="841248" cy="219456"/>
          </a:xfrm>
          <a:prstGeom prst="rect">
            <a:avLst/>
          </a:prstGeom>
          <a:solidFill>
            <a:srgbClr val="1A3828"/>
          </a:solidFill>
          <a:ln w="6350">
            <a:solidFill>
              <a:srgbClr val="2A5A3A"/>
            </a:solidFill>
            <a:prstDash val="solid"/>
          </a:ln>
        </p:spPr>
      </p:sp>
      <p:sp>
        <p:nvSpPr>
          <p:cNvPr id="94" name="Text 92"/>
          <p:cNvSpPr/>
          <p:nvPr/>
        </p:nvSpPr>
        <p:spPr>
          <a:xfrm>
            <a:off x="3273552" y="3840480"/>
            <a:ext cx="841248"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12</a:t>
            </a:r>
            <a:endParaRPr lang="en-US" sz="750" dirty="0"/>
          </a:p>
        </p:txBody>
      </p:sp>
      <p:sp>
        <p:nvSpPr>
          <p:cNvPr id="95" name="Shape 93"/>
          <p:cNvSpPr/>
          <p:nvPr/>
        </p:nvSpPr>
        <p:spPr>
          <a:xfrm>
            <a:off x="365760" y="4078224"/>
            <a:ext cx="530352" cy="219456"/>
          </a:xfrm>
          <a:prstGeom prst="rect">
            <a:avLst/>
          </a:prstGeom>
          <a:solidFill>
            <a:srgbClr val="162E22"/>
          </a:solidFill>
          <a:ln w="6350">
            <a:solidFill>
              <a:srgbClr val="2A5A3A"/>
            </a:solidFill>
            <a:prstDash val="solid"/>
          </a:ln>
        </p:spPr>
      </p:sp>
      <p:sp>
        <p:nvSpPr>
          <p:cNvPr id="96" name="Text 94"/>
          <p:cNvSpPr/>
          <p:nvPr/>
        </p:nvSpPr>
        <p:spPr>
          <a:xfrm>
            <a:off x="365760" y="4078224"/>
            <a:ext cx="530352"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002</a:t>
            </a:r>
            <a:endParaRPr lang="en-US" sz="750" dirty="0"/>
          </a:p>
        </p:txBody>
      </p:sp>
      <p:sp>
        <p:nvSpPr>
          <p:cNvPr id="97" name="Shape 95"/>
          <p:cNvSpPr/>
          <p:nvPr/>
        </p:nvSpPr>
        <p:spPr>
          <a:xfrm>
            <a:off x="932688" y="4078224"/>
            <a:ext cx="566928" cy="219456"/>
          </a:xfrm>
          <a:prstGeom prst="rect">
            <a:avLst/>
          </a:prstGeom>
          <a:solidFill>
            <a:srgbClr val="162E22"/>
          </a:solidFill>
          <a:ln w="6350">
            <a:solidFill>
              <a:srgbClr val="2A5A3A"/>
            </a:solidFill>
            <a:prstDash val="solid"/>
          </a:ln>
        </p:spPr>
      </p:sp>
      <p:sp>
        <p:nvSpPr>
          <p:cNvPr id="98" name="Text 96"/>
          <p:cNvSpPr/>
          <p:nvPr/>
        </p:nvSpPr>
        <p:spPr>
          <a:xfrm>
            <a:off x="932688" y="4078224"/>
            <a:ext cx="566928"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2</a:t>
            </a:r>
            <a:endParaRPr lang="en-US" sz="750" dirty="0"/>
          </a:p>
        </p:txBody>
      </p:sp>
      <p:sp>
        <p:nvSpPr>
          <p:cNvPr id="99" name="Shape 97"/>
          <p:cNvSpPr/>
          <p:nvPr/>
        </p:nvSpPr>
        <p:spPr>
          <a:xfrm>
            <a:off x="1536192" y="4078224"/>
            <a:ext cx="822960" cy="219456"/>
          </a:xfrm>
          <a:prstGeom prst="rect">
            <a:avLst/>
          </a:prstGeom>
          <a:solidFill>
            <a:srgbClr val="162E22"/>
          </a:solidFill>
          <a:ln w="6350">
            <a:solidFill>
              <a:srgbClr val="2A5A3A"/>
            </a:solidFill>
            <a:prstDash val="solid"/>
          </a:ln>
        </p:spPr>
      </p:sp>
      <p:sp>
        <p:nvSpPr>
          <p:cNvPr id="100" name="Text 98"/>
          <p:cNvSpPr/>
          <p:nvPr/>
        </p:nvSpPr>
        <p:spPr>
          <a:xfrm>
            <a:off x="1536192" y="4078224"/>
            <a:ext cx="822960"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8.5</a:t>
            </a:r>
            <a:endParaRPr lang="en-US" sz="750" dirty="0"/>
          </a:p>
        </p:txBody>
      </p:sp>
      <p:sp>
        <p:nvSpPr>
          <p:cNvPr id="101" name="Shape 99"/>
          <p:cNvSpPr/>
          <p:nvPr/>
        </p:nvSpPr>
        <p:spPr>
          <a:xfrm>
            <a:off x="2395728" y="4078224"/>
            <a:ext cx="841248" cy="219456"/>
          </a:xfrm>
          <a:prstGeom prst="rect">
            <a:avLst/>
          </a:prstGeom>
          <a:solidFill>
            <a:srgbClr val="162E22"/>
          </a:solidFill>
          <a:ln w="6350">
            <a:solidFill>
              <a:srgbClr val="2A5A3A"/>
            </a:solidFill>
            <a:prstDash val="solid"/>
          </a:ln>
        </p:spPr>
      </p:sp>
      <p:sp>
        <p:nvSpPr>
          <p:cNvPr id="102" name="Text 100"/>
          <p:cNvSpPr/>
          <p:nvPr/>
        </p:nvSpPr>
        <p:spPr>
          <a:xfrm>
            <a:off x="2395728" y="4078224"/>
            <a:ext cx="841248"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28100</a:t>
            </a:r>
            <a:endParaRPr lang="en-US" sz="750" dirty="0"/>
          </a:p>
        </p:txBody>
      </p:sp>
      <p:sp>
        <p:nvSpPr>
          <p:cNvPr id="103" name="Shape 101"/>
          <p:cNvSpPr/>
          <p:nvPr/>
        </p:nvSpPr>
        <p:spPr>
          <a:xfrm>
            <a:off x="3273552" y="4078224"/>
            <a:ext cx="841248" cy="219456"/>
          </a:xfrm>
          <a:prstGeom prst="rect">
            <a:avLst/>
          </a:prstGeom>
          <a:solidFill>
            <a:srgbClr val="162E22"/>
          </a:solidFill>
          <a:ln w="6350">
            <a:solidFill>
              <a:srgbClr val="2A5A3A"/>
            </a:solidFill>
            <a:prstDash val="solid"/>
          </a:ln>
        </p:spPr>
      </p:sp>
      <p:sp>
        <p:nvSpPr>
          <p:cNvPr id="104" name="Text 102"/>
          <p:cNvSpPr/>
          <p:nvPr/>
        </p:nvSpPr>
        <p:spPr>
          <a:xfrm>
            <a:off x="3273552" y="4078224"/>
            <a:ext cx="841248"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8</a:t>
            </a:r>
            <a:endParaRPr lang="en-US" sz="750" dirty="0"/>
          </a:p>
        </p:txBody>
      </p:sp>
      <p:sp>
        <p:nvSpPr>
          <p:cNvPr id="105" name="Shape 103"/>
          <p:cNvSpPr/>
          <p:nvPr/>
        </p:nvSpPr>
        <p:spPr>
          <a:xfrm>
            <a:off x="365760" y="4315968"/>
            <a:ext cx="530352" cy="219456"/>
          </a:xfrm>
          <a:prstGeom prst="rect">
            <a:avLst/>
          </a:prstGeom>
          <a:solidFill>
            <a:srgbClr val="1A3828"/>
          </a:solidFill>
          <a:ln w="6350">
            <a:solidFill>
              <a:srgbClr val="2A5A3A"/>
            </a:solidFill>
            <a:prstDash val="solid"/>
          </a:ln>
        </p:spPr>
      </p:sp>
      <p:sp>
        <p:nvSpPr>
          <p:cNvPr id="106" name="Text 104"/>
          <p:cNvSpPr/>
          <p:nvPr/>
        </p:nvSpPr>
        <p:spPr>
          <a:xfrm>
            <a:off x="365760" y="4315968"/>
            <a:ext cx="530352"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003</a:t>
            </a:r>
            <a:endParaRPr lang="en-US" sz="750" dirty="0"/>
          </a:p>
        </p:txBody>
      </p:sp>
      <p:sp>
        <p:nvSpPr>
          <p:cNvPr id="107" name="Shape 105"/>
          <p:cNvSpPr/>
          <p:nvPr/>
        </p:nvSpPr>
        <p:spPr>
          <a:xfrm>
            <a:off x="932688" y="4315968"/>
            <a:ext cx="566928" cy="219456"/>
          </a:xfrm>
          <a:prstGeom prst="rect">
            <a:avLst/>
          </a:prstGeom>
          <a:solidFill>
            <a:srgbClr val="1A3828"/>
          </a:solidFill>
          <a:ln w="6350">
            <a:solidFill>
              <a:srgbClr val="2A5A3A"/>
            </a:solidFill>
            <a:prstDash val="solid"/>
          </a:ln>
        </p:spPr>
      </p:sp>
      <p:sp>
        <p:nvSpPr>
          <p:cNvPr id="108" name="Text 106"/>
          <p:cNvSpPr/>
          <p:nvPr/>
        </p:nvSpPr>
        <p:spPr>
          <a:xfrm>
            <a:off x="932688" y="4315968"/>
            <a:ext cx="566928"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1</a:t>
            </a:r>
            <a:endParaRPr lang="en-US" sz="750" dirty="0"/>
          </a:p>
        </p:txBody>
      </p:sp>
      <p:sp>
        <p:nvSpPr>
          <p:cNvPr id="109" name="Shape 107"/>
          <p:cNvSpPr/>
          <p:nvPr/>
        </p:nvSpPr>
        <p:spPr>
          <a:xfrm>
            <a:off x="1536192" y="4315968"/>
            <a:ext cx="822960" cy="219456"/>
          </a:xfrm>
          <a:prstGeom prst="rect">
            <a:avLst/>
          </a:prstGeom>
          <a:solidFill>
            <a:srgbClr val="1A3828"/>
          </a:solidFill>
          <a:ln w="6350">
            <a:solidFill>
              <a:srgbClr val="2A5A3A"/>
            </a:solidFill>
            <a:prstDash val="solid"/>
          </a:ln>
        </p:spPr>
      </p:sp>
      <p:sp>
        <p:nvSpPr>
          <p:cNvPr id="110" name="Text 108"/>
          <p:cNvSpPr/>
          <p:nvPr/>
        </p:nvSpPr>
        <p:spPr>
          <a:xfrm>
            <a:off x="1536192" y="4315968"/>
            <a:ext cx="822960"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6.0</a:t>
            </a:r>
            <a:endParaRPr lang="en-US" sz="750" dirty="0"/>
          </a:p>
        </p:txBody>
      </p:sp>
      <p:sp>
        <p:nvSpPr>
          <p:cNvPr id="111" name="Shape 109"/>
          <p:cNvSpPr/>
          <p:nvPr/>
        </p:nvSpPr>
        <p:spPr>
          <a:xfrm>
            <a:off x="2395728" y="4315968"/>
            <a:ext cx="841248" cy="219456"/>
          </a:xfrm>
          <a:prstGeom prst="rect">
            <a:avLst/>
          </a:prstGeom>
          <a:solidFill>
            <a:srgbClr val="1A3828"/>
          </a:solidFill>
          <a:ln w="6350">
            <a:solidFill>
              <a:srgbClr val="2A5A3A"/>
            </a:solidFill>
            <a:prstDash val="solid"/>
          </a:ln>
        </p:spPr>
      </p:sp>
      <p:sp>
        <p:nvSpPr>
          <p:cNvPr id="112" name="Text 110"/>
          <p:cNvSpPr/>
          <p:nvPr/>
        </p:nvSpPr>
        <p:spPr>
          <a:xfrm>
            <a:off x="2395728" y="4315968"/>
            <a:ext cx="841248"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62400</a:t>
            </a:r>
            <a:endParaRPr lang="en-US" sz="750" dirty="0"/>
          </a:p>
        </p:txBody>
      </p:sp>
      <p:sp>
        <p:nvSpPr>
          <p:cNvPr id="113" name="Shape 111"/>
          <p:cNvSpPr/>
          <p:nvPr/>
        </p:nvSpPr>
        <p:spPr>
          <a:xfrm>
            <a:off x="3273552" y="4315968"/>
            <a:ext cx="841248" cy="219456"/>
          </a:xfrm>
          <a:prstGeom prst="rect">
            <a:avLst/>
          </a:prstGeom>
          <a:solidFill>
            <a:srgbClr val="1A3828"/>
          </a:solidFill>
          <a:ln w="6350">
            <a:solidFill>
              <a:srgbClr val="2A5A3A"/>
            </a:solidFill>
            <a:prstDash val="solid"/>
          </a:ln>
        </p:spPr>
      </p:sp>
      <p:sp>
        <p:nvSpPr>
          <p:cNvPr id="114" name="Text 112"/>
          <p:cNvSpPr/>
          <p:nvPr/>
        </p:nvSpPr>
        <p:spPr>
          <a:xfrm>
            <a:off x="3273552" y="4315968"/>
            <a:ext cx="841248" cy="219456"/>
          </a:xfrm>
          <a:prstGeom prst="rect">
            <a:avLst/>
          </a:prstGeom>
          <a:noFill/>
          <a:ln/>
        </p:spPr>
        <p:txBody>
          <a:bodyPr wrap="square" lIns="0" tIns="0" rIns="0" bIns="0" rtlCol="0" anchor="ctr"/>
          <a:lstStyle/>
          <a:p>
            <a:pPr algn="ctr" indent="0" marL="0">
              <a:buNone/>
            </a:pPr>
            <a:r>
              <a:rPr lang="en-US" sz="750" dirty="0">
                <a:solidFill>
                  <a:srgbClr val="A8D4BC"/>
                </a:solidFill>
                <a:latin typeface="Calibri" pitchFamily="34" charset="0"/>
                <a:ea typeface="Calibri" pitchFamily="34" charset="-122"/>
                <a:cs typeface="Calibri" pitchFamily="34" charset="-120"/>
              </a:rPr>
              <a:t>15</a:t>
            </a:r>
            <a:endParaRPr lang="en-US" sz="750" dirty="0"/>
          </a:p>
        </p:txBody>
      </p:sp>
      <p:sp>
        <p:nvSpPr>
          <p:cNvPr id="115" name="Text 113"/>
          <p:cNvSpPr/>
          <p:nvPr/>
        </p:nvSpPr>
        <p:spPr>
          <a:xfrm>
            <a:off x="4224528" y="1901952"/>
            <a:ext cx="1005840" cy="457200"/>
          </a:xfrm>
          <a:prstGeom prst="rect">
            <a:avLst/>
          </a:prstGeom>
          <a:noFill/>
          <a:ln/>
        </p:spPr>
        <p:txBody>
          <a:bodyPr wrap="square" lIns="0" tIns="0" rIns="0" bIns="0" rtlCol="0" anchor="ctr"/>
          <a:lstStyle/>
          <a:p>
            <a:pPr algn="ctr" indent="0" marL="0">
              <a:buNone/>
            </a:pPr>
            <a:r>
              <a:rPr lang="en-US" sz="1000" b="1" dirty="0">
                <a:solidFill>
                  <a:srgbClr val="D4A017"/>
                </a:solidFill>
                <a:latin typeface="Calibri" pitchFamily="34" charset="0"/>
                <a:ea typeface="Calibri" pitchFamily="34" charset="-122"/>
                <a:cs typeface="Calibri" pitchFamily="34" charset="-120"/>
              </a:rPr>
              <a:t>→ MERGE BY resp_id</a:t>
            </a:r>
            <a:endParaRPr lang="en-US" sz="1000" dirty="0"/>
          </a:p>
        </p:txBody>
      </p:sp>
      <p:sp>
        <p:nvSpPr>
          <p:cNvPr id="116" name="Shape 114"/>
          <p:cNvSpPr/>
          <p:nvPr/>
        </p:nvSpPr>
        <p:spPr>
          <a:xfrm>
            <a:off x="274320" y="4882896"/>
            <a:ext cx="4160520" cy="621792"/>
          </a:xfrm>
          <a:prstGeom prst="roundRect">
            <a:avLst>
              <a:gd name="adj" fmla="val 10294"/>
            </a:avLst>
          </a:prstGeom>
          <a:solidFill>
            <a:srgbClr val="F5FAF7"/>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17" name="Text 115"/>
          <p:cNvSpPr/>
          <p:nvPr/>
        </p:nvSpPr>
        <p:spPr>
          <a:xfrm>
            <a:off x="384048" y="4901184"/>
            <a:ext cx="3931920" cy="566928"/>
          </a:xfrm>
          <a:prstGeom prst="rect">
            <a:avLst/>
          </a:prstGeom>
          <a:noFill/>
          <a:ln/>
        </p:spPr>
        <p:txBody>
          <a:bodyPr wrap="square" lIns="0" tIns="0" rIns="0" bIns="0" rtlCol="0" anchor="ctr"/>
          <a:lstStyle/>
          <a:p>
            <a:pPr indent="0" marL="0">
              <a:buNone/>
            </a:pPr>
            <a:r>
              <a:rPr lang="en-US" sz="850" dirty="0">
                <a:solidFill>
                  <a:srgbClr val="1E3A2E"/>
                </a:solidFill>
                <a:latin typeface="Calibri" pitchFamily="34" charset="0"/>
                <a:ea typeface="Calibri" pitchFamily="34" charset="-122"/>
                <a:cs typeface="Calibri" pitchFamily="34" charset="-120"/>
              </a:rPr>
              <a:t>Steps: Sort BOTH files by resp_id &gt; Open primary dataset &gt; Data &gt; Merge Files &gt; Add Variables &gt; Browse to second file &gt; Tick 'Match cases on key variables in sorted files' &gt; Move resp_id to Key Variables &gt; OK.</a:t>
            </a:r>
            <a:endParaRPr lang="en-US" sz="850" dirty="0"/>
          </a:p>
        </p:txBody>
      </p:sp>
      <p:sp>
        <p:nvSpPr>
          <p:cNvPr id="118" name="Shape 116"/>
          <p:cNvSpPr/>
          <p:nvPr/>
        </p:nvSpPr>
        <p:spPr>
          <a:xfrm>
            <a:off x="4663440" y="4882896"/>
            <a:ext cx="4187952" cy="621792"/>
          </a:xfrm>
          <a:prstGeom prst="roundRect">
            <a:avLst>
              <a:gd name="adj" fmla="val 14706"/>
            </a:avLst>
          </a:prstGeom>
          <a:solidFill>
            <a:srgbClr val="0A1A12"/>
          </a:solidFill>
          <a:ln w="12700">
            <a:solidFill>
              <a:srgbClr val="27AE60"/>
            </a:solidFill>
            <a:prstDash val="solid"/>
          </a:ln>
          <a:effectLst>
            <a:outerShdw sx="100000" sy="100000" kx="0" ky="0" algn="bl" rotWithShape="0" blurRad="76200" dist="25400" dir="2700000">
              <a:srgbClr val="000000">
                <a:alpha val="12000"/>
              </a:srgbClr>
            </a:outerShdw>
          </a:effectLst>
        </p:spPr>
      </p:sp>
      <p:sp>
        <p:nvSpPr>
          <p:cNvPr id="119" name="Text 117"/>
          <p:cNvSpPr/>
          <p:nvPr/>
        </p:nvSpPr>
        <p:spPr>
          <a:xfrm>
            <a:off x="4791456" y="4974336"/>
            <a:ext cx="4005072" cy="256032"/>
          </a:xfrm>
          <a:prstGeom prst="rect">
            <a:avLst/>
          </a:prstGeom>
          <a:noFill/>
          <a:ln/>
        </p:spPr>
        <p:txBody>
          <a:bodyPr wrap="square" lIns="0" tIns="0" rIns="0" bIns="0" rtlCol="0" anchor="ctr"/>
          <a:lstStyle/>
          <a:p>
            <a:pPr indent="0" marL="0">
              <a:buNone/>
            </a:pPr>
            <a:r>
              <a:rPr lang="en-US" sz="950" b="1" dirty="0">
                <a:solidFill>
                  <a:srgbClr val="F0C040"/>
                </a:solidFill>
                <a:latin typeface="Calibri" pitchFamily="34" charset="0"/>
                <a:ea typeface="Calibri" pitchFamily="34" charset="-122"/>
                <a:cs typeface="Calibri" pitchFamily="34" charset="-120"/>
              </a:rPr>
              <a:t>Add Variables Syntax:</a:t>
            </a:r>
            <a:endParaRPr lang="en-US" sz="950" dirty="0"/>
          </a:p>
        </p:txBody>
      </p:sp>
      <p:sp>
        <p:nvSpPr>
          <p:cNvPr id="120" name="Text 118"/>
          <p:cNvSpPr/>
          <p:nvPr/>
        </p:nvSpPr>
        <p:spPr>
          <a:xfrm>
            <a:off x="4791456" y="5285232"/>
            <a:ext cx="3986784"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SORT CASES BY resp_id.</a:t>
            </a:r>
            <a:endParaRPr lang="en-US" sz="850" dirty="0"/>
          </a:p>
        </p:txBody>
      </p:sp>
      <p:sp>
        <p:nvSpPr>
          <p:cNvPr id="121" name="Text 119"/>
          <p:cNvSpPr/>
          <p:nvPr/>
        </p:nvSpPr>
        <p:spPr>
          <a:xfrm>
            <a:off x="4791456" y="5468112"/>
            <a:ext cx="3986784"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MATCH FILES FILE=* /FILE='UAC_Sales.sav'</a:t>
            </a:r>
            <a:endParaRPr lang="en-US" sz="850" dirty="0"/>
          </a:p>
        </p:txBody>
      </p:sp>
      <p:sp>
        <p:nvSpPr>
          <p:cNvPr id="122" name="Text 120"/>
          <p:cNvSpPr/>
          <p:nvPr/>
        </p:nvSpPr>
        <p:spPr>
          <a:xfrm>
            <a:off x="4791456" y="5650992"/>
            <a:ext cx="3986784" cy="182880"/>
          </a:xfrm>
          <a:prstGeom prst="rect">
            <a:avLst/>
          </a:prstGeom>
          <a:noFill/>
          <a:ln/>
        </p:spPr>
        <p:txBody>
          <a:bodyPr wrap="square" lIns="0" tIns="0" rIns="0" bIns="0" rtlCol="0" anchor="ctr"/>
          <a:lstStyle/>
          <a:p>
            <a:pPr indent="0" marL="0">
              <a:buNone/>
            </a:pPr>
            <a:r>
              <a:rPr lang="en-US" sz="850" dirty="0">
                <a:solidFill>
                  <a:srgbClr val="9CDCFE"/>
                </a:solidFill>
                <a:latin typeface="Courier New" pitchFamily="34" charset="0"/>
                <a:ea typeface="Courier New" pitchFamily="34" charset="-122"/>
                <a:cs typeface="Courier New" pitchFamily="34" charset="-120"/>
              </a:rPr>
              <a:t>  /BY resp_id.</a:t>
            </a:r>
            <a:endParaRPr lang="en-US" sz="850" dirty="0"/>
          </a:p>
        </p:txBody>
      </p:sp>
      <p:sp>
        <p:nvSpPr>
          <p:cNvPr id="123" name="Text 121"/>
          <p:cNvSpPr/>
          <p:nvPr/>
        </p:nvSpPr>
        <p:spPr>
          <a:xfrm>
            <a:off x="4791456" y="5833872"/>
            <a:ext cx="3986784" cy="182880"/>
          </a:xfrm>
          <a:prstGeom prst="rect">
            <a:avLst/>
          </a:prstGeom>
          <a:noFill/>
          <a:ln/>
        </p:spPr>
        <p:txBody>
          <a:bodyPr wrap="square" lIns="0" tIns="0" rIns="0" bIns="0" rtlCol="0" anchor="ctr"/>
          <a:lstStyle/>
          <a:p>
            <a:pPr indent="0" marL="0">
              <a:buNone/>
            </a:pPr>
            <a:r>
              <a:rPr lang="en-US" sz="850" dirty="0">
                <a:solidFill>
                  <a:srgbClr val="569CD6"/>
                </a:solidFill>
                <a:latin typeface="Courier New" pitchFamily="34" charset="0"/>
                <a:ea typeface="Courier New" pitchFamily="34" charset="-122"/>
                <a:cs typeface="Courier New" pitchFamily="34" charset="-120"/>
              </a:rPr>
              <a:t>EXECUTE.</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6B3C">
              <a:alpha val="18000"/>
            </a:srgbClr>
          </a:solidFill>
          <a:ln w="12700">
            <a:solidFill>
              <a:srgbClr val="1A6B3C"/>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2  |  SECTION 08</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Splitting, Selecting and Weighting Cases</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D4BC"/>
                </a:solidFill>
                <a:latin typeface="Calibri" pitchFamily="34" charset="0"/>
                <a:ea typeface="Calibri" pitchFamily="34" charset="-122"/>
                <a:cs typeface="Calibri" pitchFamily="34" charset="-120"/>
              </a:rPr>
              <a:t>Focusing analysis on specific subgroups and applying survey sampling weights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A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218"/>
          </a:solidFill>
          <a:ln w="12700">
            <a:solidFill>
              <a:srgbClr val="0B2218"/>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Split File, Select Cases and Weight Cases - Data Menu</a:t>
            </a:r>
            <a:endParaRPr lang="en-US" sz="2200" dirty="0"/>
          </a:p>
        </p:txBody>
      </p:sp>
      <p:sp>
        <p:nvSpPr>
          <p:cNvPr id="4" name="Shape 2"/>
          <p:cNvSpPr/>
          <p:nvPr/>
        </p:nvSpPr>
        <p:spPr>
          <a:xfrm>
            <a:off x="256032" y="1024128"/>
            <a:ext cx="4160520" cy="2176272"/>
          </a:xfrm>
          <a:prstGeom prst="roundRect">
            <a:avLst>
              <a:gd name="adj" fmla="val 3782"/>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97280"/>
            <a:ext cx="4005072" cy="329184"/>
          </a:xfrm>
          <a:prstGeom prst="roundRect">
            <a:avLst>
              <a:gd name="adj" fmla="val 16667"/>
            </a:avLst>
          </a:prstGeom>
          <a:solidFill>
            <a:srgbClr val="0B2218"/>
          </a:solidFill>
          <a:ln w="12700">
            <a:solidFill>
              <a:srgbClr val="0B2218"/>
            </a:solidFill>
            <a:prstDash val="solid"/>
          </a:ln>
        </p:spPr>
      </p:sp>
      <p:sp>
        <p:nvSpPr>
          <p:cNvPr id="6" name="Text 4"/>
          <p:cNvSpPr/>
          <p:nvPr/>
        </p:nvSpPr>
        <p:spPr>
          <a:xfrm>
            <a:off x="329184" y="1097280"/>
            <a:ext cx="4005072" cy="329184"/>
          </a:xfrm>
          <a:prstGeom prst="rect">
            <a:avLst/>
          </a:prstGeom>
          <a:noFill/>
          <a:ln/>
        </p:spPr>
        <p:txBody>
          <a:bodyPr wrap="square" lIns="0" tIns="0" rIns="0" bIns="0" rtlCol="0" anchor="ctr"/>
          <a:lstStyle/>
          <a:p>
            <a:pPr algn="ctr" indent="0" marL="0">
              <a:buNone/>
            </a:pPr>
            <a:r>
              <a:rPr lang="en-US" sz="1200" b="1" dirty="0">
                <a:solidFill>
                  <a:srgbClr val="F0C040"/>
                </a:solidFill>
                <a:latin typeface="Calibri" pitchFamily="34" charset="0"/>
                <a:ea typeface="Calibri" pitchFamily="34" charset="-122"/>
                <a:cs typeface="Calibri" pitchFamily="34" charset="-120"/>
              </a:rPr>
              <a:t>SPLIT FILE  -  Data &gt; Split File</a:t>
            </a:r>
            <a:endParaRPr lang="en-US" sz="1200" dirty="0"/>
          </a:p>
        </p:txBody>
      </p:sp>
      <p:sp>
        <p:nvSpPr>
          <p:cNvPr id="7" name="Text 5"/>
          <p:cNvSpPr/>
          <p:nvPr/>
        </p:nvSpPr>
        <p:spPr>
          <a:xfrm>
            <a:off x="365760" y="1481328"/>
            <a:ext cx="3913632" cy="594360"/>
          </a:xfrm>
          <a:prstGeom prst="rect">
            <a:avLst/>
          </a:prstGeom>
          <a:noFill/>
          <a:ln/>
        </p:spPr>
        <p:txBody>
          <a:bodyPr wrap="square" lIns="0" tIns="0" rIns="0" bIns="0" rtlCol="0" anchor="ctr"/>
          <a:lstStyle/>
          <a:p>
            <a:pPr indent="0" marL="0">
              <a:buNone/>
            </a:pPr>
            <a:r>
              <a:rPr lang="en-US" sz="1000" dirty="0">
                <a:solidFill>
                  <a:srgbClr val="1E3A2E"/>
                </a:solidFill>
                <a:latin typeface="Calibri" pitchFamily="34" charset="0"/>
                <a:ea typeface="Calibri" pitchFamily="34" charset="-122"/>
                <a:cs typeface="Calibri" pitchFamily="34" charset="-120"/>
              </a:rPr>
              <a:t>Causes SPSS to repeat every subsequent analysis SEPARATELY for each group defined by a grouping variable. Results appear as separate tables/charts per group in the Output Viewer.</a:t>
            </a:r>
            <a:endParaRPr lang="en-US" sz="1000" dirty="0"/>
          </a:p>
        </p:txBody>
      </p:sp>
      <p:sp>
        <p:nvSpPr>
          <p:cNvPr id="8" name="Text 6"/>
          <p:cNvSpPr/>
          <p:nvPr/>
        </p:nvSpPr>
        <p:spPr>
          <a:xfrm>
            <a:off x="365760" y="2139696"/>
            <a:ext cx="3913632" cy="219456"/>
          </a:xfrm>
          <a:prstGeom prst="rect">
            <a:avLst/>
          </a:prstGeom>
          <a:noFill/>
          <a:ln/>
        </p:spPr>
        <p:txBody>
          <a:bodyPr wrap="square" lIns="0" tIns="0" rIns="0" bIns="0" rtlCol="0" anchor="ctr"/>
          <a:lstStyle/>
          <a:p>
            <a:pPr indent="0" marL="0">
              <a:buNone/>
            </a:pPr>
            <a:r>
              <a:rPr lang="en-US" sz="1000" b="1" dirty="0">
                <a:solidFill>
                  <a:srgbClr val="0B2218"/>
                </a:solidFill>
                <a:latin typeface="Calibri" pitchFamily="34" charset="0"/>
                <a:ea typeface="Calibri" pitchFamily="34" charset="-122"/>
                <a:cs typeface="Calibri" pitchFamily="34" charset="-120"/>
              </a:rPr>
              <a:t>Steps:</a:t>
            </a:r>
            <a:endParaRPr lang="en-US" sz="1000" dirty="0"/>
          </a:p>
        </p:txBody>
      </p:sp>
      <p:sp>
        <p:nvSpPr>
          <p:cNvPr id="9" name="Text 7"/>
          <p:cNvSpPr/>
          <p:nvPr/>
        </p:nvSpPr>
        <p:spPr>
          <a:xfrm>
            <a:off x="365760" y="2377440"/>
            <a:ext cx="3913632" cy="256032"/>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1. Data &gt; Split File</a:t>
            </a:r>
            <a:endParaRPr lang="en-US" sz="950" dirty="0"/>
          </a:p>
        </p:txBody>
      </p:sp>
      <p:sp>
        <p:nvSpPr>
          <p:cNvPr id="10" name="Text 8"/>
          <p:cNvSpPr/>
          <p:nvPr/>
        </p:nvSpPr>
        <p:spPr>
          <a:xfrm>
            <a:off x="365760" y="2651760"/>
            <a:ext cx="3913632" cy="256032"/>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2. Select 'Organize output by groups'</a:t>
            </a:r>
            <a:endParaRPr lang="en-US" sz="950" dirty="0"/>
          </a:p>
        </p:txBody>
      </p:sp>
      <p:sp>
        <p:nvSpPr>
          <p:cNvPr id="11" name="Text 9"/>
          <p:cNvSpPr/>
          <p:nvPr/>
        </p:nvSpPr>
        <p:spPr>
          <a:xfrm>
            <a:off x="365760" y="2926080"/>
            <a:ext cx="3913632" cy="256032"/>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3. Move grouping variable (e.g., gender) to 'Groups Based On'</a:t>
            </a:r>
            <a:endParaRPr lang="en-US" sz="950" dirty="0"/>
          </a:p>
        </p:txBody>
      </p:sp>
      <p:sp>
        <p:nvSpPr>
          <p:cNvPr id="12" name="Text 10"/>
          <p:cNvSpPr/>
          <p:nvPr/>
        </p:nvSpPr>
        <p:spPr>
          <a:xfrm>
            <a:off x="365760" y="3200400"/>
            <a:ext cx="3913632" cy="256032"/>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4. Click OK. Status bar shows [Split File On]</a:t>
            </a:r>
            <a:endParaRPr lang="en-US" sz="950" dirty="0"/>
          </a:p>
        </p:txBody>
      </p:sp>
      <p:sp>
        <p:nvSpPr>
          <p:cNvPr id="13" name="Text 11"/>
          <p:cNvSpPr/>
          <p:nvPr/>
        </p:nvSpPr>
        <p:spPr>
          <a:xfrm>
            <a:off x="365760" y="3474720"/>
            <a:ext cx="3913632" cy="256032"/>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5. Run any analysis - output repeats per group</a:t>
            </a:r>
            <a:endParaRPr lang="en-US" sz="950" dirty="0"/>
          </a:p>
        </p:txBody>
      </p:sp>
      <p:sp>
        <p:nvSpPr>
          <p:cNvPr id="14" name="Text 12"/>
          <p:cNvSpPr/>
          <p:nvPr/>
        </p:nvSpPr>
        <p:spPr>
          <a:xfrm>
            <a:off x="365760" y="3749040"/>
            <a:ext cx="3913632" cy="256032"/>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6. TURN OFF: Data &gt; Split File &gt; Analyze all cases</a:t>
            </a:r>
            <a:endParaRPr lang="en-US" sz="950" dirty="0"/>
          </a:p>
        </p:txBody>
      </p:sp>
      <p:sp>
        <p:nvSpPr>
          <p:cNvPr id="15" name="Text 13"/>
          <p:cNvSpPr/>
          <p:nvPr/>
        </p:nvSpPr>
        <p:spPr>
          <a:xfrm>
            <a:off x="365760" y="4096512"/>
            <a:ext cx="3913632" cy="329184"/>
          </a:xfrm>
          <a:prstGeom prst="rect">
            <a:avLst/>
          </a:prstGeom>
          <a:noFill/>
          <a:ln/>
        </p:spPr>
        <p:txBody>
          <a:bodyPr wrap="square" lIns="0" tIns="0" rIns="0" bIns="0" rtlCol="0" anchor="ctr"/>
          <a:lstStyle/>
          <a:p>
            <a:pPr indent="0" marL="0">
              <a:buNone/>
            </a:pPr>
            <a:r>
              <a:rPr lang="en-US" sz="900" i="1" dirty="0">
                <a:solidFill>
                  <a:srgbClr val="1A6B3C"/>
                </a:solidFill>
                <a:latin typeface="Calibri" pitchFamily="34" charset="0"/>
                <a:ea typeface="Calibri" pitchFamily="34" charset="-122"/>
                <a:cs typeface="Calibri" pitchFamily="34" charset="-120"/>
              </a:rPr>
              <a:t>UAC Example: Split by gender, run Frequencies on product_preference &gt; separate frequency table for male and female consumers.</a:t>
            </a:r>
            <a:endParaRPr lang="en-US" sz="900" dirty="0"/>
          </a:p>
        </p:txBody>
      </p:sp>
      <p:sp>
        <p:nvSpPr>
          <p:cNvPr id="16" name="Shape 14"/>
          <p:cNvSpPr/>
          <p:nvPr/>
        </p:nvSpPr>
        <p:spPr>
          <a:xfrm>
            <a:off x="4681728" y="1024128"/>
            <a:ext cx="4160520" cy="2176272"/>
          </a:xfrm>
          <a:prstGeom prst="roundRect">
            <a:avLst>
              <a:gd name="adj" fmla="val 3782"/>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4754880" y="1097280"/>
            <a:ext cx="4005072" cy="329184"/>
          </a:xfrm>
          <a:prstGeom prst="roundRect">
            <a:avLst>
              <a:gd name="adj" fmla="val 16667"/>
            </a:avLst>
          </a:prstGeom>
          <a:solidFill>
            <a:srgbClr val="1A6B3C"/>
          </a:solidFill>
          <a:ln w="12700">
            <a:solidFill>
              <a:srgbClr val="1A6B3C"/>
            </a:solidFill>
            <a:prstDash val="solid"/>
          </a:ln>
        </p:spPr>
      </p:sp>
      <p:sp>
        <p:nvSpPr>
          <p:cNvPr id="18" name="Text 16"/>
          <p:cNvSpPr/>
          <p:nvPr/>
        </p:nvSpPr>
        <p:spPr>
          <a:xfrm>
            <a:off x="4754880" y="1097280"/>
            <a:ext cx="4005072"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SELECT CASES  -  Data &gt; Select Cases</a:t>
            </a:r>
            <a:endParaRPr lang="en-US" sz="1200" dirty="0"/>
          </a:p>
        </p:txBody>
      </p:sp>
      <p:sp>
        <p:nvSpPr>
          <p:cNvPr id="19" name="Text 17"/>
          <p:cNvSpPr/>
          <p:nvPr/>
        </p:nvSpPr>
        <p:spPr>
          <a:xfrm>
            <a:off x="4773168" y="1481328"/>
            <a:ext cx="3913632" cy="594360"/>
          </a:xfrm>
          <a:prstGeom prst="rect">
            <a:avLst/>
          </a:prstGeom>
          <a:noFill/>
          <a:ln/>
        </p:spPr>
        <p:txBody>
          <a:bodyPr wrap="square" lIns="0" tIns="0" rIns="0" bIns="0" rtlCol="0" anchor="ctr"/>
          <a:lstStyle/>
          <a:p>
            <a:pPr indent="0" marL="0">
              <a:buNone/>
            </a:pPr>
            <a:r>
              <a:rPr lang="en-US" sz="1000" dirty="0">
                <a:solidFill>
                  <a:srgbClr val="1E3A2E"/>
                </a:solidFill>
                <a:latin typeface="Calibri" pitchFamily="34" charset="0"/>
                <a:ea typeface="Calibri" pitchFamily="34" charset="-122"/>
                <a:cs typeface="Calibri" pitchFamily="34" charset="-120"/>
              </a:rPr>
              <a:t>Restricts all subsequent analyses to a SUBSET of cases that meet a specified condition. Unselected cases are either filtered out (temporary) or deleted (permanent).</a:t>
            </a:r>
            <a:endParaRPr lang="en-US" sz="1000" dirty="0"/>
          </a:p>
        </p:txBody>
      </p:sp>
      <p:sp>
        <p:nvSpPr>
          <p:cNvPr id="20" name="Text 18"/>
          <p:cNvSpPr/>
          <p:nvPr/>
        </p:nvSpPr>
        <p:spPr>
          <a:xfrm>
            <a:off x="4773168" y="2139696"/>
            <a:ext cx="3913632" cy="219456"/>
          </a:xfrm>
          <a:prstGeom prst="rect">
            <a:avLst/>
          </a:prstGeom>
          <a:noFill/>
          <a:ln/>
        </p:spPr>
        <p:txBody>
          <a:bodyPr wrap="square" lIns="0" tIns="0" rIns="0" bIns="0" rtlCol="0" anchor="ctr"/>
          <a:lstStyle/>
          <a:p>
            <a:pPr indent="0" marL="0">
              <a:buNone/>
            </a:pPr>
            <a:r>
              <a:rPr lang="en-US" sz="1000" b="1" dirty="0">
                <a:solidFill>
                  <a:srgbClr val="1A6B3C"/>
                </a:solidFill>
                <a:latin typeface="Calibri" pitchFamily="34" charset="0"/>
                <a:ea typeface="Calibri" pitchFamily="34" charset="-122"/>
                <a:cs typeface="Calibri" pitchFamily="34" charset="-120"/>
              </a:rPr>
              <a:t>Common Conditions:</a:t>
            </a:r>
            <a:endParaRPr lang="en-US" sz="1000" dirty="0"/>
          </a:p>
        </p:txBody>
      </p:sp>
      <p:sp>
        <p:nvSpPr>
          <p:cNvPr id="21" name="Text 19"/>
          <p:cNvSpPr/>
          <p:nvPr/>
        </p:nvSpPr>
        <p:spPr>
          <a:xfrm>
            <a:off x="4773168" y="2395728"/>
            <a:ext cx="3913632" cy="256032"/>
          </a:xfrm>
          <a:prstGeom prst="rect">
            <a:avLst/>
          </a:prstGeom>
          <a:noFill/>
          <a:ln/>
        </p:spPr>
        <p:txBody>
          <a:bodyPr wrap="square" lIns="0" tIns="0" rIns="0" bIns="0" rtlCol="0" anchor="ctr"/>
          <a:lstStyle/>
          <a:p>
            <a:pPr indent="0" marL="0">
              <a:buNone/>
            </a:pPr>
            <a:r>
              <a:rPr lang="en-US" sz="900" b="1" dirty="0">
                <a:solidFill>
                  <a:srgbClr val="1A6B3C"/>
                </a:solidFill>
                <a:latin typeface="Courier New" pitchFamily="34" charset="0"/>
                <a:ea typeface="Courier New" pitchFamily="34" charset="-122"/>
                <a:cs typeface="Courier New" pitchFamily="34" charset="-120"/>
              </a:rPr>
              <a:t>gender = 2  </a:t>
            </a:r>
            <a:pPr indent="0" marL="0">
              <a:buNone/>
            </a:pPr>
            <a:r>
              <a:rPr lang="en-US" sz="900" dirty="0">
                <a:solidFill>
                  <a:srgbClr val="64748B"/>
                </a:solidFill>
                <a:latin typeface="Calibri" pitchFamily="34" charset="0"/>
                <a:ea typeface="Calibri" pitchFamily="34" charset="-122"/>
                <a:cs typeface="Calibri" pitchFamily="34" charset="-120"/>
              </a:rPr>
              <a:t>Female respondents only</a:t>
            </a:r>
            <a:endParaRPr lang="en-US" sz="900" dirty="0"/>
          </a:p>
        </p:txBody>
      </p:sp>
      <p:sp>
        <p:nvSpPr>
          <p:cNvPr id="22" name="Text 20"/>
          <p:cNvSpPr/>
          <p:nvPr/>
        </p:nvSpPr>
        <p:spPr>
          <a:xfrm>
            <a:off x="4773168" y="2670048"/>
            <a:ext cx="3913632" cy="256032"/>
          </a:xfrm>
          <a:prstGeom prst="rect">
            <a:avLst/>
          </a:prstGeom>
          <a:noFill/>
          <a:ln/>
        </p:spPr>
        <p:txBody>
          <a:bodyPr wrap="square" lIns="0" tIns="0" rIns="0" bIns="0" rtlCol="0" anchor="ctr"/>
          <a:lstStyle/>
          <a:p>
            <a:pPr indent="0" marL="0">
              <a:buNone/>
            </a:pPr>
            <a:r>
              <a:rPr lang="en-US" sz="900" b="1" dirty="0">
                <a:solidFill>
                  <a:srgbClr val="1A6B3C"/>
                </a:solidFill>
                <a:latin typeface="Courier New" pitchFamily="34" charset="0"/>
                <a:ea typeface="Courier New" pitchFamily="34" charset="-122"/>
                <a:cs typeface="Courier New" pitchFamily="34" charset="-120"/>
              </a:rPr>
              <a:t>age_in_years &gt;= 25 AND age_in_years &lt;= 44  </a:t>
            </a:r>
            <a:pPr indent="0" marL="0">
              <a:buNone/>
            </a:pPr>
            <a:r>
              <a:rPr lang="en-US" sz="900" dirty="0">
                <a:solidFill>
                  <a:srgbClr val="64748B"/>
                </a:solidFill>
                <a:latin typeface="Calibri" pitchFamily="34" charset="0"/>
                <a:ea typeface="Calibri" pitchFamily="34" charset="-122"/>
                <a:cs typeface="Calibri" pitchFamily="34" charset="-120"/>
              </a:rPr>
              <a:t>25-44 age group only</a:t>
            </a:r>
            <a:endParaRPr lang="en-US" sz="900" dirty="0"/>
          </a:p>
        </p:txBody>
      </p:sp>
      <p:sp>
        <p:nvSpPr>
          <p:cNvPr id="23" name="Text 21"/>
          <p:cNvSpPr/>
          <p:nvPr/>
        </p:nvSpPr>
        <p:spPr>
          <a:xfrm>
            <a:off x="4773168" y="2944368"/>
            <a:ext cx="3913632" cy="256032"/>
          </a:xfrm>
          <a:prstGeom prst="rect">
            <a:avLst/>
          </a:prstGeom>
          <a:noFill/>
          <a:ln/>
        </p:spPr>
        <p:txBody>
          <a:bodyPr wrap="square" lIns="0" tIns="0" rIns="0" bIns="0" rtlCol="0" anchor="ctr"/>
          <a:lstStyle/>
          <a:p>
            <a:pPr indent="0" marL="0">
              <a:buNone/>
            </a:pPr>
            <a:r>
              <a:rPr lang="en-US" sz="900" b="1" dirty="0">
                <a:solidFill>
                  <a:srgbClr val="1A6B3C"/>
                </a:solidFill>
                <a:latin typeface="Courier New" pitchFamily="34" charset="0"/>
                <a:ea typeface="Courier New" pitchFamily="34" charset="-122"/>
                <a:cs typeface="Courier New" pitchFamily="34" charset="-120"/>
              </a:rPr>
              <a:t>uac_product_pref = 1  </a:t>
            </a:r>
            <a:pPr indent="0" marL="0">
              <a:buNone/>
            </a:pPr>
            <a:r>
              <a:rPr lang="en-US" sz="900" dirty="0">
                <a:solidFill>
                  <a:srgbClr val="64748B"/>
                </a:solidFill>
                <a:latin typeface="Calibri" pitchFamily="34" charset="0"/>
                <a:ea typeface="Calibri" pitchFamily="34" charset="-122"/>
                <a:cs typeface="Calibri" pitchFamily="34" charset="-120"/>
              </a:rPr>
              <a:t>Gala purchasers only</a:t>
            </a:r>
            <a:endParaRPr lang="en-US" sz="900" dirty="0"/>
          </a:p>
        </p:txBody>
      </p:sp>
      <p:sp>
        <p:nvSpPr>
          <p:cNvPr id="24" name="Text 22"/>
          <p:cNvSpPr/>
          <p:nvPr/>
        </p:nvSpPr>
        <p:spPr>
          <a:xfrm>
            <a:off x="4773168" y="3218688"/>
            <a:ext cx="3913632" cy="256032"/>
          </a:xfrm>
          <a:prstGeom prst="rect">
            <a:avLst/>
          </a:prstGeom>
          <a:noFill/>
          <a:ln/>
        </p:spPr>
        <p:txBody>
          <a:bodyPr wrap="square" lIns="0" tIns="0" rIns="0" bIns="0" rtlCol="0" anchor="ctr"/>
          <a:lstStyle/>
          <a:p>
            <a:pPr indent="0" marL="0">
              <a:buNone/>
            </a:pPr>
            <a:r>
              <a:rPr lang="en-US" sz="900" b="1" dirty="0">
                <a:solidFill>
                  <a:srgbClr val="1A6B3C"/>
                </a:solidFill>
                <a:latin typeface="Courier New" pitchFamily="34" charset="0"/>
                <a:ea typeface="Courier New" pitchFamily="34" charset="-122"/>
                <a:cs typeface="Courier New" pitchFamily="34" charset="-120"/>
              </a:rPr>
              <a:t>monthly_salary_ngn &gt; 200000  </a:t>
            </a:r>
            <a:pPr indent="0" marL="0">
              <a:buNone/>
            </a:pPr>
            <a:r>
              <a:rPr lang="en-US" sz="900" dirty="0">
                <a:solidFill>
                  <a:srgbClr val="64748B"/>
                </a:solidFill>
                <a:latin typeface="Calibri" pitchFamily="34" charset="0"/>
                <a:ea typeface="Calibri" pitchFamily="34" charset="-122"/>
                <a:cs typeface="Calibri" pitchFamily="34" charset="-120"/>
              </a:rPr>
              <a:t>Mid-to-high income respondents</a:t>
            </a:r>
            <a:endParaRPr lang="en-US" sz="900" dirty="0"/>
          </a:p>
        </p:txBody>
      </p:sp>
      <p:sp>
        <p:nvSpPr>
          <p:cNvPr id="25" name="Text 23"/>
          <p:cNvSpPr/>
          <p:nvPr/>
        </p:nvSpPr>
        <p:spPr>
          <a:xfrm>
            <a:off x="4773168" y="3493008"/>
            <a:ext cx="3913632" cy="256032"/>
          </a:xfrm>
          <a:prstGeom prst="rect">
            <a:avLst/>
          </a:prstGeom>
          <a:noFill/>
          <a:ln/>
        </p:spPr>
        <p:txBody>
          <a:bodyPr wrap="square" lIns="0" tIns="0" rIns="0" bIns="0" rtlCol="0" anchor="ctr"/>
          <a:lstStyle/>
          <a:p>
            <a:pPr indent="0" marL="0">
              <a:buNone/>
            </a:pPr>
            <a:r>
              <a:rPr lang="en-US" sz="900" b="1" dirty="0">
                <a:solidFill>
                  <a:srgbClr val="1A6B3C"/>
                </a:solidFill>
                <a:latin typeface="Courier New" pitchFamily="34" charset="0"/>
                <a:ea typeface="Courier New" pitchFamily="34" charset="-122"/>
                <a:cs typeface="Courier New" pitchFamily="34" charset="-120"/>
              </a:rPr>
              <a:t>region = 1 OR region = 3  </a:t>
            </a:r>
            <a:pPr indent="0" marL="0">
              <a:buNone/>
            </a:pPr>
            <a:r>
              <a:rPr lang="en-US" sz="900" dirty="0">
                <a:solidFill>
                  <a:srgbClr val="64748B"/>
                </a:solidFill>
                <a:latin typeface="Calibri" pitchFamily="34" charset="0"/>
                <a:ea typeface="Calibri" pitchFamily="34" charset="-122"/>
                <a:cs typeface="Calibri" pitchFamily="34" charset="-120"/>
              </a:rPr>
              <a:t>Lagos and Abuja respondents</a:t>
            </a:r>
            <a:endParaRPr lang="en-US" sz="900" dirty="0"/>
          </a:p>
        </p:txBody>
      </p:sp>
      <p:sp>
        <p:nvSpPr>
          <p:cNvPr id="26" name="Text 24"/>
          <p:cNvSpPr/>
          <p:nvPr/>
        </p:nvSpPr>
        <p:spPr>
          <a:xfrm>
            <a:off x="4773168" y="4096512"/>
            <a:ext cx="3913632" cy="329184"/>
          </a:xfrm>
          <a:prstGeom prst="rect">
            <a:avLst/>
          </a:prstGeom>
          <a:noFill/>
          <a:ln/>
        </p:spPr>
        <p:txBody>
          <a:bodyPr wrap="square" lIns="0" tIns="0" rIns="0" bIns="0" rtlCol="0" anchor="ctr"/>
          <a:lstStyle/>
          <a:p>
            <a:pPr indent="0" marL="0">
              <a:buNone/>
            </a:pPr>
            <a:r>
              <a:rPr lang="en-US" sz="900" i="1" dirty="0">
                <a:solidFill>
                  <a:srgbClr val="1A6B3C"/>
                </a:solidFill>
                <a:latin typeface="Calibri" pitchFamily="34" charset="0"/>
                <a:ea typeface="Calibri" pitchFamily="34" charset="-122"/>
                <a:cs typeface="Calibri" pitchFamily="34" charset="-120"/>
              </a:rPr>
              <a:t>UAC Example: Select cases where uac_product_pref = 1 &gt; run regression on Gala purchasers only to identify satisfaction predictors specific to this product line.</a:t>
            </a:r>
            <a:endParaRPr lang="en-US" sz="900" dirty="0"/>
          </a:p>
        </p:txBody>
      </p:sp>
      <p:sp>
        <p:nvSpPr>
          <p:cNvPr id="27" name="Shape 25"/>
          <p:cNvSpPr/>
          <p:nvPr/>
        </p:nvSpPr>
        <p:spPr>
          <a:xfrm>
            <a:off x="256032" y="4517136"/>
            <a:ext cx="8631936" cy="914400"/>
          </a:xfrm>
          <a:prstGeom prst="roundRect">
            <a:avLst>
              <a:gd name="adj" fmla="val 8000"/>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8" name="Shape 26"/>
          <p:cNvSpPr/>
          <p:nvPr/>
        </p:nvSpPr>
        <p:spPr>
          <a:xfrm>
            <a:off x="329184" y="4572000"/>
            <a:ext cx="1188720" cy="274320"/>
          </a:xfrm>
          <a:prstGeom prst="roundRect">
            <a:avLst>
              <a:gd name="adj" fmla="val 16667"/>
            </a:avLst>
          </a:prstGeom>
          <a:solidFill>
            <a:srgbClr val="E67E22"/>
          </a:solidFill>
          <a:ln w="12700">
            <a:solidFill>
              <a:srgbClr val="E67E22"/>
            </a:solidFill>
            <a:prstDash val="solid"/>
          </a:ln>
        </p:spPr>
      </p:sp>
      <p:sp>
        <p:nvSpPr>
          <p:cNvPr id="29" name="Text 27"/>
          <p:cNvSpPr/>
          <p:nvPr/>
        </p:nvSpPr>
        <p:spPr>
          <a:xfrm>
            <a:off x="329184" y="457200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WEIGHT CASES</a:t>
            </a:r>
            <a:endParaRPr lang="en-US" sz="900" dirty="0"/>
          </a:p>
        </p:txBody>
      </p:sp>
      <p:sp>
        <p:nvSpPr>
          <p:cNvPr id="30" name="Text 28"/>
          <p:cNvSpPr/>
          <p:nvPr/>
        </p:nvSpPr>
        <p:spPr>
          <a:xfrm>
            <a:off x="1591056" y="4572000"/>
            <a:ext cx="1645920" cy="274320"/>
          </a:xfrm>
          <a:prstGeom prst="rect">
            <a:avLst/>
          </a:prstGeom>
          <a:noFill/>
          <a:ln/>
        </p:spPr>
        <p:txBody>
          <a:bodyPr wrap="square" lIns="0" tIns="0" rIns="0" bIns="0" rtlCol="0" anchor="ctr"/>
          <a:lstStyle/>
          <a:p>
            <a:pPr indent="0" marL="0">
              <a:buNone/>
            </a:pPr>
            <a:r>
              <a:rPr lang="en-US" sz="950" i="1" dirty="0">
                <a:solidFill>
                  <a:srgbClr val="E67E22"/>
                </a:solidFill>
                <a:latin typeface="Calibri" pitchFamily="34" charset="0"/>
                <a:ea typeface="Calibri" pitchFamily="34" charset="-122"/>
                <a:cs typeface="Calibri" pitchFamily="34" charset="-120"/>
              </a:rPr>
              <a:t>Data &gt; Weight Cases</a:t>
            </a:r>
            <a:endParaRPr lang="en-US" sz="950" dirty="0"/>
          </a:p>
        </p:txBody>
      </p:sp>
      <p:sp>
        <p:nvSpPr>
          <p:cNvPr id="31" name="Text 29"/>
          <p:cNvSpPr/>
          <p:nvPr/>
        </p:nvSpPr>
        <p:spPr>
          <a:xfrm>
            <a:off x="347472" y="4882896"/>
            <a:ext cx="8266176" cy="502920"/>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Applies a weighting variable to correct for unequal probability of selection (e.g., certain demographic groups over-represented). Used for nationally representative surveys. Declare the weight variable in Data &gt; Weight Cases &gt; Weight cases by [weight_variable]. All subsequent frequency counts and statistics reflect weighted estimates.</a:t>
            </a:r>
            <a:endParaRPr lang="en-US" sz="950" dirty="0"/>
          </a:p>
        </p:txBody>
      </p:sp>
      <p:sp>
        <p:nvSpPr>
          <p:cNvPr id="32" name="Shape 30"/>
          <p:cNvSpPr/>
          <p:nvPr/>
        </p:nvSpPr>
        <p:spPr>
          <a:xfrm>
            <a:off x="256032" y="5084064"/>
            <a:ext cx="8631936" cy="384048"/>
          </a:xfrm>
          <a:prstGeom prst="roundRect">
            <a:avLst>
              <a:gd name="adj" fmla="val 14286"/>
            </a:avLst>
          </a:prstGeom>
          <a:solidFill>
            <a:srgbClr val="FEF0ED"/>
          </a:solidFill>
          <a:ln w="19050">
            <a:solidFill>
              <a:srgbClr val="C0392B"/>
            </a:solidFill>
            <a:prstDash val="solid"/>
          </a:ln>
        </p:spPr>
      </p:sp>
      <p:sp>
        <p:nvSpPr>
          <p:cNvPr id="33" name="Text 31"/>
          <p:cNvSpPr/>
          <p:nvPr/>
        </p:nvSpPr>
        <p:spPr>
          <a:xfrm>
            <a:off x="384048" y="5084064"/>
            <a:ext cx="8449056" cy="384048"/>
          </a:xfrm>
          <a:prstGeom prst="rect">
            <a:avLst/>
          </a:prstGeom>
          <a:noFill/>
          <a:ln/>
        </p:spPr>
        <p:txBody>
          <a:bodyPr wrap="square" lIns="0" tIns="0" rIns="0" bIns="0" rtlCol="0" anchor="ctr"/>
          <a:lstStyle/>
          <a:p>
            <a:pPr indent="0" marL="0">
              <a:buNone/>
            </a:pPr>
            <a:r>
              <a:rPr lang="en-US" sz="1000" dirty="0">
                <a:solidFill>
                  <a:srgbClr val="7A1A0E"/>
                </a:solidFill>
                <a:latin typeface="Calibri" pitchFamily="34" charset="0"/>
                <a:ea typeface="Calibri" pitchFamily="34" charset="-122"/>
                <a:cs typeface="Calibri" pitchFamily="34" charset="-120"/>
              </a:rPr>
              <a:t>Select Cases with 'Delete unselected cases' is PERMANENT. Always use Filter out unselected cases first, or work on a copy. Once saved, deleted cases cannot be recovered.</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6B3C">
              <a:alpha val="18000"/>
            </a:srgbClr>
          </a:solidFill>
          <a:ln w="12700">
            <a:solidFill>
              <a:srgbClr val="1A6B3C"/>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2  |  SECTION 09</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Syntax and Output Management</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D4BC"/>
                </a:solidFill>
                <a:latin typeface="Calibri" pitchFamily="34" charset="0"/>
                <a:ea typeface="Calibri" pitchFamily="34" charset="-122"/>
                <a:cs typeface="Calibri" pitchFamily="34" charset="-120"/>
              </a:rPr>
              <a:t>Documenting your complete data management workflow for reproducibility and auditability</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A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6B3C"/>
          </a:solidFill>
          <a:ln w="12700">
            <a:solidFill>
              <a:srgbClr val="1A6B3C"/>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Full Data Management Syntax - UAC Foods Analysis Documentation</a:t>
            </a:r>
            <a:endParaRPr lang="en-US" sz="2200" dirty="0"/>
          </a:p>
        </p:txBody>
      </p:sp>
      <p:sp>
        <p:nvSpPr>
          <p:cNvPr id="4" name="Shape 2"/>
          <p:cNvSpPr/>
          <p:nvPr/>
        </p:nvSpPr>
        <p:spPr>
          <a:xfrm>
            <a:off x="256032" y="1005840"/>
            <a:ext cx="5102352" cy="4041648"/>
          </a:xfrm>
          <a:prstGeom prst="roundRect">
            <a:avLst>
              <a:gd name="adj" fmla="val 2262"/>
            </a:avLst>
          </a:prstGeom>
          <a:solidFill>
            <a:srgbClr val="0A1A12"/>
          </a:solidFill>
          <a:ln w="12700">
            <a:solidFill>
              <a:srgbClr val="27AE60"/>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97280"/>
            <a:ext cx="4919472" cy="256032"/>
          </a:xfrm>
          <a:prstGeom prst="rect">
            <a:avLst/>
          </a:prstGeom>
          <a:noFill/>
          <a:ln/>
        </p:spPr>
        <p:txBody>
          <a:bodyPr wrap="square" lIns="0" tIns="0" rIns="0" bIns="0" rtlCol="0" anchor="ctr"/>
          <a:lstStyle/>
          <a:p>
            <a:pPr indent="0" marL="0">
              <a:buNone/>
            </a:pPr>
            <a:r>
              <a:rPr lang="en-US" sz="950" b="1" dirty="0">
                <a:solidFill>
                  <a:srgbClr val="F0C040"/>
                </a:solidFill>
                <a:latin typeface="Calibri" pitchFamily="34" charset="0"/>
                <a:ea typeface="Calibri" pitchFamily="34" charset="-122"/>
                <a:cs typeface="Calibri" pitchFamily="34" charset="-120"/>
              </a:rPr>
              <a:t>UAC_Foods_DataManagement.sps  -  Complete Data Cleaning Script</a:t>
            </a:r>
            <a:endParaRPr lang="en-US" sz="950" dirty="0"/>
          </a:p>
        </p:txBody>
      </p:sp>
      <p:sp>
        <p:nvSpPr>
          <p:cNvPr id="6" name="Text 4"/>
          <p:cNvSpPr/>
          <p:nvPr/>
        </p:nvSpPr>
        <p:spPr>
          <a:xfrm>
            <a:off x="384048" y="1408176"/>
            <a:ext cx="4901184"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a:t>
            </a:r>
            <a:endParaRPr lang="en-US" sz="850" dirty="0"/>
          </a:p>
        </p:txBody>
      </p:sp>
      <p:sp>
        <p:nvSpPr>
          <p:cNvPr id="7" name="Text 5"/>
          <p:cNvSpPr/>
          <p:nvPr/>
        </p:nvSpPr>
        <p:spPr>
          <a:xfrm>
            <a:off x="384048" y="1591056"/>
            <a:ext cx="4901184"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UAC FOODS CONSUMER SURVEY 2025</a:t>
            </a:r>
            <a:endParaRPr lang="en-US" sz="850" dirty="0"/>
          </a:p>
        </p:txBody>
      </p:sp>
      <p:sp>
        <p:nvSpPr>
          <p:cNvPr id="8" name="Text 6"/>
          <p:cNvSpPr/>
          <p:nvPr/>
        </p:nvSpPr>
        <p:spPr>
          <a:xfrm>
            <a:off x="384048" y="1773936"/>
            <a:ext cx="4901184"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DATA MANAGEMENT AND CLEANING SCRIPT</a:t>
            </a:r>
            <a:endParaRPr lang="en-US" sz="850" dirty="0"/>
          </a:p>
        </p:txBody>
      </p:sp>
      <p:sp>
        <p:nvSpPr>
          <p:cNvPr id="9" name="Text 7"/>
          <p:cNvSpPr/>
          <p:nvPr/>
        </p:nvSpPr>
        <p:spPr>
          <a:xfrm>
            <a:off x="384048" y="1956816"/>
            <a:ext cx="4901184"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Author: Kajola Gbenga Adewale | Data Expert</a:t>
            </a:r>
            <a:endParaRPr lang="en-US" sz="850" dirty="0"/>
          </a:p>
        </p:txBody>
      </p:sp>
      <p:sp>
        <p:nvSpPr>
          <p:cNvPr id="10" name="Text 8"/>
          <p:cNvSpPr/>
          <p:nvPr/>
        </p:nvSpPr>
        <p:spPr>
          <a:xfrm>
            <a:off x="384048" y="2139696"/>
            <a:ext cx="4901184"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Date: October 2025</a:t>
            </a:r>
            <a:endParaRPr lang="en-US" sz="850" dirty="0"/>
          </a:p>
        </p:txBody>
      </p:sp>
      <p:sp>
        <p:nvSpPr>
          <p:cNvPr id="11" name="Text 9"/>
          <p:cNvSpPr/>
          <p:nvPr/>
        </p:nvSpPr>
        <p:spPr>
          <a:xfrm>
            <a:off x="384048" y="2322576"/>
            <a:ext cx="4901184"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a:t>
            </a:r>
            <a:endParaRPr lang="en-US" sz="850" dirty="0"/>
          </a:p>
        </p:txBody>
      </p:sp>
      <p:sp>
        <p:nvSpPr>
          <p:cNvPr id="12" name="Text 10"/>
          <p:cNvSpPr/>
          <p:nvPr/>
        </p:nvSpPr>
        <p:spPr>
          <a:xfrm>
            <a:off x="384048" y="2505456"/>
            <a:ext cx="4901184" cy="182880"/>
          </a:xfrm>
          <a:prstGeom prst="rect">
            <a:avLst/>
          </a:prstGeom>
          <a:noFill/>
          <a:ln/>
        </p:spPr>
        <p:txBody>
          <a:bodyPr wrap="square" lIns="0" tIns="0" rIns="0" bIns="0" rtlCol="0" anchor="ctr"/>
          <a:lstStyle/>
          <a:p>
            <a:pPr indent="0" marL="0">
              <a:buNone/>
            </a:pPr>
            <a:endParaRPr lang="en-US" sz="850" dirty="0"/>
          </a:p>
        </p:txBody>
      </p:sp>
      <p:sp>
        <p:nvSpPr>
          <p:cNvPr id="13" name="Text 11"/>
          <p:cNvSpPr/>
          <p:nvPr/>
        </p:nvSpPr>
        <p:spPr>
          <a:xfrm>
            <a:off x="384048" y="2688336"/>
            <a:ext cx="4901184"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STEP 1: Open dataset.</a:t>
            </a:r>
            <a:endParaRPr lang="en-US" sz="850" dirty="0"/>
          </a:p>
        </p:txBody>
      </p:sp>
      <p:sp>
        <p:nvSpPr>
          <p:cNvPr id="14" name="Text 12"/>
          <p:cNvSpPr/>
          <p:nvPr/>
        </p:nvSpPr>
        <p:spPr>
          <a:xfrm>
            <a:off x="384048" y="2871216"/>
            <a:ext cx="4901184"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GET FILE='/data/UAC_Survey_RAW_Oct2025.sav'.</a:t>
            </a:r>
            <a:endParaRPr lang="en-US" sz="850" dirty="0"/>
          </a:p>
        </p:txBody>
      </p:sp>
      <p:sp>
        <p:nvSpPr>
          <p:cNvPr id="15" name="Text 13"/>
          <p:cNvSpPr/>
          <p:nvPr/>
        </p:nvSpPr>
        <p:spPr>
          <a:xfrm>
            <a:off x="384048" y="3054096"/>
            <a:ext cx="4901184" cy="182880"/>
          </a:xfrm>
          <a:prstGeom prst="rect">
            <a:avLst/>
          </a:prstGeom>
          <a:noFill/>
          <a:ln/>
        </p:spPr>
        <p:txBody>
          <a:bodyPr wrap="square" lIns="0" tIns="0" rIns="0" bIns="0" rtlCol="0" anchor="ctr"/>
          <a:lstStyle/>
          <a:p>
            <a:pPr indent="0" marL="0">
              <a:buNone/>
            </a:pPr>
            <a:endParaRPr lang="en-US" sz="850" dirty="0"/>
          </a:p>
        </p:txBody>
      </p:sp>
      <p:sp>
        <p:nvSpPr>
          <p:cNvPr id="16" name="Text 14"/>
          <p:cNvSpPr/>
          <p:nvPr/>
        </p:nvSpPr>
        <p:spPr>
          <a:xfrm>
            <a:off x="384048" y="3236976"/>
            <a:ext cx="4901184"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STEP 2: Check for duplicates.</a:t>
            </a:r>
            <a:endParaRPr lang="en-US" sz="850" dirty="0"/>
          </a:p>
        </p:txBody>
      </p:sp>
      <p:sp>
        <p:nvSpPr>
          <p:cNvPr id="17" name="Text 15"/>
          <p:cNvSpPr/>
          <p:nvPr/>
        </p:nvSpPr>
        <p:spPr>
          <a:xfrm>
            <a:off x="384048" y="3419856"/>
            <a:ext cx="4901184"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SORT CASES BY respondent_id.</a:t>
            </a:r>
            <a:endParaRPr lang="en-US" sz="850" dirty="0"/>
          </a:p>
        </p:txBody>
      </p:sp>
      <p:sp>
        <p:nvSpPr>
          <p:cNvPr id="18" name="Text 16"/>
          <p:cNvSpPr/>
          <p:nvPr/>
        </p:nvSpPr>
        <p:spPr>
          <a:xfrm>
            <a:off x="384048" y="3602736"/>
            <a:ext cx="4901184"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IDENTIFY DUPLICATES</a:t>
            </a:r>
            <a:endParaRPr lang="en-US" sz="850" dirty="0"/>
          </a:p>
        </p:txBody>
      </p:sp>
      <p:sp>
        <p:nvSpPr>
          <p:cNvPr id="19" name="Text 17"/>
          <p:cNvSpPr/>
          <p:nvPr/>
        </p:nvSpPr>
        <p:spPr>
          <a:xfrm>
            <a:off x="384048" y="3785616"/>
            <a:ext cx="4901184" cy="182880"/>
          </a:xfrm>
          <a:prstGeom prst="rect">
            <a:avLst/>
          </a:prstGeom>
          <a:noFill/>
          <a:ln/>
        </p:spPr>
        <p:txBody>
          <a:bodyPr wrap="square" lIns="0" tIns="0" rIns="0" bIns="0" rtlCol="0" anchor="ctr"/>
          <a:lstStyle/>
          <a:p>
            <a:pPr indent="0" marL="0">
              <a:buNone/>
            </a:pPr>
            <a:r>
              <a:rPr lang="en-US" sz="850" dirty="0">
                <a:solidFill>
                  <a:srgbClr val="9CDCFE"/>
                </a:solidFill>
                <a:latin typeface="Courier New" pitchFamily="34" charset="0"/>
                <a:ea typeface="Courier New" pitchFamily="34" charset="-122"/>
                <a:cs typeface="Courier New" pitchFamily="34" charset="-120"/>
              </a:rPr>
              <a:t>  VARIABLES=respondent_id</a:t>
            </a:r>
            <a:endParaRPr lang="en-US" sz="850" dirty="0"/>
          </a:p>
        </p:txBody>
      </p:sp>
      <p:sp>
        <p:nvSpPr>
          <p:cNvPr id="20" name="Text 18"/>
          <p:cNvSpPr/>
          <p:nvPr/>
        </p:nvSpPr>
        <p:spPr>
          <a:xfrm>
            <a:off x="384048" y="3968496"/>
            <a:ext cx="4901184" cy="182880"/>
          </a:xfrm>
          <a:prstGeom prst="rect">
            <a:avLst/>
          </a:prstGeom>
          <a:noFill/>
          <a:ln/>
        </p:spPr>
        <p:txBody>
          <a:bodyPr wrap="square" lIns="0" tIns="0" rIns="0" bIns="0" rtlCol="0" anchor="ctr"/>
          <a:lstStyle/>
          <a:p>
            <a:pPr indent="0" marL="0">
              <a:buNone/>
            </a:pPr>
            <a:r>
              <a:rPr lang="en-US" sz="850" dirty="0">
                <a:solidFill>
                  <a:srgbClr val="9CDCFE"/>
                </a:solidFill>
                <a:latin typeface="Courier New" pitchFamily="34" charset="0"/>
                <a:ea typeface="Courier New" pitchFamily="34" charset="-122"/>
                <a:cs typeface="Courier New" pitchFamily="34" charset="-120"/>
              </a:rPr>
              <a:t>  /KEEP=FIRST /INDICATOR=dup_flag.</a:t>
            </a:r>
            <a:endParaRPr lang="en-US" sz="850" dirty="0"/>
          </a:p>
        </p:txBody>
      </p:sp>
      <p:sp>
        <p:nvSpPr>
          <p:cNvPr id="21" name="Text 19"/>
          <p:cNvSpPr/>
          <p:nvPr/>
        </p:nvSpPr>
        <p:spPr>
          <a:xfrm>
            <a:off x="384048" y="4151376"/>
            <a:ext cx="4901184" cy="182880"/>
          </a:xfrm>
          <a:prstGeom prst="rect">
            <a:avLst/>
          </a:prstGeom>
          <a:noFill/>
          <a:ln/>
        </p:spPr>
        <p:txBody>
          <a:bodyPr wrap="square" lIns="0" tIns="0" rIns="0" bIns="0" rtlCol="0" anchor="ctr"/>
          <a:lstStyle/>
          <a:p>
            <a:pPr indent="0" marL="0">
              <a:buNone/>
            </a:pPr>
            <a:endParaRPr lang="en-US" sz="850" dirty="0"/>
          </a:p>
        </p:txBody>
      </p:sp>
      <p:sp>
        <p:nvSpPr>
          <p:cNvPr id="22" name="Text 20"/>
          <p:cNvSpPr/>
          <p:nvPr/>
        </p:nvSpPr>
        <p:spPr>
          <a:xfrm>
            <a:off x="384048" y="4334256"/>
            <a:ext cx="4901184"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STEP 3: Recode age into groups.</a:t>
            </a:r>
            <a:endParaRPr lang="en-US" sz="850" dirty="0"/>
          </a:p>
        </p:txBody>
      </p:sp>
      <p:sp>
        <p:nvSpPr>
          <p:cNvPr id="23" name="Text 21"/>
          <p:cNvSpPr/>
          <p:nvPr/>
        </p:nvSpPr>
        <p:spPr>
          <a:xfrm>
            <a:off x="384048" y="4517136"/>
            <a:ext cx="4901184"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RECODE age_in_years</a:t>
            </a:r>
            <a:endParaRPr lang="en-US" sz="850" dirty="0"/>
          </a:p>
        </p:txBody>
      </p:sp>
      <p:sp>
        <p:nvSpPr>
          <p:cNvPr id="24" name="Text 22"/>
          <p:cNvSpPr/>
          <p:nvPr/>
        </p:nvSpPr>
        <p:spPr>
          <a:xfrm>
            <a:off x="384048" y="4700016"/>
            <a:ext cx="4901184" cy="182880"/>
          </a:xfrm>
          <a:prstGeom prst="rect">
            <a:avLst/>
          </a:prstGeom>
          <a:noFill/>
          <a:ln/>
        </p:spPr>
        <p:txBody>
          <a:bodyPr wrap="square" lIns="0" tIns="0" rIns="0" bIns="0" rtlCol="0" anchor="ctr"/>
          <a:lstStyle/>
          <a:p>
            <a:pPr indent="0" marL="0">
              <a:buNone/>
            </a:pPr>
            <a:r>
              <a:rPr lang="en-US" sz="850" dirty="0">
                <a:solidFill>
                  <a:srgbClr val="CE9178"/>
                </a:solidFill>
                <a:latin typeface="Courier New" pitchFamily="34" charset="0"/>
                <a:ea typeface="Courier New" pitchFamily="34" charset="-122"/>
                <a:cs typeface="Courier New" pitchFamily="34" charset="-120"/>
              </a:rPr>
              <a:t>  (18 THRU 30=1)(31 THRU 45=2)</a:t>
            </a:r>
            <a:endParaRPr lang="en-US" sz="850" dirty="0"/>
          </a:p>
        </p:txBody>
      </p:sp>
      <p:sp>
        <p:nvSpPr>
          <p:cNvPr id="25" name="Text 23"/>
          <p:cNvSpPr/>
          <p:nvPr/>
        </p:nvSpPr>
        <p:spPr>
          <a:xfrm>
            <a:off x="384048" y="4882896"/>
            <a:ext cx="4901184" cy="182880"/>
          </a:xfrm>
          <a:prstGeom prst="rect">
            <a:avLst/>
          </a:prstGeom>
          <a:noFill/>
          <a:ln/>
        </p:spPr>
        <p:txBody>
          <a:bodyPr wrap="square" lIns="0" tIns="0" rIns="0" bIns="0" rtlCol="0" anchor="ctr"/>
          <a:lstStyle/>
          <a:p>
            <a:pPr indent="0" marL="0">
              <a:buNone/>
            </a:pPr>
            <a:r>
              <a:rPr lang="en-US" sz="850" dirty="0">
                <a:solidFill>
                  <a:srgbClr val="CE9178"/>
                </a:solidFill>
                <a:latin typeface="Courier New" pitchFamily="34" charset="0"/>
                <a:ea typeface="Courier New" pitchFamily="34" charset="-122"/>
                <a:cs typeface="Courier New" pitchFamily="34" charset="-120"/>
              </a:rPr>
              <a:t>  (46 THRU 60=3)(61 THRU HI=4)</a:t>
            </a:r>
            <a:endParaRPr lang="en-US" sz="850" dirty="0"/>
          </a:p>
        </p:txBody>
      </p:sp>
      <p:sp>
        <p:nvSpPr>
          <p:cNvPr id="26" name="Text 24"/>
          <p:cNvSpPr/>
          <p:nvPr/>
        </p:nvSpPr>
        <p:spPr>
          <a:xfrm>
            <a:off x="384048" y="5065776"/>
            <a:ext cx="4901184"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  INTO age_group.</a:t>
            </a:r>
            <a:endParaRPr lang="en-US" sz="850" dirty="0"/>
          </a:p>
        </p:txBody>
      </p:sp>
      <p:sp>
        <p:nvSpPr>
          <p:cNvPr id="27" name="Text 25"/>
          <p:cNvSpPr/>
          <p:nvPr/>
        </p:nvSpPr>
        <p:spPr>
          <a:xfrm>
            <a:off x="384048" y="5248656"/>
            <a:ext cx="4901184" cy="182880"/>
          </a:xfrm>
          <a:prstGeom prst="rect">
            <a:avLst/>
          </a:prstGeom>
          <a:noFill/>
          <a:ln/>
        </p:spPr>
        <p:txBody>
          <a:bodyPr wrap="square" lIns="0" tIns="0" rIns="0" bIns="0" rtlCol="0" anchor="ctr"/>
          <a:lstStyle/>
          <a:p>
            <a:pPr indent="0" marL="0">
              <a:buNone/>
            </a:pPr>
            <a:endParaRPr lang="en-US" sz="850" dirty="0"/>
          </a:p>
        </p:txBody>
      </p:sp>
      <p:sp>
        <p:nvSpPr>
          <p:cNvPr id="28" name="Text 26"/>
          <p:cNvSpPr/>
          <p:nvPr/>
        </p:nvSpPr>
        <p:spPr>
          <a:xfrm>
            <a:off x="384048" y="5431536"/>
            <a:ext cx="4901184"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STEP 4: Reverse-code Q5.</a:t>
            </a:r>
            <a:endParaRPr lang="en-US" sz="850" dirty="0"/>
          </a:p>
        </p:txBody>
      </p:sp>
      <p:sp>
        <p:nvSpPr>
          <p:cNvPr id="29" name="Text 27"/>
          <p:cNvSpPr/>
          <p:nvPr/>
        </p:nvSpPr>
        <p:spPr>
          <a:xfrm>
            <a:off x="384048" y="5614416"/>
            <a:ext cx="4901184"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RECODE q5_overpriced</a:t>
            </a:r>
            <a:endParaRPr lang="en-US" sz="850" dirty="0"/>
          </a:p>
        </p:txBody>
      </p:sp>
      <p:sp>
        <p:nvSpPr>
          <p:cNvPr id="30" name="Text 28"/>
          <p:cNvSpPr/>
          <p:nvPr/>
        </p:nvSpPr>
        <p:spPr>
          <a:xfrm>
            <a:off x="384048" y="5797296"/>
            <a:ext cx="4901184" cy="182880"/>
          </a:xfrm>
          <a:prstGeom prst="rect">
            <a:avLst/>
          </a:prstGeom>
          <a:noFill/>
          <a:ln/>
        </p:spPr>
        <p:txBody>
          <a:bodyPr wrap="square" lIns="0" tIns="0" rIns="0" bIns="0" rtlCol="0" anchor="ctr"/>
          <a:lstStyle/>
          <a:p>
            <a:pPr indent="0" marL="0">
              <a:buNone/>
            </a:pPr>
            <a:r>
              <a:rPr lang="en-US" sz="850" dirty="0">
                <a:solidFill>
                  <a:srgbClr val="CE9178"/>
                </a:solidFill>
                <a:latin typeface="Courier New" pitchFamily="34" charset="0"/>
                <a:ea typeface="Courier New" pitchFamily="34" charset="-122"/>
                <a:cs typeface="Courier New" pitchFamily="34" charset="-120"/>
              </a:rPr>
              <a:t>  (1=5)(2=4)(3=3)(4=2)(5=1) INTO q5_rev.</a:t>
            </a:r>
            <a:endParaRPr lang="en-US" sz="850" dirty="0"/>
          </a:p>
        </p:txBody>
      </p:sp>
      <p:sp>
        <p:nvSpPr>
          <p:cNvPr id="31" name="Text 29"/>
          <p:cNvSpPr/>
          <p:nvPr/>
        </p:nvSpPr>
        <p:spPr>
          <a:xfrm>
            <a:off x="384048" y="5980176"/>
            <a:ext cx="4901184" cy="182880"/>
          </a:xfrm>
          <a:prstGeom prst="rect">
            <a:avLst/>
          </a:prstGeom>
          <a:noFill/>
          <a:ln/>
        </p:spPr>
        <p:txBody>
          <a:bodyPr wrap="square" lIns="0" tIns="0" rIns="0" bIns="0" rtlCol="0" anchor="ctr"/>
          <a:lstStyle/>
          <a:p>
            <a:pPr indent="0" marL="0">
              <a:buNone/>
            </a:pPr>
            <a:endParaRPr lang="en-US" sz="850" dirty="0"/>
          </a:p>
        </p:txBody>
      </p:sp>
      <p:sp>
        <p:nvSpPr>
          <p:cNvPr id="32" name="Text 30"/>
          <p:cNvSpPr/>
          <p:nvPr/>
        </p:nvSpPr>
        <p:spPr>
          <a:xfrm>
            <a:off x="384048" y="6163056"/>
            <a:ext cx="4901184" cy="182880"/>
          </a:xfrm>
          <a:prstGeom prst="rect">
            <a:avLst/>
          </a:prstGeom>
          <a:noFill/>
          <a:ln/>
        </p:spPr>
        <p:txBody>
          <a:bodyPr wrap="square" lIns="0" tIns="0" rIns="0" bIns="0" rtlCol="0" anchor="ctr"/>
          <a:lstStyle/>
          <a:p>
            <a:pPr indent="0" marL="0">
              <a:buNone/>
            </a:pPr>
            <a:r>
              <a:rPr lang="en-US" sz="850" dirty="0">
                <a:solidFill>
                  <a:srgbClr val="6A9955"/>
                </a:solidFill>
                <a:latin typeface="Courier New" pitchFamily="34" charset="0"/>
                <a:ea typeface="Courier New" pitchFamily="34" charset="-122"/>
                <a:cs typeface="Courier New" pitchFamily="34" charset="-120"/>
              </a:rPr>
              <a:t>* STEP 5: Compute mean satisfaction.</a:t>
            </a:r>
            <a:endParaRPr lang="en-US" sz="850" dirty="0"/>
          </a:p>
        </p:txBody>
      </p:sp>
      <p:sp>
        <p:nvSpPr>
          <p:cNvPr id="33" name="Text 31"/>
          <p:cNvSpPr/>
          <p:nvPr/>
        </p:nvSpPr>
        <p:spPr>
          <a:xfrm>
            <a:off x="384048" y="6345936"/>
            <a:ext cx="4901184" cy="182880"/>
          </a:xfrm>
          <a:prstGeom prst="rect">
            <a:avLst/>
          </a:prstGeom>
          <a:noFill/>
          <a:ln/>
        </p:spPr>
        <p:txBody>
          <a:bodyPr wrap="square" lIns="0" tIns="0" rIns="0" bIns="0" rtlCol="0" anchor="ctr"/>
          <a:lstStyle/>
          <a:p>
            <a:pPr indent="0" marL="0">
              <a:buNone/>
            </a:pPr>
            <a:r>
              <a:rPr lang="en-US" sz="850" dirty="0">
                <a:solidFill>
                  <a:srgbClr val="4EC9B0"/>
                </a:solidFill>
                <a:latin typeface="Courier New" pitchFamily="34" charset="0"/>
                <a:ea typeface="Courier New" pitchFamily="34" charset="-122"/>
                <a:cs typeface="Courier New" pitchFamily="34" charset="-120"/>
              </a:rPr>
              <a:t>COMPUTE sat_mean = MEAN(q1, q2, q3, q4, q5_rev).</a:t>
            </a:r>
            <a:endParaRPr lang="en-US" sz="850" dirty="0"/>
          </a:p>
        </p:txBody>
      </p:sp>
      <p:sp>
        <p:nvSpPr>
          <p:cNvPr id="34" name="Text 32"/>
          <p:cNvSpPr/>
          <p:nvPr/>
        </p:nvSpPr>
        <p:spPr>
          <a:xfrm>
            <a:off x="384048" y="6528816"/>
            <a:ext cx="4901184" cy="182880"/>
          </a:xfrm>
          <a:prstGeom prst="rect">
            <a:avLst/>
          </a:prstGeom>
          <a:noFill/>
          <a:ln/>
        </p:spPr>
        <p:txBody>
          <a:bodyPr wrap="square" lIns="0" tIns="0" rIns="0" bIns="0" rtlCol="0" anchor="ctr"/>
          <a:lstStyle/>
          <a:p>
            <a:pPr indent="0" marL="0">
              <a:buNone/>
            </a:pPr>
            <a:r>
              <a:rPr lang="en-US" sz="850" dirty="0">
                <a:solidFill>
                  <a:srgbClr val="569CD6"/>
                </a:solidFill>
                <a:latin typeface="Courier New" pitchFamily="34" charset="0"/>
                <a:ea typeface="Courier New" pitchFamily="34" charset="-122"/>
                <a:cs typeface="Courier New" pitchFamily="34" charset="-120"/>
              </a:rPr>
              <a:t>EXECUTE.</a:t>
            </a:r>
            <a:endParaRPr lang="en-US" sz="850" dirty="0"/>
          </a:p>
        </p:txBody>
      </p:sp>
      <p:sp>
        <p:nvSpPr>
          <p:cNvPr id="35" name="Shape 33"/>
          <p:cNvSpPr/>
          <p:nvPr/>
        </p:nvSpPr>
        <p:spPr>
          <a:xfrm>
            <a:off x="5486400" y="1005840"/>
            <a:ext cx="3401568" cy="4041648"/>
          </a:xfrm>
          <a:prstGeom prst="roundRect">
            <a:avLst>
              <a:gd name="adj" fmla="val 2688"/>
            </a:avLst>
          </a:prstGeom>
          <a:solidFill>
            <a:srgbClr val="113322"/>
          </a:solidFill>
          <a:ln w="12700">
            <a:solidFill>
              <a:srgbClr val="27AE60"/>
            </a:solidFill>
            <a:prstDash val="solid"/>
          </a:ln>
        </p:spPr>
      </p:sp>
      <p:sp>
        <p:nvSpPr>
          <p:cNvPr id="36" name="Text 34"/>
          <p:cNvSpPr/>
          <p:nvPr/>
        </p:nvSpPr>
        <p:spPr>
          <a:xfrm>
            <a:off x="5596128" y="1078992"/>
            <a:ext cx="3182112" cy="347472"/>
          </a:xfrm>
          <a:prstGeom prst="rect">
            <a:avLst/>
          </a:prstGeom>
          <a:noFill/>
          <a:ln/>
        </p:spPr>
        <p:txBody>
          <a:bodyPr wrap="square" lIns="0" tIns="0" rIns="0" bIns="0" rtlCol="0" anchor="ctr"/>
          <a:lstStyle/>
          <a:p>
            <a:pPr indent="0" marL="0">
              <a:buNone/>
            </a:pPr>
            <a:r>
              <a:rPr lang="en-US" sz="1150" b="1" dirty="0">
                <a:solidFill>
                  <a:srgbClr val="F0C040"/>
                </a:solidFill>
                <a:latin typeface="Calibri" pitchFamily="34" charset="0"/>
                <a:ea typeface="Calibri" pitchFamily="34" charset="-122"/>
                <a:cs typeface="Calibri" pitchFamily="34" charset="-120"/>
              </a:rPr>
              <a:t>Why Every Data Manager Must Use Syntax</a:t>
            </a:r>
            <a:endParaRPr lang="en-US" sz="1150" dirty="0"/>
          </a:p>
        </p:txBody>
      </p:sp>
      <p:sp>
        <p:nvSpPr>
          <p:cNvPr id="37" name="Shape 35"/>
          <p:cNvSpPr/>
          <p:nvPr/>
        </p:nvSpPr>
        <p:spPr>
          <a:xfrm>
            <a:off x="5577840" y="1499616"/>
            <a:ext cx="3218688" cy="493776"/>
          </a:xfrm>
          <a:prstGeom prst="roundRect">
            <a:avLst>
              <a:gd name="adj" fmla="val 11111"/>
            </a:avLst>
          </a:prstGeom>
          <a:solidFill>
            <a:srgbClr val="0E2A1C"/>
          </a:solidFill>
          <a:ln w="6350">
            <a:solidFill>
              <a:srgbClr val="27AE60"/>
            </a:solidFill>
            <a:prstDash val="solid"/>
          </a:ln>
        </p:spPr>
      </p:sp>
      <p:sp>
        <p:nvSpPr>
          <p:cNvPr id="38" name="Text 36"/>
          <p:cNvSpPr/>
          <p:nvPr/>
        </p:nvSpPr>
        <p:spPr>
          <a:xfrm>
            <a:off x="5650992" y="1536192"/>
            <a:ext cx="3063240" cy="201168"/>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Reproducibility: </a:t>
            </a:r>
            <a:endParaRPr lang="en-US" sz="1000" dirty="0"/>
          </a:p>
        </p:txBody>
      </p:sp>
      <p:sp>
        <p:nvSpPr>
          <p:cNvPr id="39" name="Text 37"/>
          <p:cNvSpPr/>
          <p:nvPr/>
        </p:nvSpPr>
        <p:spPr>
          <a:xfrm>
            <a:off x="5650992" y="1737360"/>
            <a:ext cx="3063240" cy="21945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Any analyst can rerun your entire data cleaning pipeline on a new dataset by running a single syntax file.</a:t>
            </a:r>
            <a:endParaRPr lang="en-US" sz="850" dirty="0"/>
          </a:p>
        </p:txBody>
      </p:sp>
      <p:sp>
        <p:nvSpPr>
          <p:cNvPr id="40" name="Shape 38"/>
          <p:cNvSpPr/>
          <p:nvPr/>
        </p:nvSpPr>
        <p:spPr>
          <a:xfrm>
            <a:off x="5577840" y="2066544"/>
            <a:ext cx="3218688" cy="493776"/>
          </a:xfrm>
          <a:prstGeom prst="roundRect">
            <a:avLst>
              <a:gd name="adj" fmla="val 11111"/>
            </a:avLst>
          </a:prstGeom>
          <a:solidFill>
            <a:srgbClr val="0E2A1C"/>
          </a:solidFill>
          <a:ln w="6350">
            <a:solidFill>
              <a:srgbClr val="27AE60"/>
            </a:solidFill>
            <a:prstDash val="solid"/>
          </a:ln>
        </p:spPr>
      </p:sp>
      <p:sp>
        <p:nvSpPr>
          <p:cNvPr id="41" name="Text 39"/>
          <p:cNvSpPr/>
          <p:nvPr/>
        </p:nvSpPr>
        <p:spPr>
          <a:xfrm>
            <a:off x="5650992" y="2103120"/>
            <a:ext cx="3063240" cy="201168"/>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Auditability: </a:t>
            </a:r>
            <a:endParaRPr lang="en-US" sz="1000" dirty="0"/>
          </a:p>
        </p:txBody>
      </p:sp>
      <p:sp>
        <p:nvSpPr>
          <p:cNvPr id="42" name="Text 40"/>
          <p:cNvSpPr/>
          <p:nvPr/>
        </p:nvSpPr>
        <p:spPr>
          <a:xfrm>
            <a:off x="5650992" y="2304288"/>
            <a:ext cx="3063240" cy="21945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Your supervisor, client, or journal reviewer can verify every transformation you made. The syntax IS the audit trail.</a:t>
            </a:r>
            <a:endParaRPr lang="en-US" sz="850" dirty="0"/>
          </a:p>
        </p:txBody>
      </p:sp>
      <p:sp>
        <p:nvSpPr>
          <p:cNvPr id="43" name="Shape 41"/>
          <p:cNvSpPr/>
          <p:nvPr/>
        </p:nvSpPr>
        <p:spPr>
          <a:xfrm>
            <a:off x="5577840" y="2633472"/>
            <a:ext cx="3218688" cy="493776"/>
          </a:xfrm>
          <a:prstGeom prst="roundRect">
            <a:avLst>
              <a:gd name="adj" fmla="val 11111"/>
            </a:avLst>
          </a:prstGeom>
          <a:solidFill>
            <a:srgbClr val="0E2A1C"/>
          </a:solidFill>
          <a:ln w="6350">
            <a:solidFill>
              <a:srgbClr val="27AE60"/>
            </a:solidFill>
            <a:prstDash val="solid"/>
          </a:ln>
        </p:spPr>
      </p:sp>
      <p:sp>
        <p:nvSpPr>
          <p:cNvPr id="44" name="Text 42"/>
          <p:cNvSpPr/>
          <p:nvPr/>
        </p:nvSpPr>
        <p:spPr>
          <a:xfrm>
            <a:off x="5650992" y="2670048"/>
            <a:ext cx="3063240" cy="201168"/>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Error Detection: </a:t>
            </a:r>
            <a:endParaRPr lang="en-US" sz="1000" dirty="0"/>
          </a:p>
        </p:txBody>
      </p:sp>
      <p:sp>
        <p:nvSpPr>
          <p:cNvPr id="45" name="Text 43"/>
          <p:cNvSpPr/>
          <p:nvPr/>
        </p:nvSpPr>
        <p:spPr>
          <a:xfrm>
            <a:off x="5650992" y="2871216"/>
            <a:ext cx="3063240" cy="21945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Written syntax makes errors visible. A miscoded recode command is obvious in syntax; invisible in menu-driven workflow.</a:t>
            </a:r>
            <a:endParaRPr lang="en-US" sz="850" dirty="0"/>
          </a:p>
        </p:txBody>
      </p:sp>
      <p:sp>
        <p:nvSpPr>
          <p:cNvPr id="46" name="Shape 44"/>
          <p:cNvSpPr/>
          <p:nvPr/>
        </p:nvSpPr>
        <p:spPr>
          <a:xfrm>
            <a:off x="5577840" y="3200400"/>
            <a:ext cx="3218688" cy="493776"/>
          </a:xfrm>
          <a:prstGeom prst="roundRect">
            <a:avLst>
              <a:gd name="adj" fmla="val 11111"/>
            </a:avLst>
          </a:prstGeom>
          <a:solidFill>
            <a:srgbClr val="0E2A1C"/>
          </a:solidFill>
          <a:ln w="6350">
            <a:solidFill>
              <a:srgbClr val="27AE60"/>
            </a:solidFill>
            <a:prstDash val="solid"/>
          </a:ln>
        </p:spPr>
      </p:sp>
      <p:sp>
        <p:nvSpPr>
          <p:cNvPr id="47" name="Text 45"/>
          <p:cNvSpPr/>
          <p:nvPr/>
        </p:nvSpPr>
        <p:spPr>
          <a:xfrm>
            <a:off x="5650992" y="3236976"/>
            <a:ext cx="3063240" cy="201168"/>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Speed: </a:t>
            </a:r>
            <a:endParaRPr lang="en-US" sz="1000" dirty="0"/>
          </a:p>
        </p:txBody>
      </p:sp>
      <p:sp>
        <p:nvSpPr>
          <p:cNvPr id="48" name="Text 46"/>
          <p:cNvSpPr/>
          <p:nvPr/>
        </p:nvSpPr>
        <p:spPr>
          <a:xfrm>
            <a:off x="5650992" y="3438144"/>
            <a:ext cx="3063240" cy="21945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Apply the same cleaning process to monthly data updates by running one .sps file - no repetitive menu clicking.</a:t>
            </a:r>
            <a:endParaRPr lang="en-US" sz="850" dirty="0"/>
          </a:p>
        </p:txBody>
      </p:sp>
      <p:sp>
        <p:nvSpPr>
          <p:cNvPr id="49" name="Shape 47"/>
          <p:cNvSpPr/>
          <p:nvPr/>
        </p:nvSpPr>
        <p:spPr>
          <a:xfrm>
            <a:off x="5577840" y="3767328"/>
            <a:ext cx="3218688" cy="493776"/>
          </a:xfrm>
          <a:prstGeom prst="roundRect">
            <a:avLst>
              <a:gd name="adj" fmla="val 11111"/>
            </a:avLst>
          </a:prstGeom>
          <a:solidFill>
            <a:srgbClr val="0E2A1C"/>
          </a:solidFill>
          <a:ln w="6350">
            <a:solidFill>
              <a:srgbClr val="27AE60"/>
            </a:solidFill>
            <a:prstDash val="solid"/>
          </a:ln>
        </p:spPr>
      </p:sp>
      <p:sp>
        <p:nvSpPr>
          <p:cNvPr id="50" name="Text 48"/>
          <p:cNvSpPr/>
          <p:nvPr/>
        </p:nvSpPr>
        <p:spPr>
          <a:xfrm>
            <a:off x="5650992" y="3803904"/>
            <a:ext cx="3063240" cy="201168"/>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Documentation: </a:t>
            </a:r>
            <a:endParaRPr lang="en-US" sz="1000" dirty="0"/>
          </a:p>
        </p:txBody>
      </p:sp>
      <p:sp>
        <p:nvSpPr>
          <p:cNvPr id="51" name="Text 49"/>
          <p:cNvSpPr/>
          <p:nvPr/>
        </p:nvSpPr>
        <p:spPr>
          <a:xfrm>
            <a:off x="5650992" y="4005072"/>
            <a:ext cx="3063240" cy="21945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Header comments document the study name, analyst, date, and purpose. The script becomes a self-describing methodology record.</a:t>
            </a:r>
            <a:endParaRPr lang="en-US" sz="850" dirty="0"/>
          </a:p>
        </p:txBody>
      </p:sp>
      <p:sp>
        <p:nvSpPr>
          <p:cNvPr id="52" name="Shape 50"/>
          <p:cNvSpPr/>
          <p:nvPr/>
        </p:nvSpPr>
        <p:spPr>
          <a:xfrm>
            <a:off x="5577840" y="4334256"/>
            <a:ext cx="3218688" cy="493776"/>
          </a:xfrm>
          <a:prstGeom prst="roundRect">
            <a:avLst>
              <a:gd name="adj" fmla="val 11111"/>
            </a:avLst>
          </a:prstGeom>
          <a:solidFill>
            <a:srgbClr val="0E2A1C"/>
          </a:solidFill>
          <a:ln w="6350">
            <a:solidFill>
              <a:srgbClr val="27AE60"/>
            </a:solidFill>
            <a:prstDash val="solid"/>
          </a:ln>
        </p:spPr>
      </p:sp>
      <p:sp>
        <p:nvSpPr>
          <p:cNvPr id="53" name="Text 51"/>
          <p:cNvSpPr/>
          <p:nvPr/>
        </p:nvSpPr>
        <p:spPr>
          <a:xfrm>
            <a:off x="5650992" y="4370832"/>
            <a:ext cx="3063240" cy="201168"/>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Version Control: </a:t>
            </a:r>
            <a:endParaRPr lang="en-US" sz="1000" dirty="0"/>
          </a:p>
        </p:txBody>
      </p:sp>
      <p:sp>
        <p:nvSpPr>
          <p:cNvPr id="54" name="Text 52"/>
          <p:cNvSpPr/>
          <p:nvPr/>
        </p:nvSpPr>
        <p:spPr>
          <a:xfrm>
            <a:off x="5650992" y="4572000"/>
            <a:ext cx="3063240" cy="21945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Save syntax as v1, v2, v3 as the analysis evolves. Roll back to any earlier version if needed.</a:t>
            </a:r>
            <a:endParaRPr lang="en-US" sz="850" dirty="0"/>
          </a:p>
        </p:txBody>
      </p:sp>
      <p:sp>
        <p:nvSpPr>
          <p:cNvPr id="55" name="Shape 53"/>
          <p:cNvSpPr/>
          <p:nvPr/>
        </p:nvSpPr>
        <p:spPr>
          <a:xfrm>
            <a:off x="256032" y="5120640"/>
            <a:ext cx="8631936" cy="365760"/>
          </a:xfrm>
          <a:prstGeom prst="roundRect">
            <a:avLst>
              <a:gd name="adj" fmla="val 15000"/>
            </a:avLst>
          </a:prstGeom>
          <a:solidFill>
            <a:srgbClr val="FFFBEC"/>
          </a:solidFill>
          <a:ln w="19050">
            <a:solidFill>
              <a:srgbClr val="D4A017"/>
            </a:solidFill>
            <a:prstDash val="solid"/>
          </a:ln>
        </p:spPr>
      </p:sp>
      <p:sp>
        <p:nvSpPr>
          <p:cNvPr id="56" name="Text 54"/>
          <p:cNvSpPr/>
          <p:nvPr/>
        </p:nvSpPr>
        <p:spPr>
          <a:xfrm>
            <a:off x="384048" y="5120640"/>
            <a:ext cx="8449056" cy="365760"/>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Naming Convention: Use PASTE instead of OK in every dialog to capture syntax automatically. Then add comments to explain WHY each step was taken, not just what it does.</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E7C7B">
              <a:alpha val="16000"/>
            </a:srgbClr>
          </a:solidFill>
          <a:ln w="12700">
            <a:solidFill>
              <a:srgbClr val="0E7C7B"/>
            </a:solidFill>
            <a:prstDash val="solid"/>
          </a:ln>
        </p:spPr>
      </p:sp>
      <p:sp>
        <p:nvSpPr>
          <p:cNvPr id="3" name="Text 1"/>
          <p:cNvSpPr/>
          <p:nvPr/>
        </p:nvSpPr>
        <p:spPr>
          <a:xfrm>
            <a:off x="457200" y="201168"/>
            <a:ext cx="8229600" cy="621792"/>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Output Management - Organising and Exporting Your Results</a:t>
            </a:r>
            <a:endParaRPr lang="en-US" sz="2600" dirty="0"/>
          </a:p>
        </p:txBody>
      </p:sp>
      <p:sp>
        <p:nvSpPr>
          <p:cNvPr id="4" name="Shape 2"/>
          <p:cNvSpPr/>
          <p:nvPr/>
        </p:nvSpPr>
        <p:spPr>
          <a:xfrm>
            <a:off x="274320" y="932688"/>
            <a:ext cx="4160520" cy="1280160"/>
          </a:xfrm>
          <a:prstGeom prst="roundRect">
            <a:avLst>
              <a:gd name="adj" fmla="val 5714"/>
            </a:avLst>
          </a:prstGeom>
          <a:solidFill>
            <a:srgbClr val="0D2218"/>
          </a:solidFill>
          <a:ln w="12700">
            <a:solidFill>
              <a:srgbClr val="27AE60"/>
            </a:solidFill>
            <a:prstDash val="solid"/>
          </a:ln>
        </p:spPr>
      </p:sp>
      <p:sp>
        <p:nvSpPr>
          <p:cNvPr id="5" name="Shape 3"/>
          <p:cNvSpPr/>
          <p:nvPr/>
        </p:nvSpPr>
        <p:spPr>
          <a:xfrm>
            <a:off x="365760" y="1024128"/>
            <a:ext cx="1508760" cy="256032"/>
          </a:xfrm>
          <a:prstGeom prst="roundRect">
            <a:avLst>
              <a:gd name="adj" fmla="val 17857"/>
            </a:avLst>
          </a:prstGeom>
          <a:solidFill>
            <a:srgbClr val="27AE60"/>
          </a:solidFill>
          <a:ln w="12700">
            <a:solidFill>
              <a:srgbClr val="27AE60"/>
            </a:solidFill>
            <a:prstDash val="solid"/>
          </a:ln>
        </p:spPr>
      </p:sp>
      <p:sp>
        <p:nvSpPr>
          <p:cNvPr id="6" name="Text 4"/>
          <p:cNvSpPr/>
          <p:nvPr/>
        </p:nvSpPr>
        <p:spPr>
          <a:xfrm>
            <a:off x="365760" y="1024128"/>
            <a:ext cx="1508760" cy="256032"/>
          </a:xfrm>
          <a:prstGeom prst="rect">
            <a:avLst/>
          </a:prstGeom>
          <a:noFill/>
          <a:ln/>
        </p:spPr>
        <p:txBody>
          <a:bodyPr wrap="square" lIns="0" tIns="0" rIns="0" bIns="0" rtlCol="0" anchor="ctr"/>
          <a:lstStyle/>
          <a:p>
            <a:pPr algn="ctr" indent="0" marL="0">
              <a:buNone/>
            </a:pPr>
            <a:r>
              <a:rPr lang="en-US" sz="850" b="1" dirty="0">
                <a:solidFill>
                  <a:srgbClr val="0B2218"/>
                </a:solidFill>
                <a:latin typeface="Calibri" pitchFamily="34" charset="0"/>
                <a:ea typeface="Calibri" pitchFamily="34" charset="-122"/>
                <a:cs typeface="Calibri" pitchFamily="34" charset="-120"/>
              </a:rPr>
              <a:t>Export to Word (.docx)</a:t>
            </a:r>
            <a:endParaRPr lang="en-US" sz="850" dirty="0"/>
          </a:p>
        </p:txBody>
      </p:sp>
      <p:sp>
        <p:nvSpPr>
          <p:cNvPr id="7" name="Text 5"/>
          <p:cNvSpPr/>
          <p:nvPr/>
        </p:nvSpPr>
        <p:spPr>
          <a:xfrm>
            <a:off x="1956816" y="1024128"/>
            <a:ext cx="2377440" cy="256032"/>
          </a:xfrm>
          <a:prstGeom prst="rect">
            <a:avLst/>
          </a:prstGeom>
          <a:noFill/>
          <a:ln/>
        </p:spPr>
        <p:txBody>
          <a:bodyPr wrap="square" lIns="0" tIns="0" rIns="0" bIns="0" rtlCol="0" anchor="ctr"/>
          <a:lstStyle/>
          <a:p>
            <a:pPr indent="0" marL="0">
              <a:buNone/>
            </a:pPr>
            <a:r>
              <a:rPr lang="en-US" sz="850" i="1" dirty="0">
                <a:solidFill>
                  <a:srgbClr val="27AE60"/>
                </a:solidFill>
                <a:latin typeface="Calibri" pitchFamily="34" charset="0"/>
                <a:ea typeface="Calibri" pitchFamily="34" charset="-122"/>
                <a:cs typeface="Calibri" pitchFamily="34" charset="-120"/>
              </a:rPr>
              <a:t>File &gt; Export &gt; Word / RTF</a:t>
            </a:r>
            <a:endParaRPr lang="en-US" sz="850" dirty="0"/>
          </a:p>
        </p:txBody>
      </p:sp>
      <p:sp>
        <p:nvSpPr>
          <p:cNvPr id="8" name="Text 6"/>
          <p:cNvSpPr/>
          <p:nvPr/>
        </p:nvSpPr>
        <p:spPr>
          <a:xfrm>
            <a:off x="384048" y="1353312"/>
            <a:ext cx="3913632" cy="786384"/>
          </a:xfrm>
          <a:prstGeom prst="rect">
            <a:avLst/>
          </a:prstGeom>
          <a:noFill/>
          <a:ln/>
        </p:spPr>
        <p:txBody>
          <a:bodyPr wrap="square" lIns="0" tIns="0" rIns="0" bIns="0" rtlCol="0" anchor="ctr"/>
          <a:lstStyle/>
          <a:p>
            <a:pPr indent="0" marL="0">
              <a:buNone/>
            </a:pPr>
            <a:r>
              <a:rPr lang="en-US" sz="900" dirty="0">
                <a:solidFill>
                  <a:srgbClr val="A8D4BC"/>
                </a:solidFill>
                <a:latin typeface="Calibri" pitchFamily="34" charset="0"/>
                <a:ea typeface="Calibri" pitchFamily="34" charset="-122"/>
                <a:cs typeface="Calibri" pitchFamily="34" charset="-120"/>
              </a:rPr>
              <a:t>Most professional output format. All tables and charts embed perfectly. Double-click any embedded table in Word to edit numbers. Includes the full Output Viewer navigation structure as bookmarks.</a:t>
            </a:r>
            <a:endParaRPr lang="en-US" sz="900" dirty="0"/>
          </a:p>
        </p:txBody>
      </p:sp>
      <p:sp>
        <p:nvSpPr>
          <p:cNvPr id="9" name="Shape 7"/>
          <p:cNvSpPr/>
          <p:nvPr/>
        </p:nvSpPr>
        <p:spPr>
          <a:xfrm>
            <a:off x="4736592" y="932688"/>
            <a:ext cx="4160520" cy="1280160"/>
          </a:xfrm>
          <a:prstGeom prst="roundRect">
            <a:avLst>
              <a:gd name="adj" fmla="val 5714"/>
            </a:avLst>
          </a:prstGeom>
          <a:solidFill>
            <a:srgbClr val="0D2218"/>
          </a:solidFill>
          <a:ln w="12700">
            <a:solidFill>
              <a:srgbClr val="D4A017"/>
            </a:solidFill>
            <a:prstDash val="solid"/>
          </a:ln>
        </p:spPr>
      </p:sp>
      <p:sp>
        <p:nvSpPr>
          <p:cNvPr id="10" name="Shape 8"/>
          <p:cNvSpPr/>
          <p:nvPr/>
        </p:nvSpPr>
        <p:spPr>
          <a:xfrm>
            <a:off x="4828032" y="1024128"/>
            <a:ext cx="1508760" cy="256032"/>
          </a:xfrm>
          <a:prstGeom prst="roundRect">
            <a:avLst>
              <a:gd name="adj" fmla="val 17857"/>
            </a:avLst>
          </a:prstGeom>
          <a:solidFill>
            <a:srgbClr val="D4A017"/>
          </a:solidFill>
          <a:ln w="12700">
            <a:solidFill>
              <a:srgbClr val="D4A017"/>
            </a:solidFill>
            <a:prstDash val="solid"/>
          </a:ln>
        </p:spPr>
      </p:sp>
      <p:sp>
        <p:nvSpPr>
          <p:cNvPr id="11" name="Text 9"/>
          <p:cNvSpPr/>
          <p:nvPr/>
        </p:nvSpPr>
        <p:spPr>
          <a:xfrm>
            <a:off x="4828032" y="1024128"/>
            <a:ext cx="150876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Export to Excel (.xlsx)</a:t>
            </a:r>
            <a:endParaRPr lang="en-US" sz="850" dirty="0"/>
          </a:p>
        </p:txBody>
      </p:sp>
      <p:sp>
        <p:nvSpPr>
          <p:cNvPr id="12" name="Text 10"/>
          <p:cNvSpPr/>
          <p:nvPr/>
        </p:nvSpPr>
        <p:spPr>
          <a:xfrm>
            <a:off x="6419088" y="1024128"/>
            <a:ext cx="2377440" cy="256032"/>
          </a:xfrm>
          <a:prstGeom prst="rect">
            <a:avLst/>
          </a:prstGeom>
          <a:noFill/>
          <a:ln/>
        </p:spPr>
        <p:txBody>
          <a:bodyPr wrap="square" lIns="0" tIns="0" rIns="0" bIns="0" rtlCol="0" anchor="ctr"/>
          <a:lstStyle/>
          <a:p>
            <a:pPr indent="0" marL="0">
              <a:buNone/>
            </a:pPr>
            <a:r>
              <a:rPr lang="en-US" sz="850" i="1" dirty="0">
                <a:solidFill>
                  <a:srgbClr val="D4A017"/>
                </a:solidFill>
                <a:latin typeface="Calibri" pitchFamily="34" charset="0"/>
                <a:ea typeface="Calibri" pitchFamily="34" charset="-122"/>
                <a:cs typeface="Calibri" pitchFamily="34" charset="-120"/>
              </a:rPr>
              <a:t>File &gt; Export &gt; Excel</a:t>
            </a:r>
            <a:endParaRPr lang="en-US" sz="850" dirty="0"/>
          </a:p>
        </p:txBody>
      </p:sp>
      <p:sp>
        <p:nvSpPr>
          <p:cNvPr id="13" name="Text 11"/>
          <p:cNvSpPr/>
          <p:nvPr/>
        </p:nvSpPr>
        <p:spPr>
          <a:xfrm>
            <a:off x="4846320" y="1353312"/>
            <a:ext cx="3913632" cy="786384"/>
          </a:xfrm>
          <a:prstGeom prst="rect">
            <a:avLst/>
          </a:prstGeom>
          <a:noFill/>
          <a:ln/>
        </p:spPr>
        <p:txBody>
          <a:bodyPr wrap="square" lIns="0" tIns="0" rIns="0" bIns="0" rtlCol="0" anchor="ctr"/>
          <a:lstStyle/>
          <a:p>
            <a:pPr indent="0" marL="0">
              <a:buNone/>
            </a:pPr>
            <a:r>
              <a:rPr lang="en-US" sz="900" dirty="0">
                <a:solidFill>
                  <a:srgbClr val="A8D4BC"/>
                </a:solidFill>
                <a:latin typeface="Calibri" pitchFamily="34" charset="0"/>
                <a:ea typeface="Calibri" pitchFamily="34" charset="-122"/>
                <a:cs typeface="Calibri" pitchFamily="34" charset="-120"/>
              </a:rPr>
              <a:t>Tables become editable spreadsheet data. Useful for creating custom Excel charts or sharing with stakeholders who need editable tables. Charts export as images.</a:t>
            </a:r>
            <a:endParaRPr lang="en-US" sz="900" dirty="0"/>
          </a:p>
        </p:txBody>
      </p:sp>
      <p:sp>
        <p:nvSpPr>
          <p:cNvPr id="14" name="Shape 12"/>
          <p:cNvSpPr/>
          <p:nvPr/>
        </p:nvSpPr>
        <p:spPr>
          <a:xfrm>
            <a:off x="274320" y="2304288"/>
            <a:ext cx="4160520" cy="1280160"/>
          </a:xfrm>
          <a:prstGeom prst="roundRect">
            <a:avLst>
              <a:gd name="adj" fmla="val 5714"/>
            </a:avLst>
          </a:prstGeom>
          <a:solidFill>
            <a:srgbClr val="0D2218"/>
          </a:solidFill>
          <a:ln w="12700">
            <a:solidFill>
              <a:srgbClr val="E67E22"/>
            </a:solidFill>
            <a:prstDash val="solid"/>
          </a:ln>
        </p:spPr>
      </p:sp>
      <p:sp>
        <p:nvSpPr>
          <p:cNvPr id="15" name="Shape 13"/>
          <p:cNvSpPr/>
          <p:nvPr/>
        </p:nvSpPr>
        <p:spPr>
          <a:xfrm>
            <a:off x="365760" y="2395728"/>
            <a:ext cx="1508760" cy="256032"/>
          </a:xfrm>
          <a:prstGeom prst="roundRect">
            <a:avLst>
              <a:gd name="adj" fmla="val 17857"/>
            </a:avLst>
          </a:prstGeom>
          <a:solidFill>
            <a:srgbClr val="E67E22"/>
          </a:solidFill>
          <a:ln w="12700">
            <a:solidFill>
              <a:srgbClr val="E67E22"/>
            </a:solidFill>
            <a:prstDash val="solid"/>
          </a:ln>
        </p:spPr>
      </p:sp>
      <p:sp>
        <p:nvSpPr>
          <p:cNvPr id="16" name="Text 14"/>
          <p:cNvSpPr/>
          <p:nvPr/>
        </p:nvSpPr>
        <p:spPr>
          <a:xfrm>
            <a:off x="365760" y="2395728"/>
            <a:ext cx="150876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Export to PDF</a:t>
            </a:r>
            <a:endParaRPr lang="en-US" sz="850" dirty="0"/>
          </a:p>
        </p:txBody>
      </p:sp>
      <p:sp>
        <p:nvSpPr>
          <p:cNvPr id="17" name="Text 15"/>
          <p:cNvSpPr/>
          <p:nvPr/>
        </p:nvSpPr>
        <p:spPr>
          <a:xfrm>
            <a:off x="1956816" y="2395728"/>
            <a:ext cx="2377440" cy="256032"/>
          </a:xfrm>
          <a:prstGeom prst="rect">
            <a:avLst/>
          </a:prstGeom>
          <a:noFill/>
          <a:ln/>
        </p:spPr>
        <p:txBody>
          <a:bodyPr wrap="square" lIns="0" tIns="0" rIns="0" bIns="0" rtlCol="0" anchor="ctr"/>
          <a:lstStyle/>
          <a:p>
            <a:pPr indent="0" marL="0">
              <a:buNone/>
            </a:pPr>
            <a:r>
              <a:rPr lang="en-US" sz="850" i="1" dirty="0">
                <a:solidFill>
                  <a:srgbClr val="E67E22"/>
                </a:solidFill>
                <a:latin typeface="Calibri" pitchFamily="34" charset="0"/>
                <a:ea typeface="Calibri" pitchFamily="34" charset="-122"/>
                <a:cs typeface="Calibri" pitchFamily="34" charset="-120"/>
              </a:rPr>
              <a:t>File &gt; Export &gt; Portable Document Format</a:t>
            </a:r>
            <a:endParaRPr lang="en-US" sz="850" dirty="0"/>
          </a:p>
        </p:txBody>
      </p:sp>
      <p:sp>
        <p:nvSpPr>
          <p:cNvPr id="18" name="Text 16"/>
          <p:cNvSpPr/>
          <p:nvPr/>
        </p:nvSpPr>
        <p:spPr>
          <a:xfrm>
            <a:off x="384048" y="2724912"/>
            <a:ext cx="3913632" cy="786384"/>
          </a:xfrm>
          <a:prstGeom prst="rect">
            <a:avLst/>
          </a:prstGeom>
          <a:noFill/>
          <a:ln/>
        </p:spPr>
        <p:txBody>
          <a:bodyPr wrap="square" lIns="0" tIns="0" rIns="0" bIns="0" rtlCol="0" anchor="ctr"/>
          <a:lstStyle/>
          <a:p>
            <a:pPr indent="0" marL="0">
              <a:buNone/>
            </a:pPr>
            <a:r>
              <a:rPr lang="en-US" sz="900" dirty="0">
                <a:solidFill>
                  <a:srgbClr val="A8D4BC"/>
                </a:solidFill>
                <a:latin typeface="Calibri" pitchFamily="34" charset="0"/>
                <a:ea typeface="Calibri" pitchFamily="34" charset="-122"/>
                <a:cs typeface="Calibri" pitchFamily="34" charset="-120"/>
              </a:rPr>
              <a:t>Best for read-only sharing. Renders identically on all devices. Cannot edit tables after export. Use for final deliverables and client presentations.</a:t>
            </a:r>
            <a:endParaRPr lang="en-US" sz="900" dirty="0"/>
          </a:p>
        </p:txBody>
      </p:sp>
      <p:sp>
        <p:nvSpPr>
          <p:cNvPr id="19" name="Shape 17"/>
          <p:cNvSpPr/>
          <p:nvPr/>
        </p:nvSpPr>
        <p:spPr>
          <a:xfrm>
            <a:off x="4736592" y="2304288"/>
            <a:ext cx="4160520" cy="1280160"/>
          </a:xfrm>
          <a:prstGeom prst="roundRect">
            <a:avLst>
              <a:gd name="adj" fmla="val 5714"/>
            </a:avLst>
          </a:prstGeom>
          <a:solidFill>
            <a:srgbClr val="0D2218"/>
          </a:solidFill>
          <a:ln w="12700">
            <a:solidFill>
              <a:srgbClr val="1B5CA0"/>
            </a:solidFill>
            <a:prstDash val="solid"/>
          </a:ln>
        </p:spPr>
      </p:sp>
      <p:sp>
        <p:nvSpPr>
          <p:cNvPr id="20" name="Shape 18"/>
          <p:cNvSpPr/>
          <p:nvPr/>
        </p:nvSpPr>
        <p:spPr>
          <a:xfrm>
            <a:off x="4828032" y="2395728"/>
            <a:ext cx="1508760" cy="256032"/>
          </a:xfrm>
          <a:prstGeom prst="roundRect">
            <a:avLst>
              <a:gd name="adj" fmla="val 17857"/>
            </a:avLst>
          </a:prstGeom>
          <a:solidFill>
            <a:srgbClr val="1B5CA0"/>
          </a:solidFill>
          <a:ln w="12700">
            <a:solidFill>
              <a:srgbClr val="1B5CA0"/>
            </a:solidFill>
            <a:prstDash val="solid"/>
          </a:ln>
        </p:spPr>
      </p:sp>
      <p:sp>
        <p:nvSpPr>
          <p:cNvPr id="21" name="Text 19"/>
          <p:cNvSpPr/>
          <p:nvPr/>
        </p:nvSpPr>
        <p:spPr>
          <a:xfrm>
            <a:off x="4828032" y="2395728"/>
            <a:ext cx="150876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Save Output (.spv)</a:t>
            </a:r>
            <a:endParaRPr lang="en-US" sz="850" dirty="0"/>
          </a:p>
        </p:txBody>
      </p:sp>
      <p:sp>
        <p:nvSpPr>
          <p:cNvPr id="22" name="Text 20"/>
          <p:cNvSpPr/>
          <p:nvPr/>
        </p:nvSpPr>
        <p:spPr>
          <a:xfrm>
            <a:off x="6419088" y="2395728"/>
            <a:ext cx="2377440" cy="256032"/>
          </a:xfrm>
          <a:prstGeom prst="rect">
            <a:avLst/>
          </a:prstGeom>
          <a:noFill/>
          <a:ln/>
        </p:spPr>
        <p:txBody>
          <a:bodyPr wrap="square" lIns="0" tIns="0" rIns="0" bIns="0" rtlCol="0" anchor="ctr"/>
          <a:lstStyle/>
          <a:p>
            <a:pPr indent="0" marL="0">
              <a:buNone/>
            </a:pPr>
            <a:r>
              <a:rPr lang="en-US" sz="850" i="1" dirty="0">
                <a:solidFill>
                  <a:srgbClr val="1B5CA0"/>
                </a:solidFill>
                <a:latin typeface="Calibri" pitchFamily="34" charset="0"/>
                <a:ea typeface="Calibri" pitchFamily="34" charset="-122"/>
                <a:cs typeface="Calibri" pitchFamily="34" charset="-120"/>
              </a:rPr>
              <a:t>File &gt; Save As (in Output Viewer)</a:t>
            </a:r>
            <a:endParaRPr lang="en-US" sz="850" dirty="0"/>
          </a:p>
        </p:txBody>
      </p:sp>
      <p:sp>
        <p:nvSpPr>
          <p:cNvPr id="23" name="Text 21"/>
          <p:cNvSpPr/>
          <p:nvPr/>
        </p:nvSpPr>
        <p:spPr>
          <a:xfrm>
            <a:off x="4846320" y="2724912"/>
            <a:ext cx="3913632" cy="786384"/>
          </a:xfrm>
          <a:prstGeom prst="rect">
            <a:avLst/>
          </a:prstGeom>
          <a:noFill/>
          <a:ln/>
        </p:spPr>
        <p:txBody>
          <a:bodyPr wrap="square" lIns="0" tIns="0" rIns="0" bIns="0" rtlCol="0" anchor="ctr"/>
          <a:lstStyle/>
          <a:p>
            <a:pPr indent="0" marL="0">
              <a:buNone/>
            </a:pPr>
            <a:r>
              <a:rPr lang="en-US" sz="900" dirty="0">
                <a:solidFill>
                  <a:srgbClr val="A8D4BC"/>
                </a:solidFill>
                <a:latin typeface="Calibri" pitchFamily="34" charset="0"/>
                <a:ea typeface="Calibri" pitchFamily="34" charset="-122"/>
                <a:cs typeface="Calibri" pitchFamily="34" charset="-120"/>
              </a:rPr>
              <a:t>Preserves the interactive Output Viewer format. Allows reopening and navigating the full output tree. Required for sharing editable SPSS output with colleagues who have SPSS installed.</a:t>
            </a:r>
            <a:endParaRPr lang="en-US" sz="900" dirty="0"/>
          </a:p>
        </p:txBody>
      </p:sp>
      <p:sp>
        <p:nvSpPr>
          <p:cNvPr id="24" name="Shape 22"/>
          <p:cNvSpPr/>
          <p:nvPr/>
        </p:nvSpPr>
        <p:spPr>
          <a:xfrm>
            <a:off x="274320" y="3675888"/>
            <a:ext cx="4160520" cy="1280160"/>
          </a:xfrm>
          <a:prstGeom prst="roundRect">
            <a:avLst>
              <a:gd name="adj" fmla="val 5714"/>
            </a:avLst>
          </a:prstGeom>
          <a:solidFill>
            <a:srgbClr val="0D2218"/>
          </a:solidFill>
          <a:ln w="12700">
            <a:solidFill>
              <a:srgbClr val="0E7C7B"/>
            </a:solidFill>
            <a:prstDash val="solid"/>
          </a:ln>
        </p:spPr>
      </p:sp>
      <p:sp>
        <p:nvSpPr>
          <p:cNvPr id="25" name="Shape 23"/>
          <p:cNvSpPr/>
          <p:nvPr/>
        </p:nvSpPr>
        <p:spPr>
          <a:xfrm>
            <a:off x="365760" y="3767328"/>
            <a:ext cx="1508760" cy="256032"/>
          </a:xfrm>
          <a:prstGeom prst="roundRect">
            <a:avLst>
              <a:gd name="adj" fmla="val 17857"/>
            </a:avLst>
          </a:prstGeom>
          <a:solidFill>
            <a:srgbClr val="0E7C7B"/>
          </a:solidFill>
          <a:ln w="12700">
            <a:solidFill>
              <a:srgbClr val="0E7C7B"/>
            </a:solidFill>
            <a:prstDash val="solid"/>
          </a:ln>
        </p:spPr>
      </p:sp>
      <p:sp>
        <p:nvSpPr>
          <p:cNvPr id="26" name="Text 24"/>
          <p:cNvSpPr/>
          <p:nvPr/>
        </p:nvSpPr>
        <p:spPr>
          <a:xfrm>
            <a:off x="365760" y="3767328"/>
            <a:ext cx="150876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Edit a Table</a:t>
            </a:r>
            <a:endParaRPr lang="en-US" sz="850" dirty="0"/>
          </a:p>
        </p:txBody>
      </p:sp>
      <p:sp>
        <p:nvSpPr>
          <p:cNvPr id="27" name="Text 25"/>
          <p:cNvSpPr/>
          <p:nvPr/>
        </p:nvSpPr>
        <p:spPr>
          <a:xfrm>
            <a:off x="1956816" y="3767328"/>
            <a:ext cx="2377440" cy="256032"/>
          </a:xfrm>
          <a:prstGeom prst="rect">
            <a:avLst/>
          </a:prstGeom>
          <a:noFill/>
          <a:ln/>
        </p:spPr>
        <p:txBody>
          <a:bodyPr wrap="square" lIns="0" tIns="0" rIns="0" bIns="0" rtlCol="0" anchor="ctr"/>
          <a:lstStyle/>
          <a:p>
            <a:pPr indent="0" marL="0">
              <a:buNone/>
            </a:pPr>
            <a:r>
              <a:rPr lang="en-US" sz="850" i="1" dirty="0">
                <a:solidFill>
                  <a:srgbClr val="0E7C7B"/>
                </a:solidFill>
                <a:latin typeface="Calibri" pitchFamily="34" charset="0"/>
                <a:ea typeface="Calibri" pitchFamily="34" charset="-122"/>
                <a:cs typeface="Calibri" pitchFamily="34" charset="-120"/>
              </a:rPr>
              <a:t>Double-click any table in Output Viewer</a:t>
            </a:r>
            <a:endParaRPr lang="en-US" sz="850" dirty="0"/>
          </a:p>
        </p:txBody>
      </p:sp>
      <p:sp>
        <p:nvSpPr>
          <p:cNvPr id="28" name="Text 26"/>
          <p:cNvSpPr/>
          <p:nvPr/>
        </p:nvSpPr>
        <p:spPr>
          <a:xfrm>
            <a:off x="384048" y="4096512"/>
            <a:ext cx="3913632" cy="786384"/>
          </a:xfrm>
          <a:prstGeom prst="rect">
            <a:avLst/>
          </a:prstGeom>
          <a:noFill/>
          <a:ln/>
        </p:spPr>
        <p:txBody>
          <a:bodyPr wrap="square" lIns="0" tIns="0" rIns="0" bIns="0" rtlCol="0" anchor="ctr"/>
          <a:lstStyle/>
          <a:p>
            <a:pPr indent="0" marL="0">
              <a:buNone/>
            </a:pPr>
            <a:r>
              <a:rPr lang="en-US" sz="900" dirty="0">
                <a:solidFill>
                  <a:srgbClr val="A8D4BC"/>
                </a:solidFill>
                <a:latin typeface="Calibri" pitchFamily="34" charset="0"/>
                <a:ea typeface="Calibri" pitchFamily="34" charset="-122"/>
                <a:cs typeface="Calibri" pitchFamily="34" charset="-120"/>
              </a:rPr>
              <a:t>Opens Pivot Table Editor. Change: number format (decimal places), font, background colour, borders. Right-click any cell for options. Use Format &gt; Cell Properties for precise control.</a:t>
            </a:r>
            <a:endParaRPr lang="en-US" sz="900" dirty="0"/>
          </a:p>
        </p:txBody>
      </p:sp>
      <p:sp>
        <p:nvSpPr>
          <p:cNvPr id="29" name="Shape 27"/>
          <p:cNvSpPr/>
          <p:nvPr/>
        </p:nvSpPr>
        <p:spPr>
          <a:xfrm>
            <a:off x="4736592" y="3675888"/>
            <a:ext cx="4160520" cy="1280160"/>
          </a:xfrm>
          <a:prstGeom prst="roundRect">
            <a:avLst>
              <a:gd name="adj" fmla="val 5714"/>
            </a:avLst>
          </a:prstGeom>
          <a:solidFill>
            <a:srgbClr val="0D2218"/>
          </a:solidFill>
          <a:ln w="12700">
            <a:solidFill>
              <a:srgbClr val="5B2D8E"/>
            </a:solidFill>
            <a:prstDash val="solid"/>
          </a:ln>
        </p:spPr>
      </p:sp>
      <p:sp>
        <p:nvSpPr>
          <p:cNvPr id="30" name="Shape 28"/>
          <p:cNvSpPr/>
          <p:nvPr/>
        </p:nvSpPr>
        <p:spPr>
          <a:xfrm>
            <a:off x="4828032" y="3767328"/>
            <a:ext cx="1508760" cy="256032"/>
          </a:xfrm>
          <a:prstGeom prst="roundRect">
            <a:avLst>
              <a:gd name="adj" fmla="val 17857"/>
            </a:avLst>
          </a:prstGeom>
          <a:solidFill>
            <a:srgbClr val="5B2D8E"/>
          </a:solidFill>
          <a:ln w="12700">
            <a:solidFill>
              <a:srgbClr val="5B2D8E"/>
            </a:solidFill>
            <a:prstDash val="solid"/>
          </a:ln>
        </p:spPr>
      </p:sp>
      <p:sp>
        <p:nvSpPr>
          <p:cNvPr id="31" name="Text 29"/>
          <p:cNvSpPr/>
          <p:nvPr/>
        </p:nvSpPr>
        <p:spPr>
          <a:xfrm>
            <a:off x="4828032" y="3767328"/>
            <a:ext cx="150876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Export Single Object</a:t>
            </a:r>
            <a:endParaRPr lang="en-US" sz="850" dirty="0"/>
          </a:p>
        </p:txBody>
      </p:sp>
      <p:sp>
        <p:nvSpPr>
          <p:cNvPr id="32" name="Text 30"/>
          <p:cNvSpPr/>
          <p:nvPr/>
        </p:nvSpPr>
        <p:spPr>
          <a:xfrm>
            <a:off x="6419088" y="3767328"/>
            <a:ext cx="2377440" cy="256032"/>
          </a:xfrm>
          <a:prstGeom prst="rect">
            <a:avLst/>
          </a:prstGeom>
          <a:noFill/>
          <a:ln/>
        </p:spPr>
        <p:txBody>
          <a:bodyPr wrap="square" lIns="0" tIns="0" rIns="0" bIns="0" rtlCol="0" anchor="ctr"/>
          <a:lstStyle/>
          <a:p>
            <a:pPr indent="0" marL="0">
              <a:buNone/>
            </a:pPr>
            <a:r>
              <a:rPr lang="en-US" sz="850" i="1" dirty="0">
                <a:solidFill>
                  <a:srgbClr val="5B2D8E"/>
                </a:solidFill>
                <a:latin typeface="Calibri" pitchFamily="34" charset="0"/>
                <a:ea typeface="Calibri" pitchFamily="34" charset="-122"/>
                <a:cs typeface="Calibri" pitchFamily="34" charset="-120"/>
              </a:rPr>
              <a:t>Right-click in Outline pane &gt; Export</a:t>
            </a:r>
            <a:endParaRPr lang="en-US" sz="850" dirty="0"/>
          </a:p>
        </p:txBody>
      </p:sp>
      <p:sp>
        <p:nvSpPr>
          <p:cNvPr id="33" name="Text 31"/>
          <p:cNvSpPr/>
          <p:nvPr/>
        </p:nvSpPr>
        <p:spPr>
          <a:xfrm>
            <a:off x="4846320" y="4096512"/>
            <a:ext cx="3913632" cy="786384"/>
          </a:xfrm>
          <a:prstGeom prst="rect">
            <a:avLst/>
          </a:prstGeom>
          <a:noFill/>
          <a:ln/>
        </p:spPr>
        <p:txBody>
          <a:bodyPr wrap="square" lIns="0" tIns="0" rIns="0" bIns="0" rtlCol="0" anchor="ctr"/>
          <a:lstStyle/>
          <a:p>
            <a:pPr indent="0" marL="0">
              <a:buNone/>
            </a:pPr>
            <a:r>
              <a:rPr lang="en-US" sz="900" dirty="0">
                <a:solidFill>
                  <a:srgbClr val="A8D4BC"/>
                </a:solidFill>
                <a:latin typeface="Calibri" pitchFamily="34" charset="0"/>
                <a:ea typeface="Calibri" pitchFamily="34" charset="-122"/>
                <a:cs typeface="Calibri" pitchFamily="34" charset="-120"/>
              </a:rPr>
              <a:t>Export just ONE table or chart without the entire output file. Right-click the object in the left navigation panel and select Export. Choose format. Essential for inserting specific tables into reports.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A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6B3C"/>
          </a:solidFill>
          <a:ln w="12700">
            <a:solidFill>
              <a:srgbClr val="1A6B3C"/>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Module 2 Comprehensive Practice Exercise - UAC Foods Data Management</a:t>
            </a:r>
            <a:endParaRPr lang="en-US" sz="2100" dirty="0"/>
          </a:p>
        </p:txBody>
      </p:sp>
      <p:sp>
        <p:nvSpPr>
          <p:cNvPr id="4" name="Shape 2"/>
          <p:cNvSpPr/>
          <p:nvPr/>
        </p:nvSpPr>
        <p:spPr>
          <a:xfrm>
            <a:off x="256032" y="1024128"/>
            <a:ext cx="8631936" cy="932688"/>
          </a:xfrm>
          <a:prstGeom prst="roundRect">
            <a:avLst>
              <a:gd name="adj" fmla="val 8824"/>
            </a:avLst>
          </a:prstGeom>
          <a:solidFill>
            <a:srgbClr val="113322"/>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78992"/>
            <a:ext cx="1143000" cy="256032"/>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SCENARIO:</a:t>
            </a:r>
            <a:endParaRPr lang="en-US" sz="1100" dirty="0"/>
          </a:p>
        </p:txBody>
      </p:sp>
      <p:sp>
        <p:nvSpPr>
          <p:cNvPr id="6" name="Text 4"/>
          <p:cNvSpPr/>
          <p:nvPr/>
        </p:nvSpPr>
        <p:spPr>
          <a:xfrm>
            <a:off x="384048" y="1353312"/>
            <a:ext cx="8229600" cy="5303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You have received an Excel file (UAC_Survey_Raw.xlsx) containing responses from 450 UAC Foods consumers across Lagos and Abuja collected in two batches. The file has not been quality-checked. Complete all 8 tasks below to prepare the dataset for Module 3 analysis.</a:t>
            </a:r>
            <a:endParaRPr lang="en-US" sz="1050" dirty="0"/>
          </a:p>
        </p:txBody>
      </p:sp>
      <p:sp>
        <p:nvSpPr>
          <p:cNvPr id="7" name="Shape 5"/>
          <p:cNvSpPr/>
          <p:nvPr/>
        </p:nvSpPr>
        <p:spPr>
          <a:xfrm>
            <a:off x="201168" y="2048256"/>
            <a:ext cx="2121408" cy="1389888"/>
          </a:xfrm>
          <a:prstGeom prst="roundRect">
            <a:avLst>
              <a:gd name="adj" fmla="val 4605"/>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8" name="Shape 6"/>
          <p:cNvSpPr/>
          <p:nvPr/>
        </p:nvSpPr>
        <p:spPr>
          <a:xfrm>
            <a:off x="292608" y="2121408"/>
            <a:ext cx="365760" cy="365760"/>
          </a:xfrm>
          <a:prstGeom prst="ellipse">
            <a:avLst/>
          </a:prstGeom>
          <a:solidFill>
            <a:srgbClr val="1A6B3C"/>
          </a:solidFill>
          <a:ln w="12700">
            <a:solidFill>
              <a:srgbClr val="1A6B3C"/>
            </a:solidFill>
            <a:prstDash val="solid"/>
          </a:ln>
        </p:spPr>
      </p:sp>
      <p:sp>
        <p:nvSpPr>
          <p:cNvPr id="9" name="Text 7"/>
          <p:cNvSpPr/>
          <p:nvPr/>
        </p:nvSpPr>
        <p:spPr>
          <a:xfrm>
            <a:off x="292608" y="21214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0" name="Text 8"/>
          <p:cNvSpPr/>
          <p:nvPr/>
        </p:nvSpPr>
        <p:spPr>
          <a:xfrm>
            <a:off x="731520" y="2139696"/>
            <a:ext cx="1517904" cy="329184"/>
          </a:xfrm>
          <a:prstGeom prst="rect">
            <a:avLst/>
          </a:prstGeom>
          <a:noFill/>
          <a:ln/>
        </p:spPr>
        <p:txBody>
          <a:bodyPr wrap="square" lIns="0" tIns="0" rIns="0" bIns="0" rtlCol="0" anchor="ctr"/>
          <a:lstStyle/>
          <a:p>
            <a:pPr indent="0" marL="0">
              <a:buNone/>
            </a:pPr>
            <a:r>
              <a:rPr lang="en-US" sz="950" b="1" dirty="0">
                <a:solidFill>
                  <a:srgbClr val="0B2218"/>
                </a:solidFill>
                <a:latin typeface="Calibri" pitchFamily="34" charset="0"/>
                <a:ea typeface="Calibri" pitchFamily="34" charset="-122"/>
                <a:cs typeface="Calibri" pitchFamily="34" charset="-120"/>
              </a:rPr>
              <a:t>Import and Define Variables</a:t>
            </a:r>
            <a:endParaRPr lang="en-US" sz="950" dirty="0"/>
          </a:p>
        </p:txBody>
      </p:sp>
      <p:sp>
        <p:nvSpPr>
          <p:cNvPr id="11" name="Text 9"/>
          <p:cNvSpPr/>
          <p:nvPr/>
        </p:nvSpPr>
        <p:spPr>
          <a:xfrm>
            <a:off x="292608" y="2542032"/>
            <a:ext cx="1938528" cy="84124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Import UAC_Survey_Raw.xlsx into SPSS. Complete Variable View for all 12 variables: Name, Label, Values, Missing (99), and Measure. Set all Likert items to Ordinal, all scale measures to Scale.</a:t>
            </a:r>
            <a:endParaRPr lang="en-US" sz="800" dirty="0"/>
          </a:p>
        </p:txBody>
      </p:sp>
      <p:sp>
        <p:nvSpPr>
          <p:cNvPr id="12" name="Shape 10"/>
          <p:cNvSpPr/>
          <p:nvPr/>
        </p:nvSpPr>
        <p:spPr>
          <a:xfrm>
            <a:off x="2432304" y="2048256"/>
            <a:ext cx="2121408" cy="1389888"/>
          </a:xfrm>
          <a:prstGeom prst="roundRect">
            <a:avLst>
              <a:gd name="adj" fmla="val 4605"/>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3" name="Shape 11"/>
          <p:cNvSpPr/>
          <p:nvPr/>
        </p:nvSpPr>
        <p:spPr>
          <a:xfrm>
            <a:off x="2523744" y="2121408"/>
            <a:ext cx="365760" cy="365760"/>
          </a:xfrm>
          <a:prstGeom prst="ellipse">
            <a:avLst/>
          </a:prstGeom>
          <a:solidFill>
            <a:srgbClr val="0E7C7B"/>
          </a:solidFill>
          <a:ln w="12700">
            <a:solidFill>
              <a:srgbClr val="0E7C7B"/>
            </a:solidFill>
            <a:prstDash val="solid"/>
          </a:ln>
        </p:spPr>
      </p:sp>
      <p:sp>
        <p:nvSpPr>
          <p:cNvPr id="14" name="Text 12"/>
          <p:cNvSpPr/>
          <p:nvPr/>
        </p:nvSpPr>
        <p:spPr>
          <a:xfrm>
            <a:off x="2523744" y="21214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5" name="Text 13"/>
          <p:cNvSpPr/>
          <p:nvPr/>
        </p:nvSpPr>
        <p:spPr>
          <a:xfrm>
            <a:off x="2962656" y="2139696"/>
            <a:ext cx="1517904" cy="329184"/>
          </a:xfrm>
          <a:prstGeom prst="rect">
            <a:avLst/>
          </a:prstGeom>
          <a:noFill/>
          <a:ln/>
        </p:spPr>
        <p:txBody>
          <a:bodyPr wrap="square" lIns="0" tIns="0" rIns="0" bIns="0" rtlCol="0" anchor="ctr"/>
          <a:lstStyle/>
          <a:p>
            <a:pPr indent="0" marL="0">
              <a:buNone/>
            </a:pPr>
            <a:r>
              <a:rPr lang="en-US" sz="950" b="1" dirty="0">
                <a:solidFill>
                  <a:srgbClr val="0B2218"/>
                </a:solidFill>
                <a:latin typeface="Calibri" pitchFamily="34" charset="0"/>
                <a:ea typeface="Calibri" pitchFamily="34" charset="-122"/>
                <a:cs typeface="Calibri" pitchFamily="34" charset="-120"/>
              </a:rPr>
              <a:t>Validate Data Quality</a:t>
            </a:r>
            <a:endParaRPr lang="en-US" sz="950" dirty="0"/>
          </a:p>
        </p:txBody>
      </p:sp>
      <p:sp>
        <p:nvSpPr>
          <p:cNvPr id="16" name="Text 14"/>
          <p:cNvSpPr/>
          <p:nvPr/>
        </p:nvSpPr>
        <p:spPr>
          <a:xfrm>
            <a:off x="2523744" y="2542032"/>
            <a:ext cx="1938528" cy="84124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Run Frequencies on gender, education, uac_product_pref. Check for out-of-range codes. Run Descriptives on age_in_years and monthly_salary_ngn. Report any validation issues found.</a:t>
            </a:r>
            <a:endParaRPr lang="en-US" sz="800" dirty="0"/>
          </a:p>
        </p:txBody>
      </p:sp>
      <p:sp>
        <p:nvSpPr>
          <p:cNvPr id="17" name="Shape 15"/>
          <p:cNvSpPr/>
          <p:nvPr/>
        </p:nvSpPr>
        <p:spPr>
          <a:xfrm>
            <a:off x="4663440" y="2048256"/>
            <a:ext cx="2121408" cy="1389888"/>
          </a:xfrm>
          <a:prstGeom prst="roundRect">
            <a:avLst>
              <a:gd name="adj" fmla="val 4605"/>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8" name="Shape 16"/>
          <p:cNvSpPr/>
          <p:nvPr/>
        </p:nvSpPr>
        <p:spPr>
          <a:xfrm>
            <a:off x="4754880" y="2121408"/>
            <a:ext cx="365760" cy="365760"/>
          </a:xfrm>
          <a:prstGeom prst="ellipse">
            <a:avLst/>
          </a:prstGeom>
          <a:solidFill>
            <a:srgbClr val="1B5CA0"/>
          </a:solidFill>
          <a:ln w="12700">
            <a:solidFill>
              <a:srgbClr val="1B5CA0"/>
            </a:solidFill>
            <a:prstDash val="solid"/>
          </a:ln>
        </p:spPr>
      </p:sp>
      <p:sp>
        <p:nvSpPr>
          <p:cNvPr id="19" name="Text 17"/>
          <p:cNvSpPr/>
          <p:nvPr/>
        </p:nvSpPr>
        <p:spPr>
          <a:xfrm>
            <a:off x="4754880" y="21214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0" name="Text 18"/>
          <p:cNvSpPr/>
          <p:nvPr/>
        </p:nvSpPr>
        <p:spPr>
          <a:xfrm>
            <a:off x="5193792" y="2139696"/>
            <a:ext cx="1517904" cy="329184"/>
          </a:xfrm>
          <a:prstGeom prst="rect">
            <a:avLst/>
          </a:prstGeom>
          <a:noFill/>
          <a:ln/>
        </p:spPr>
        <p:txBody>
          <a:bodyPr wrap="square" lIns="0" tIns="0" rIns="0" bIns="0" rtlCol="0" anchor="ctr"/>
          <a:lstStyle/>
          <a:p>
            <a:pPr indent="0" marL="0">
              <a:buNone/>
            </a:pPr>
            <a:r>
              <a:rPr lang="en-US" sz="950" b="1" dirty="0">
                <a:solidFill>
                  <a:srgbClr val="0B2218"/>
                </a:solidFill>
                <a:latin typeface="Calibri" pitchFamily="34" charset="0"/>
                <a:ea typeface="Calibri" pitchFamily="34" charset="-122"/>
                <a:cs typeface="Calibri" pitchFamily="34" charset="-120"/>
              </a:rPr>
              <a:t>Identify and Handle Duplicates</a:t>
            </a:r>
            <a:endParaRPr lang="en-US" sz="950" dirty="0"/>
          </a:p>
        </p:txBody>
      </p:sp>
      <p:sp>
        <p:nvSpPr>
          <p:cNvPr id="21" name="Text 19"/>
          <p:cNvSpPr/>
          <p:nvPr/>
        </p:nvSpPr>
        <p:spPr>
          <a:xfrm>
            <a:off x="4754880" y="2542032"/>
            <a:ext cx="1938528" cy="84124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Use Data &gt; Identify Duplicate Cases with respondent_id as key. How many duplicates exist? Keep only the first occurrence. How many valid cases remain after removing duplicates?</a:t>
            </a:r>
            <a:endParaRPr lang="en-US" sz="800" dirty="0"/>
          </a:p>
        </p:txBody>
      </p:sp>
      <p:sp>
        <p:nvSpPr>
          <p:cNvPr id="22" name="Shape 20"/>
          <p:cNvSpPr/>
          <p:nvPr/>
        </p:nvSpPr>
        <p:spPr>
          <a:xfrm>
            <a:off x="6894576" y="2048256"/>
            <a:ext cx="2121408" cy="1389888"/>
          </a:xfrm>
          <a:prstGeom prst="roundRect">
            <a:avLst>
              <a:gd name="adj" fmla="val 4605"/>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6986016" y="2121408"/>
            <a:ext cx="365760" cy="365760"/>
          </a:xfrm>
          <a:prstGeom prst="ellipse">
            <a:avLst/>
          </a:prstGeom>
          <a:solidFill>
            <a:srgbClr val="E67E22"/>
          </a:solidFill>
          <a:ln w="12700">
            <a:solidFill>
              <a:srgbClr val="E67E22"/>
            </a:solidFill>
            <a:prstDash val="solid"/>
          </a:ln>
        </p:spPr>
      </p:sp>
      <p:sp>
        <p:nvSpPr>
          <p:cNvPr id="24" name="Text 22"/>
          <p:cNvSpPr/>
          <p:nvPr/>
        </p:nvSpPr>
        <p:spPr>
          <a:xfrm>
            <a:off x="6986016" y="21214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5" name="Text 23"/>
          <p:cNvSpPr/>
          <p:nvPr/>
        </p:nvSpPr>
        <p:spPr>
          <a:xfrm>
            <a:off x="7424928" y="2139696"/>
            <a:ext cx="1517904" cy="329184"/>
          </a:xfrm>
          <a:prstGeom prst="rect">
            <a:avLst/>
          </a:prstGeom>
          <a:noFill/>
          <a:ln/>
        </p:spPr>
        <p:txBody>
          <a:bodyPr wrap="square" lIns="0" tIns="0" rIns="0" bIns="0" rtlCol="0" anchor="ctr"/>
          <a:lstStyle/>
          <a:p>
            <a:pPr indent="0" marL="0">
              <a:buNone/>
            </a:pPr>
            <a:r>
              <a:rPr lang="en-US" sz="950" b="1" dirty="0">
                <a:solidFill>
                  <a:srgbClr val="0B2218"/>
                </a:solidFill>
                <a:latin typeface="Calibri" pitchFamily="34" charset="0"/>
                <a:ea typeface="Calibri" pitchFamily="34" charset="-122"/>
                <a:cs typeface="Calibri" pitchFamily="34" charset="-120"/>
              </a:rPr>
              <a:t>Recode Age and Reverse-Code Q5</a:t>
            </a:r>
            <a:endParaRPr lang="en-US" sz="950" dirty="0"/>
          </a:p>
        </p:txBody>
      </p:sp>
      <p:sp>
        <p:nvSpPr>
          <p:cNvPr id="26" name="Text 24"/>
          <p:cNvSpPr/>
          <p:nvPr/>
        </p:nvSpPr>
        <p:spPr>
          <a:xfrm>
            <a:off x="6986016" y="2542032"/>
            <a:ext cx="1938528" cy="84124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Recode age_in_years into age_group (1=18-30, 2=31-45, 3=46-60, 4=61+). Set labels and Measure = Ordinal. Recode q5_overpriced (1-5 scale) into q5_rev with reversed direction (1-&gt;5, 5-&gt;1).</a:t>
            </a:r>
            <a:endParaRPr lang="en-US" sz="800" dirty="0"/>
          </a:p>
        </p:txBody>
      </p:sp>
      <p:sp>
        <p:nvSpPr>
          <p:cNvPr id="27" name="Shape 25"/>
          <p:cNvSpPr/>
          <p:nvPr/>
        </p:nvSpPr>
        <p:spPr>
          <a:xfrm>
            <a:off x="201168" y="3529584"/>
            <a:ext cx="2121408" cy="1389888"/>
          </a:xfrm>
          <a:prstGeom prst="roundRect">
            <a:avLst>
              <a:gd name="adj" fmla="val 4605"/>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8" name="Shape 26"/>
          <p:cNvSpPr/>
          <p:nvPr/>
        </p:nvSpPr>
        <p:spPr>
          <a:xfrm>
            <a:off x="292608" y="3602736"/>
            <a:ext cx="365760" cy="365760"/>
          </a:xfrm>
          <a:prstGeom prst="ellipse">
            <a:avLst/>
          </a:prstGeom>
          <a:solidFill>
            <a:srgbClr val="5B2D8E"/>
          </a:solidFill>
          <a:ln w="12700">
            <a:solidFill>
              <a:srgbClr val="5B2D8E"/>
            </a:solidFill>
            <a:prstDash val="solid"/>
          </a:ln>
        </p:spPr>
      </p:sp>
      <p:sp>
        <p:nvSpPr>
          <p:cNvPr id="29" name="Text 27"/>
          <p:cNvSpPr/>
          <p:nvPr/>
        </p:nvSpPr>
        <p:spPr>
          <a:xfrm>
            <a:off x="292608" y="36027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a:t>
            </a:r>
            <a:endParaRPr lang="en-US" sz="1200" dirty="0"/>
          </a:p>
        </p:txBody>
      </p:sp>
      <p:sp>
        <p:nvSpPr>
          <p:cNvPr id="30" name="Text 28"/>
          <p:cNvSpPr/>
          <p:nvPr/>
        </p:nvSpPr>
        <p:spPr>
          <a:xfrm>
            <a:off x="731520" y="3621024"/>
            <a:ext cx="1517904" cy="329184"/>
          </a:xfrm>
          <a:prstGeom prst="rect">
            <a:avLst/>
          </a:prstGeom>
          <a:noFill/>
          <a:ln/>
        </p:spPr>
        <p:txBody>
          <a:bodyPr wrap="square" lIns="0" tIns="0" rIns="0" bIns="0" rtlCol="0" anchor="ctr"/>
          <a:lstStyle/>
          <a:p>
            <a:pPr indent="0" marL="0">
              <a:buNone/>
            </a:pPr>
            <a:r>
              <a:rPr lang="en-US" sz="950" b="1" dirty="0">
                <a:solidFill>
                  <a:srgbClr val="0B2218"/>
                </a:solidFill>
                <a:latin typeface="Calibri" pitchFamily="34" charset="0"/>
                <a:ea typeface="Calibri" pitchFamily="34" charset="-122"/>
                <a:cs typeface="Calibri" pitchFamily="34" charset="-120"/>
              </a:rPr>
              <a:t>Compute Satisfaction Score</a:t>
            </a:r>
            <a:endParaRPr lang="en-US" sz="950" dirty="0"/>
          </a:p>
        </p:txBody>
      </p:sp>
      <p:sp>
        <p:nvSpPr>
          <p:cNvPr id="31" name="Text 29"/>
          <p:cNvSpPr/>
          <p:nvPr/>
        </p:nvSpPr>
        <p:spPr>
          <a:xfrm>
            <a:off x="292608" y="4023360"/>
            <a:ext cx="1938528" cy="84124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Compute sat_mean = MEAN(q1_quality, q2_packaging, q3_value, q4_availability, q5_rev). Add label: 'Mean Consumer Satisfaction Score (1-5)'. Set Measure = Scale. Run Descriptives on sat_mean.</a:t>
            </a:r>
            <a:endParaRPr lang="en-US" sz="800" dirty="0"/>
          </a:p>
        </p:txBody>
      </p:sp>
      <p:sp>
        <p:nvSpPr>
          <p:cNvPr id="32" name="Shape 30"/>
          <p:cNvSpPr/>
          <p:nvPr/>
        </p:nvSpPr>
        <p:spPr>
          <a:xfrm>
            <a:off x="2432304" y="3529584"/>
            <a:ext cx="2121408" cy="1389888"/>
          </a:xfrm>
          <a:prstGeom prst="roundRect">
            <a:avLst>
              <a:gd name="adj" fmla="val 4605"/>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33" name="Shape 31"/>
          <p:cNvSpPr/>
          <p:nvPr/>
        </p:nvSpPr>
        <p:spPr>
          <a:xfrm>
            <a:off x="2523744" y="3602736"/>
            <a:ext cx="365760" cy="365760"/>
          </a:xfrm>
          <a:prstGeom prst="ellipse">
            <a:avLst/>
          </a:prstGeom>
          <a:solidFill>
            <a:srgbClr val="C0392B"/>
          </a:solidFill>
          <a:ln w="12700">
            <a:solidFill>
              <a:srgbClr val="C0392B"/>
            </a:solidFill>
            <a:prstDash val="solid"/>
          </a:ln>
        </p:spPr>
      </p:sp>
      <p:sp>
        <p:nvSpPr>
          <p:cNvPr id="34" name="Text 32"/>
          <p:cNvSpPr/>
          <p:nvPr/>
        </p:nvSpPr>
        <p:spPr>
          <a:xfrm>
            <a:off x="2523744" y="36027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a:t>
            </a:r>
            <a:endParaRPr lang="en-US" sz="1200" dirty="0"/>
          </a:p>
        </p:txBody>
      </p:sp>
      <p:sp>
        <p:nvSpPr>
          <p:cNvPr id="35" name="Text 33"/>
          <p:cNvSpPr/>
          <p:nvPr/>
        </p:nvSpPr>
        <p:spPr>
          <a:xfrm>
            <a:off x="2962656" y="3621024"/>
            <a:ext cx="1517904" cy="329184"/>
          </a:xfrm>
          <a:prstGeom prst="rect">
            <a:avLst/>
          </a:prstGeom>
          <a:noFill/>
          <a:ln/>
        </p:spPr>
        <p:txBody>
          <a:bodyPr wrap="square" lIns="0" tIns="0" rIns="0" bIns="0" rtlCol="0" anchor="ctr"/>
          <a:lstStyle/>
          <a:p>
            <a:pPr indent="0" marL="0">
              <a:buNone/>
            </a:pPr>
            <a:r>
              <a:rPr lang="en-US" sz="950" b="1" dirty="0">
                <a:solidFill>
                  <a:srgbClr val="0B2218"/>
                </a:solidFill>
                <a:latin typeface="Calibri" pitchFamily="34" charset="0"/>
                <a:ea typeface="Calibri" pitchFamily="34" charset="-122"/>
                <a:cs typeface="Calibri" pitchFamily="34" charset="-120"/>
              </a:rPr>
              <a:t>Merge the Two Batches</a:t>
            </a:r>
            <a:endParaRPr lang="en-US" sz="950" dirty="0"/>
          </a:p>
        </p:txBody>
      </p:sp>
      <p:sp>
        <p:nvSpPr>
          <p:cNvPr id="36" name="Text 34"/>
          <p:cNvSpPr/>
          <p:nvPr/>
        </p:nvSpPr>
        <p:spPr>
          <a:xfrm>
            <a:off x="2523744" y="4023360"/>
            <a:ext cx="1938528" cy="84124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The survey was collected in two files: UAC_Lagos.sav (N=250) and UAC_Abuja.sav (N=200). Use Data &gt; Merge Files &gt; Add Cases to combine them. Verify the merged dataset has exactly N=450 cases.</a:t>
            </a:r>
            <a:endParaRPr lang="en-US" sz="800" dirty="0"/>
          </a:p>
        </p:txBody>
      </p:sp>
      <p:sp>
        <p:nvSpPr>
          <p:cNvPr id="37" name="Shape 35"/>
          <p:cNvSpPr/>
          <p:nvPr/>
        </p:nvSpPr>
        <p:spPr>
          <a:xfrm>
            <a:off x="4663440" y="3529584"/>
            <a:ext cx="2121408" cy="1389888"/>
          </a:xfrm>
          <a:prstGeom prst="roundRect">
            <a:avLst>
              <a:gd name="adj" fmla="val 4605"/>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38" name="Shape 36"/>
          <p:cNvSpPr/>
          <p:nvPr/>
        </p:nvSpPr>
        <p:spPr>
          <a:xfrm>
            <a:off x="4754880" y="3602736"/>
            <a:ext cx="365760" cy="365760"/>
          </a:xfrm>
          <a:prstGeom prst="ellipse">
            <a:avLst/>
          </a:prstGeom>
          <a:solidFill>
            <a:srgbClr val="0B2218"/>
          </a:solidFill>
          <a:ln w="12700">
            <a:solidFill>
              <a:srgbClr val="0B2218"/>
            </a:solidFill>
            <a:prstDash val="solid"/>
          </a:ln>
        </p:spPr>
      </p:sp>
      <p:sp>
        <p:nvSpPr>
          <p:cNvPr id="39" name="Text 37"/>
          <p:cNvSpPr/>
          <p:nvPr/>
        </p:nvSpPr>
        <p:spPr>
          <a:xfrm>
            <a:off x="4754880" y="36027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p>
        </p:txBody>
      </p:sp>
      <p:sp>
        <p:nvSpPr>
          <p:cNvPr id="40" name="Text 38"/>
          <p:cNvSpPr/>
          <p:nvPr/>
        </p:nvSpPr>
        <p:spPr>
          <a:xfrm>
            <a:off x="5193792" y="3621024"/>
            <a:ext cx="1517904" cy="329184"/>
          </a:xfrm>
          <a:prstGeom prst="rect">
            <a:avLst/>
          </a:prstGeom>
          <a:noFill/>
          <a:ln/>
        </p:spPr>
        <p:txBody>
          <a:bodyPr wrap="square" lIns="0" tIns="0" rIns="0" bIns="0" rtlCol="0" anchor="ctr"/>
          <a:lstStyle/>
          <a:p>
            <a:pPr indent="0" marL="0">
              <a:buNone/>
            </a:pPr>
            <a:r>
              <a:rPr lang="en-US" sz="950" b="1" dirty="0">
                <a:solidFill>
                  <a:srgbClr val="0B2218"/>
                </a:solidFill>
                <a:latin typeface="Calibri" pitchFamily="34" charset="0"/>
                <a:ea typeface="Calibri" pitchFamily="34" charset="-122"/>
                <a:cs typeface="Calibri" pitchFamily="34" charset="-120"/>
              </a:rPr>
              <a:t>Split by Region and Run Frequencies</a:t>
            </a:r>
            <a:endParaRPr lang="en-US" sz="950" dirty="0"/>
          </a:p>
        </p:txBody>
      </p:sp>
      <p:sp>
        <p:nvSpPr>
          <p:cNvPr id="41" name="Text 39"/>
          <p:cNvSpPr/>
          <p:nvPr/>
        </p:nvSpPr>
        <p:spPr>
          <a:xfrm>
            <a:off x="4754880" y="4023360"/>
            <a:ext cx="1938528" cy="84124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Split file by region variable. Run Frequencies on uac_product_pref. Compare preferred products between Lagos and Abuja respondents. Turn Split File OFF after completing the comparison.</a:t>
            </a:r>
            <a:endParaRPr lang="en-US" sz="800" dirty="0"/>
          </a:p>
        </p:txBody>
      </p:sp>
      <p:sp>
        <p:nvSpPr>
          <p:cNvPr id="42" name="Shape 40"/>
          <p:cNvSpPr/>
          <p:nvPr/>
        </p:nvSpPr>
        <p:spPr>
          <a:xfrm>
            <a:off x="6894576" y="3529584"/>
            <a:ext cx="2121408" cy="1389888"/>
          </a:xfrm>
          <a:prstGeom prst="roundRect">
            <a:avLst>
              <a:gd name="adj" fmla="val 4605"/>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43" name="Shape 41"/>
          <p:cNvSpPr/>
          <p:nvPr/>
        </p:nvSpPr>
        <p:spPr>
          <a:xfrm>
            <a:off x="6986016" y="3602736"/>
            <a:ext cx="365760" cy="365760"/>
          </a:xfrm>
          <a:prstGeom prst="ellipse">
            <a:avLst/>
          </a:prstGeom>
          <a:solidFill>
            <a:srgbClr val="D4A017"/>
          </a:solidFill>
          <a:ln w="12700">
            <a:solidFill>
              <a:srgbClr val="D4A017"/>
            </a:solidFill>
            <a:prstDash val="solid"/>
          </a:ln>
        </p:spPr>
      </p:sp>
      <p:sp>
        <p:nvSpPr>
          <p:cNvPr id="44" name="Text 42"/>
          <p:cNvSpPr/>
          <p:nvPr/>
        </p:nvSpPr>
        <p:spPr>
          <a:xfrm>
            <a:off x="6986016" y="36027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t>
            </a:r>
            <a:endParaRPr lang="en-US" sz="1200" dirty="0"/>
          </a:p>
        </p:txBody>
      </p:sp>
      <p:sp>
        <p:nvSpPr>
          <p:cNvPr id="45" name="Text 43"/>
          <p:cNvSpPr/>
          <p:nvPr/>
        </p:nvSpPr>
        <p:spPr>
          <a:xfrm>
            <a:off x="7424928" y="3621024"/>
            <a:ext cx="1517904" cy="329184"/>
          </a:xfrm>
          <a:prstGeom prst="rect">
            <a:avLst/>
          </a:prstGeom>
          <a:noFill/>
          <a:ln/>
        </p:spPr>
        <p:txBody>
          <a:bodyPr wrap="square" lIns="0" tIns="0" rIns="0" bIns="0" rtlCol="0" anchor="ctr"/>
          <a:lstStyle/>
          <a:p>
            <a:pPr indent="0" marL="0">
              <a:buNone/>
            </a:pPr>
            <a:r>
              <a:rPr lang="en-US" sz="950" b="1" dirty="0">
                <a:solidFill>
                  <a:srgbClr val="0B2218"/>
                </a:solidFill>
                <a:latin typeface="Calibri" pitchFamily="34" charset="0"/>
                <a:ea typeface="Calibri" pitchFamily="34" charset="-122"/>
                <a:cs typeface="Calibri" pitchFamily="34" charset="-120"/>
              </a:rPr>
              <a:t>Save Syntax and Export Output</a:t>
            </a:r>
            <a:endParaRPr lang="en-US" sz="950" dirty="0"/>
          </a:p>
        </p:txBody>
      </p:sp>
      <p:sp>
        <p:nvSpPr>
          <p:cNvPr id="46" name="Text 44"/>
          <p:cNvSpPr/>
          <p:nvPr/>
        </p:nvSpPr>
        <p:spPr>
          <a:xfrm>
            <a:off x="6986016" y="4023360"/>
            <a:ext cx="1938528" cy="84124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Paste all operations into a Syntax Editor. Add header comments with your name, date, and study title. Save as UAC_Module2_Cleaning.sps. Export the validation Frequencies output to Word.</a:t>
            </a:r>
            <a:endParaRPr lang="en-US" sz="800" dirty="0"/>
          </a:p>
        </p:txBody>
      </p:sp>
      <p:sp>
        <p:nvSpPr>
          <p:cNvPr id="47" name="Shape 45"/>
          <p:cNvSpPr/>
          <p:nvPr/>
        </p:nvSpPr>
        <p:spPr>
          <a:xfrm>
            <a:off x="256032" y="5084064"/>
            <a:ext cx="8631936" cy="384048"/>
          </a:xfrm>
          <a:prstGeom prst="roundRect">
            <a:avLst>
              <a:gd name="adj" fmla="val 14286"/>
            </a:avLst>
          </a:prstGeom>
          <a:solidFill>
            <a:srgbClr val="FFFBEC"/>
          </a:solidFill>
          <a:ln w="19050">
            <a:solidFill>
              <a:srgbClr val="D4A017"/>
            </a:solidFill>
            <a:prstDash val="solid"/>
          </a:ln>
        </p:spPr>
      </p:sp>
      <p:sp>
        <p:nvSpPr>
          <p:cNvPr id="48" name="Text 46"/>
          <p:cNvSpPr/>
          <p:nvPr/>
        </p:nvSpPr>
        <p:spPr>
          <a:xfrm>
            <a:off x="384048" y="5084064"/>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Allow 60-75 minutes. Tasks A-E are individual. Tasks F-H can be pair work. Review completed syntax files as a group - compare approaches and discuss why certain steps were taken.</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D4A017">
              <a:alpha val="12000"/>
            </a:srgbClr>
          </a:solidFill>
          <a:ln w="12700">
            <a:solidFill>
              <a:srgbClr val="D4A017"/>
            </a:solidFill>
            <a:prstDash val="solid"/>
          </a:ln>
        </p:spPr>
      </p:sp>
      <p:sp>
        <p:nvSpPr>
          <p:cNvPr id="3" name="Shape 1"/>
          <p:cNvSpPr/>
          <p:nvPr/>
        </p:nvSpPr>
        <p:spPr>
          <a:xfrm>
            <a:off x="6858000" y="3200400"/>
            <a:ext cx="3657600" cy="3657600"/>
          </a:xfrm>
          <a:prstGeom prst="ellipse">
            <a:avLst/>
          </a:prstGeom>
          <a:solidFill>
            <a:srgbClr val="1A6B3C">
              <a:alpha val="16000"/>
            </a:srgbClr>
          </a:solidFill>
          <a:ln w="12700">
            <a:solidFill>
              <a:srgbClr val="1A6B3C"/>
            </a:solidFill>
            <a:prstDash val="solid"/>
          </a:ln>
        </p:spPr>
      </p:sp>
      <p:sp>
        <p:nvSpPr>
          <p:cNvPr id="4" name="Text 2"/>
          <p:cNvSpPr/>
          <p:nvPr/>
        </p:nvSpPr>
        <p:spPr>
          <a:xfrm>
            <a:off x="457200" y="164592"/>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Module 2 - Key Takeaways</a:t>
            </a:r>
            <a:endParaRPr lang="en-US" sz="3000" dirty="0"/>
          </a:p>
        </p:txBody>
      </p:sp>
      <p:sp>
        <p:nvSpPr>
          <p:cNvPr id="5" name="Shape 3"/>
          <p:cNvSpPr/>
          <p:nvPr/>
        </p:nvSpPr>
        <p:spPr>
          <a:xfrm>
            <a:off x="320040" y="932688"/>
            <a:ext cx="4160520" cy="731520"/>
          </a:xfrm>
          <a:prstGeom prst="roundRect">
            <a:avLst>
              <a:gd name="adj" fmla="val 8750"/>
            </a:avLst>
          </a:prstGeom>
          <a:solidFill>
            <a:srgbClr val="0D2218"/>
          </a:solidFill>
          <a:ln w="6350">
            <a:solidFill>
              <a:srgbClr val="27AE60"/>
            </a:solidFill>
            <a:prstDash val="solid"/>
          </a:ln>
        </p:spPr>
      </p:sp>
      <p:sp>
        <p:nvSpPr>
          <p:cNvPr id="6" name="Shape 4"/>
          <p:cNvSpPr/>
          <p:nvPr/>
        </p:nvSpPr>
        <p:spPr>
          <a:xfrm>
            <a:off x="411480" y="1133856"/>
            <a:ext cx="292608" cy="292608"/>
          </a:xfrm>
          <a:prstGeom prst="ellipse">
            <a:avLst/>
          </a:prstGeom>
          <a:solidFill>
            <a:srgbClr val="F0C040"/>
          </a:solidFill>
          <a:ln w="12700">
            <a:solidFill>
              <a:srgbClr val="F0C040"/>
            </a:solidFill>
            <a:prstDash val="solid"/>
          </a:ln>
        </p:spPr>
      </p:sp>
      <p:sp>
        <p:nvSpPr>
          <p:cNvPr id="7" name="Text 5"/>
          <p:cNvSpPr/>
          <p:nvPr/>
        </p:nvSpPr>
        <p:spPr>
          <a:xfrm>
            <a:off x="411480" y="1133856"/>
            <a:ext cx="292608" cy="292608"/>
          </a:xfrm>
          <a:prstGeom prst="rect">
            <a:avLst/>
          </a:prstGeom>
          <a:noFill/>
          <a:ln/>
        </p:spPr>
        <p:txBody>
          <a:bodyPr wrap="square" lIns="0" tIns="0" rIns="0" bIns="0" rtlCol="0" anchor="ctr"/>
          <a:lstStyle/>
          <a:p>
            <a:pPr algn="ctr" indent="0" marL="0">
              <a:buNone/>
            </a:pPr>
            <a:r>
              <a:rPr lang="en-US" sz="800" b="1" dirty="0">
                <a:solidFill>
                  <a:srgbClr val="0B2218"/>
                </a:solidFill>
                <a:latin typeface="Calibri" pitchFamily="34" charset="0"/>
                <a:ea typeface="Calibri" pitchFamily="34" charset="-122"/>
                <a:cs typeface="Calibri" pitchFamily="34" charset="-120"/>
              </a:rPr>
              <a:t>1</a:t>
            </a:r>
            <a:endParaRPr lang="en-US" sz="800" dirty="0"/>
          </a:p>
        </p:txBody>
      </p:sp>
      <p:sp>
        <p:nvSpPr>
          <p:cNvPr id="8" name="Text 6"/>
          <p:cNvSpPr/>
          <p:nvPr/>
        </p:nvSpPr>
        <p:spPr>
          <a:xfrm>
            <a:off x="777240" y="1005840"/>
            <a:ext cx="3611880" cy="58521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Data management consumes 60-80% of a real analyst's time. Doing it correctly from the start saves enormous rework downstream.</a:t>
            </a:r>
            <a:endParaRPr lang="en-US" sz="850" dirty="0"/>
          </a:p>
        </p:txBody>
      </p:sp>
      <p:sp>
        <p:nvSpPr>
          <p:cNvPr id="9" name="Shape 7"/>
          <p:cNvSpPr/>
          <p:nvPr/>
        </p:nvSpPr>
        <p:spPr>
          <a:xfrm>
            <a:off x="320040" y="1755648"/>
            <a:ext cx="4160520" cy="731520"/>
          </a:xfrm>
          <a:prstGeom prst="roundRect">
            <a:avLst>
              <a:gd name="adj" fmla="val 8750"/>
            </a:avLst>
          </a:prstGeom>
          <a:solidFill>
            <a:srgbClr val="0D2218"/>
          </a:solidFill>
          <a:ln w="6350">
            <a:solidFill>
              <a:srgbClr val="27AE60"/>
            </a:solidFill>
            <a:prstDash val="solid"/>
          </a:ln>
        </p:spPr>
      </p:sp>
      <p:sp>
        <p:nvSpPr>
          <p:cNvPr id="10" name="Shape 8"/>
          <p:cNvSpPr/>
          <p:nvPr/>
        </p:nvSpPr>
        <p:spPr>
          <a:xfrm>
            <a:off x="411480" y="1956816"/>
            <a:ext cx="292608" cy="292608"/>
          </a:xfrm>
          <a:prstGeom prst="ellipse">
            <a:avLst/>
          </a:prstGeom>
          <a:solidFill>
            <a:srgbClr val="F0C040"/>
          </a:solidFill>
          <a:ln w="12700">
            <a:solidFill>
              <a:srgbClr val="F0C040"/>
            </a:solidFill>
            <a:prstDash val="solid"/>
          </a:ln>
        </p:spPr>
      </p:sp>
      <p:sp>
        <p:nvSpPr>
          <p:cNvPr id="11" name="Text 9"/>
          <p:cNvSpPr/>
          <p:nvPr/>
        </p:nvSpPr>
        <p:spPr>
          <a:xfrm>
            <a:off x="411480" y="1956816"/>
            <a:ext cx="292608" cy="292608"/>
          </a:xfrm>
          <a:prstGeom prst="rect">
            <a:avLst/>
          </a:prstGeom>
          <a:noFill/>
          <a:ln/>
        </p:spPr>
        <p:txBody>
          <a:bodyPr wrap="square" lIns="0" tIns="0" rIns="0" bIns="0" rtlCol="0" anchor="ctr"/>
          <a:lstStyle/>
          <a:p>
            <a:pPr algn="ctr" indent="0" marL="0">
              <a:buNone/>
            </a:pPr>
            <a:r>
              <a:rPr lang="en-US" sz="800" b="1" dirty="0">
                <a:solidFill>
                  <a:srgbClr val="0B2218"/>
                </a:solidFill>
                <a:latin typeface="Calibri" pitchFamily="34" charset="0"/>
                <a:ea typeface="Calibri" pitchFamily="34" charset="-122"/>
                <a:cs typeface="Calibri" pitchFamily="34" charset="-120"/>
              </a:rPr>
              <a:t>2</a:t>
            </a:r>
            <a:endParaRPr lang="en-US" sz="800" dirty="0"/>
          </a:p>
        </p:txBody>
      </p:sp>
      <p:sp>
        <p:nvSpPr>
          <p:cNvPr id="12" name="Text 10"/>
          <p:cNvSpPr/>
          <p:nvPr/>
        </p:nvSpPr>
        <p:spPr>
          <a:xfrm>
            <a:off x="777240" y="1828800"/>
            <a:ext cx="3611880" cy="58521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Always complete Variable View (Name, Type, Label, Values, Missing, Measure) for every variable BEFORE entering or importing any data.</a:t>
            </a:r>
            <a:endParaRPr lang="en-US" sz="850" dirty="0"/>
          </a:p>
        </p:txBody>
      </p:sp>
      <p:sp>
        <p:nvSpPr>
          <p:cNvPr id="13" name="Shape 11"/>
          <p:cNvSpPr/>
          <p:nvPr/>
        </p:nvSpPr>
        <p:spPr>
          <a:xfrm>
            <a:off x="320040" y="2578608"/>
            <a:ext cx="4160520" cy="731520"/>
          </a:xfrm>
          <a:prstGeom prst="roundRect">
            <a:avLst>
              <a:gd name="adj" fmla="val 8750"/>
            </a:avLst>
          </a:prstGeom>
          <a:solidFill>
            <a:srgbClr val="0D2218"/>
          </a:solidFill>
          <a:ln w="6350">
            <a:solidFill>
              <a:srgbClr val="27AE60"/>
            </a:solidFill>
            <a:prstDash val="solid"/>
          </a:ln>
        </p:spPr>
      </p:sp>
      <p:sp>
        <p:nvSpPr>
          <p:cNvPr id="14" name="Shape 12"/>
          <p:cNvSpPr/>
          <p:nvPr/>
        </p:nvSpPr>
        <p:spPr>
          <a:xfrm>
            <a:off x="411480" y="2779776"/>
            <a:ext cx="292608" cy="292608"/>
          </a:xfrm>
          <a:prstGeom prst="ellipse">
            <a:avLst/>
          </a:prstGeom>
          <a:solidFill>
            <a:srgbClr val="F0C040"/>
          </a:solidFill>
          <a:ln w="12700">
            <a:solidFill>
              <a:srgbClr val="F0C040"/>
            </a:solidFill>
            <a:prstDash val="solid"/>
          </a:ln>
        </p:spPr>
      </p:sp>
      <p:sp>
        <p:nvSpPr>
          <p:cNvPr id="15" name="Text 13"/>
          <p:cNvSpPr/>
          <p:nvPr/>
        </p:nvSpPr>
        <p:spPr>
          <a:xfrm>
            <a:off x="411480" y="2779776"/>
            <a:ext cx="292608" cy="292608"/>
          </a:xfrm>
          <a:prstGeom prst="rect">
            <a:avLst/>
          </a:prstGeom>
          <a:noFill/>
          <a:ln/>
        </p:spPr>
        <p:txBody>
          <a:bodyPr wrap="square" lIns="0" tIns="0" rIns="0" bIns="0" rtlCol="0" anchor="ctr"/>
          <a:lstStyle/>
          <a:p>
            <a:pPr algn="ctr" indent="0" marL="0">
              <a:buNone/>
            </a:pPr>
            <a:r>
              <a:rPr lang="en-US" sz="800" b="1" dirty="0">
                <a:solidFill>
                  <a:srgbClr val="0B2218"/>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777240" y="2651760"/>
            <a:ext cx="3611880" cy="58521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Categorical data enters SPSS as numeric codes. Value Labels map those codes to their meanings. Use View &gt; Value Labels to see the display version.</a:t>
            </a:r>
            <a:endParaRPr lang="en-US" sz="850" dirty="0"/>
          </a:p>
        </p:txBody>
      </p:sp>
      <p:sp>
        <p:nvSpPr>
          <p:cNvPr id="17" name="Shape 15"/>
          <p:cNvSpPr/>
          <p:nvPr/>
        </p:nvSpPr>
        <p:spPr>
          <a:xfrm>
            <a:off x="320040" y="3401568"/>
            <a:ext cx="4160520" cy="731520"/>
          </a:xfrm>
          <a:prstGeom prst="roundRect">
            <a:avLst>
              <a:gd name="adj" fmla="val 8750"/>
            </a:avLst>
          </a:prstGeom>
          <a:solidFill>
            <a:srgbClr val="0D2218"/>
          </a:solidFill>
          <a:ln w="6350">
            <a:solidFill>
              <a:srgbClr val="27AE60"/>
            </a:solidFill>
            <a:prstDash val="solid"/>
          </a:ln>
        </p:spPr>
      </p:sp>
      <p:sp>
        <p:nvSpPr>
          <p:cNvPr id="18" name="Shape 16"/>
          <p:cNvSpPr/>
          <p:nvPr/>
        </p:nvSpPr>
        <p:spPr>
          <a:xfrm>
            <a:off x="411480" y="3602736"/>
            <a:ext cx="292608" cy="292608"/>
          </a:xfrm>
          <a:prstGeom prst="ellipse">
            <a:avLst/>
          </a:prstGeom>
          <a:solidFill>
            <a:srgbClr val="F0C040"/>
          </a:solidFill>
          <a:ln w="12700">
            <a:solidFill>
              <a:srgbClr val="F0C040"/>
            </a:solidFill>
            <a:prstDash val="solid"/>
          </a:ln>
        </p:spPr>
      </p:sp>
      <p:sp>
        <p:nvSpPr>
          <p:cNvPr id="19" name="Text 17"/>
          <p:cNvSpPr/>
          <p:nvPr/>
        </p:nvSpPr>
        <p:spPr>
          <a:xfrm>
            <a:off x="411480" y="3602736"/>
            <a:ext cx="292608" cy="292608"/>
          </a:xfrm>
          <a:prstGeom prst="rect">
            <a:avLst/>
          </a:prstGeom>
          <a:noFill/>
          <a:ln/>
        </p:spPr>
        <p:txBody>
          <a:bodyPr wrap="square" lIns="0" tIns="0" rIns="0" bIns="0" rtlCol="0" anchor="ctr"/>
          <a:lstStyle/>
          <a:p>
            <a:pPr algn="ctr" indent="0" marL="0">
              <a:buNone/>
            </a:pPr>
            <a:r>
              <a:rPr lang="en-US" sz="800" b="1" dirty="0">
                <a:solidFill>
                  <a:srgbClr val="0B2218"/>
                </a:solidFill>
                <a:latin typeface="Calibri" pitchFamily="34" charset="0"/>
                <a:ea typeface="Calibri" pitchFamily="34" charset="-122"/>
                <a:cs typeface="Calibri" pitchFamily="34" charset="-120"/>
              </a:rPr>
              <a:t>4</a:t>
            </a:r>
            <a:endParaRPr lang="en-US" sz="800" dirty="0"/>
          </a:p>
        </p:txBody>
      </p:sp>
      <p:sp>
        <p:nvSpPr>
          <p:cNvPr id="20" name="Text 18"/>
          <p:cNvSpPr/>
          <p:nvPr/>
        </p:nvSpPr>
        <p:spPr>
          <a:xfrm>
            <a:off x="777240" y="3474720"/>
            <a:ext cx="3611880" cy="58521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Run Frequencies and Descriptives on EVERY variable immediately after data entry or import. Validate before you analyse.</a:t>
            </a:r>
            <a:endParaRPr lang="en-US" sz="850" dirty="0"/>
          </a:p>
        </p:txBody>
      </p:sp>
      <p:sp>
        <p:nvSpPr>
          <p:cNvPr id="21" name="Shape 19"/>
          <p:cNvSpPr/>
          <p:nvPr/>
        </p:nvSpPr>
        <p:spPr>
          <a:xfrm>
            <a:off x="320040" y="4224528"/>
            <a:ext cx="4160520" cy="731520"/>
          </a:xfrm>
          <a:prstGeom prst="roundRect">
            <a:avLst>
              <a:gd name="adj" fmla="val 8750"/>
            </a:avLst>
          </a:prstGeom>
          <a:solidFill>
            <a:srgbClr val="0D2218"/>
          </a:solidFill>
          <a:ln w="6350">
            <a:solidFill>
              <a:srgbClr val="27AE60"/>
            </a:solidFill>
            <a:prstDash val="solid"/>
          </a:ln>
        </p:spPr>
      </p:sp>
      <p:sp>
        <p:nvSpPr>
          <p:cNvPr id="22" name="Shape 20"/>
          <p:cNvSpPr/>
          <p:nvPr/>
        </p:nvSpPr>
        <p:spPr>
          <a:xfrm>
            <a:off x="411480" y="4425696"/>
            <a:ext cx="292608" cy="292608"/>
          </a:xfrm>
          <a:prstGeom prst="ellipse">
            <a:avLst/>
          </a:prstGeom>
          <a:solidFill>
            <a:srgbClr val="F0C040"/>
          </a:solidFill>
          <a:ln w="12700">
            <a:solidFill>
              <a:srgbClr val="F0C040"/>
            </a:solidFill>
            <a:prstDash val="solid"/>
          </a:ln>
        </p:spPr>
      </p:sp>
      <p:sp>
        <p:nvSpPr>
          <p:cNvPr id="23" name="Text 21"/>
          <p:cNvSpPr/>
          <p:nvPr/>
        </p:nvSpPr>
        <p:spPr>
          <a:xfrm>
            <a:off x="411480" y="4425696"/>
            <a:ext cx="292608" cy="292608"/>
          </a:xfrm>
          <a:prstGeom prst="rect">
            <a:avLst/>
          </a:prstGeom>
          <a:noFill/>
          <a:ln/>
        </p:spPr>
        <p:txBody>
          <a:bodyPr wrap="square" lIns="0" tIns="0" rIns="0" bIns="0" rtlCol="0" anchor="ctr"/>
          <a:lstStyle/>
          <a:p>
            <a:pPr algn="ctr" indent="0" marL="0">
              <a:buNone/>
            </a:pPr>
            <a:r>
              <a:rPr lang="en-US" sz="800" b="1" dirty="0">
                <a:solidFill>
                  <a:srgbClr val="0B2218"/>
                </a:solidFill>
                <a:latin typeface="Calibri" pitchFamily="34" charset="0"/>
                <a:ea typeface="Calibri" pitchFamily="34" charset="-122"/>
                <a:cs typeface="Calibri" pitchFamily="34" charset="-120"/>
              </a:rPr>
              <a:t>5</a:t>
            </a:r>
            <a:endParaRPr lang="en-US" sz="800" dirty="0"/>
          </a:p>
        </p:txBody>
      </p:sp>
      <p:sp>
        <p:nvSpPr>
          <p:cNvPr id="24" name="Text 22"/>
          <p:cNvSpPr/>
          <p:nvPr/>
        </p:nvSpPr>
        <p:spPr>
          <a:xfrm>
            <a:off x="777240" y="4297680"/>
            <a:ext cx="3611880" cy="58521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Recode into DIFFERENT Variables - never Same Variables. The original data must always be preserved intact.</a:t>
            </a:r>
            <a:endParaRPr lang="en-US" sz="850" dirty="0"/>
          </a:p>
        </p:txBody>
      </p:sp>
      <p:sp>
        <p:nvSpPr>
          <p:cNvPr id="25" name="Shape 23"/>
          <p:cNvSpPr/>
          <p:nvPr/>
        </p:nvSpPr>
        <p:spPr>
          <a:xfrm>
            <a:off x="4782312" y="932688"/>
            <a:ext cx="4160520" cy="731520"/>
          </a:xfrm>
          <a:prstGeom prst="roundRect">
            <a:avLst>
              <a:gd name="adj" fmla="val 8750"/>
            </a:avLst>
          </a:prstGeom>
          <a:solidFill>
            <a:srgbClr val="0D2218"/>
          </a:solidFill>
          <a:ln w="6350">
            <a:solidFill>
              <a:srgbClr val="27AE60"/>
            </a:solidFill>
            <a:prstDash val="solid"/>
          </a:ln>
        </p:spPr>
      </p:sp>
      <p:sp>
        <p:nvSpPr>
          <p:cNvPr id="26" name="Shape 24"/>
          <p:cNvSpPr/>
          <p:nvPr/>
        </p:nvSpPr>
        <p:spPr>
          <a:xfrm>
            <a:off x="4873752" y="1133856"/>
            <a:ext cx="292608" cy="292608"/>
          </a:xfrm>
          <a:prstGeom prst="ellipse">
            <a:avLst/>
          </a:prstGeom>
          <a:solidFill>
            <a:srgbClr val="F0C040"/>
          </a:solidFill>
          <a:ln w="12700">
            <a:solidFill>
              <a:srgbClr val="F0C040"/>
            </a:solidFill>
            <a:prstDash val="solid"/>
          </a:ln>
        </p:spPr>
      </p:sp>
      <p:sp>
        <p:nvSpPr>
          <p:cNvPr id="27" name="Text 25"/>
          <p:cNvSpPr/>
          <p:nvPr/>
        </p:nvSpPr>
        <p:spPr>
          <a:xfrm>
            <a:off x="4873752" y="1133856"/>
            <a:ext cx="292608" cy="292608"/>
          </a:xfrm>
          <a:prstGeom prst="rect">
            <a:avLst/>
          </a:prstGeom>
          <a:noFill/>
          <a:ln/>
        </p:spPr>
        <p:txBody>
          <a:bodyPr wrap="square" lIns="0" tIns="0" rIns="0" bIns="0" rtlCol="0" anchor="ctr"/>
          <a:lstStyle/>
          <a:p>
            <a:pPr algn="ctr" indent="0" marL="0">
              <a:buNone/>
            </a:pPr>
            <a:r>
              <a:rPr lang="en-US" sz="800" b="1" dirty="0">
                <a:solidFill>
                  <a:srgbClr val="0B2218"/>
                </a:solidFill>
                <a:latin typeface="Calibri" pitchFamily="34" charset="0"/>
                <a:ea typeface="Calibri" pitchFamily="34" charset="-122"/>
                <a:cs typeface="Calibri" pitchFamily="34" charset="-120"/>
              </a:rPr>
              <a:t>6</a:t>
            </a:r>
            <a:endParaRPr lang="en-US" sz="800" dirty="0"/>
          </a:p>
        </p:txBody>
      </p:sp>
      <p:sp>
        <p:nvSpPr>
          <p:cNvPr id="28" name="Text 26"/>
          <p:cNvSpPr/>
          <p:nvPr/>
        </p:nvSpPr>
        <p:spPr>
          <a:xfrm>
            <a:off x="5239512" y="1005840"/>
            <a:ext cx="3611880" cy="58521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Compute Variable creates new derived measures. satisfaction_mean = MEAN(q1, q2, q3, q4, q5_rev) is the foundation of all Module 3-5 analysis.</a:t>
            </a:r>
            <a:endParaRPr lang="en-US" sz="850" dirty="0"/>
          </a:p>
        </p:txBody>
      </p:sp>
      <p:sp>
        <p:nvSpPr>
          <p:cNvPr id="29" name="Shape 27"/>
          <p:cNvSpPr/>
          <p:nvPr/>
        </p:nvSpPr>
        <p:spPr>
          <a:xfrm>
            <a:off x="4782312" y="1755648"/>
            <a:ext cx="4160520" cy="731520"/>
          </a:xfrm>
          <a:prstGeom prst="roundRect">
            <a:avLst>
              <a:gd name="adj" fmla="val 8750"/>
            </a:avLst>
          </a:prstGeom>
          <a:solidFill>
            <a:srgbClr val="0D2218"/>
          </a:solidFill>
          <a:ln w="6350">
            <a:solidFill>
              <a:srgbClr val="27AE60"/>
            </a:solidFill>
            <a:prstDash val="solid"/>
          </a:ln>
        </p:spPr>
      </p:sp>
      <p:sp>
        <p:nvSpPr>
          <p:cNvPr id="30" name="Shape 28"/>
          <p:cNvSpPr/>
          <p:nvPr/>
        </p:nvSpPr>
        <p:spPr>
          <a:xfrm>
            <a:off x="4873752" y="1956816"/>
            <a:ext cx="292608" cy="292608"/>
          </a:xfrm>
          <a:prstGeom prst="ellipse">
            <a:avLst/>
          </a:prstGeom>
          <a:solidFill>
            <a:srgbClr val="F0C040"/>
          </a:solidFill>
          <a:ln w="12700">
            <a:solidFill>
              <a:srgbClr val="F0C040"/>
            </a:solidFill>
            <a:prstDash val="solid"/>
          </a:ln>
        </p:spPr>
      </p:sp>
      <p:sp>
        <p:nvSpPr>
          <p:cNvPr id="31" name="Text 29"/>
          <p:cNvSpPr/>
          <p:nvPr/>
        </p:nvSpPr>
        <p:spPr>
          <a:xfrm>
            <a:off x="4873752" y="1956816"/>
            <a:ext cx="292608" cy="292608"/>
          </a:xfrm>
          <a:prstGeom prst="rect">
            <a:avLst/>
          </a:prstGeom>
          <a:noFill/>
          <a:ln/>
        </p:spPr>
        <p:txBody>
          <a:bodyPr wrap="square" lIns="0" tIns="0" rIns="0" bIns="0" rtlCol="0" anchor="ctr"/>
          <a:lstStyle/>
          <a:p>
            <a:pPr algn="ctr" indent="0" marL="0">
              <a:buNone/>
            </a:pPr>
            <a:r>
              <a:rPr lang="en-US" sz="800" b="1" dirty="0">
                <a:solidFill>
                  <a:srgbClr val="0B2218"/>
                </a:solidFill>
                <a:latin typeface="Calibri" pitchFamily="34" charset="0"/>
                <a:ea typeface="Calibri" pitchFamily="34" charset="-122"/>
                <a:cs typeface="Calibri" pitchFamily="34" charset="-120"/>
              </a:rPr>
              <a:t>7</a:t>
            </a:r>
            <a:endParaRPr lang="en-US" sz="800" dirty="0"/>
          </a:p>
        </p:txBody>
      </p:sp>
      <p:sp>
        <p:nvSpPr>
          <p:cNvPr id="32" name="Text 30"/>
          <p:cNvSpPr/>
          <p:nvPr/>
        </p:nvSpPr>
        <p:spPr>
          <a:xfrm>
            <a:off x="5239512" y="1828800"/>
            <a:ext cx="3611880" cy="58521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Missing data classification (MCAR, MAR, MNAR) determines the correct handling strategy. Multiple Imputation is the gold standard for MAR data.</a:t>
            </a:r>
            <a:endParaRPr lang="en-US" sz="850" dirty="0"/>
          </a:p>
        </p:txBody>
      </p:sp>
      <p:sp>
        <p:nvSpPr>
          <p:cNvPr id="33" name="Shape 31"/>
          <p:cNvSpPr/>
          <p:nvPr/>
        </p:nvSpPr>
        <p:spPr>
          <a:xfrm>
            <a:off x="4782312" y="2578608"/>
            <a:ext cx="4160520" cy="731520"/>
          </a:xfrm>
          <a:prstGeom prst="roundRect">
            <a:avLst>
              <a:gd name="adj" fmla="val 8750"/>
            </a:avLst>
          </a:prstGeom>
          <a:solidFill>
            <a:srgbClr val="0D2218"/>
          </a:solidFill>
          <a:ln w="6350">
            <a:solidFill>
              <a:srgbClr val="27AE60"/>
            </a:solidFill>
            <a:prstDash val="solid"/>
          </a:ln>
        </p:spPr>
      </p:sp>
      <p:sp>
        <p:nvSpPr>
          <p:cNvPr id="34" name="Shape 32"/>
          <p:cNvSpPr/>
          <p:nvPr/>
        </p:nvSpPr>
        <p:spPr>
          <a:xfrm>
            <a:off x="4873752" y="2779776"/>
            <a:ext cx="292608" cy="292608"/>
          </a:xfrm>
          <a:prstGeom prst="ellipse">
            <a:avLst/>
          </a:prstGeom>
          <a:solidFill>
            <a:srgbClr val="F0C040"/>
          </a:solidFill>
          <a:ln w="12700">
            <a:solidFill>
              <a:srgbClr val="F0C040"/>
            </a:solidFill>
            <a:prstDash val="solid"/>
          </a:ln>
        </p:spPr>
      </p:sp>
      <p:sp>
        <p:nvSpPr>
          <p:cNvPr id="35" name="Text 33"/>
          <p:cNvSpPr/>
          <p:nvPr/>
        </p:nvSpPr>
        <p:spPr>
          <a:xfrm>
            <a:off x="4873752" y="2779776"/>
            <a:ext cx="292608" cy="292608"/>
          </a:xfrm>
          <a:prstGeom prst="rect">
            <a:avLst/>
          </a:prstGeom>
          <a:noFill/>
          <a:ln/>
        </p:spPr>
        <p:txBody>
          <a:bodyPr wrap="square" lIns="0" tIns="0" rIns="0" bIns="0" rtlCol="0" anchor="ctr"/>
          <a:lstStyle/>
          <a:p>
            <a:pPr algn="ctr" indent="0" marL="0">
              <a:buNone/>
            </a:pPr>
            <a:r>
              <a:rPr lang="en-US" sz="800" b="1" dirty="0">
                <a:solidFill>
                  <a:srgbClr val="0B2218"/>
                </a:solidFill>
                <a:latin typeface="Calibri" pitchFamily="34" charset="0"/>
                <a:ea typeface="Calibri" pitchFamily="34" charset="-122"/>
                <a:cs typeface="Calibri" pitchFamily="34" charset="-120"/>
              </a:rPr>
              <a:t>8</a:t>
            </a:r>
            <a:endParaRPr lang="en-US" sz="800" dirty="0"/>
          </a:p>
        </p:txBody>
      </p:sp>
      <p:sp>
        <p:nvSpPr>
          <p:cNvPr id="36" name="Text 34"/>
          <p:cNvSpPr/>
          <p:nvPr/>
        </p:nvSpPr>
        <p:spPr>
          <a:xfrm>
            <a:off x="5239512" y="2651760"/>
            <a:ext cx="3611880" cy="58521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Add Cases stacks datasets vertically (same variables, different respondents). Add Variables joins horizontally by a key variable. Sort before Add Variables.</a:t>
            </a:r>
            <a:endParaRPr lang="en-US" sz="850" dirty="0"/>
          </a:p>
        </p:txBody>
      </p:sp>
      <p:sp>
        <p:nvSpPr>
          <p:cNvPr id="37" name="Shape 35"/>
          <p:cNvSpPr/>
          <p:nvPr/>
        </p:nvSpPr>
        <p:spPr>
          <a:xfrm>
            <a:off x="4782312" y="3401568"/>
            <a:ext cx="4160520" cy="731520"/>
          </a:xfrm>
          <a:prstGeom prst="roundRect">
            <a:avLst>
              <a:gd name="adj" fmla="val 8750"/>
            </a:avLst>
          </a:prstGeom>
          <a:solidFill>
            <a:srgbClr val="0D2218"/>
          </a:solidFill>
          <a:ln w="6350">
            <a:solidFill>
              <a:srgbClr val="27AE60"/>
            </a:solidFill>
            <a:prstDash val="solid"/>
          </a:ln>
        </p:spPr>
      </p:sp>
      <p:sp>
        <p:nvSpPr>
          <p:cNvPr id="38" name="Shape 36"/>
          <p:cNvSpPr/>
          <p:nvPr/>
        </p:nvSpPr>
        <p:spPr>
          <a:xfrm>
            <a:off x="4873752" y="3602736"/>
            <a:ext cx="292608" cy="292608"/>
          </a:xfrm>
          <a:prstGeom prst="ellipse">
            <a:avLst/>
          </a:prstGeom>
          <a:solidFill>
            <a:srgbClr val="F0C040"/>
          </a:solidFill>
          <a:ln w="12700">
            <a:solidFill>
              <a:srgbClr val="F0C040"/>
            </a:solidFill>
            <a:prstDash val="solid"/>
          </a:ln>
        </p:spPr>
      </p:sp>
      <p:sp>
        <p:nvSpPr>
          <p:cNvPr id="39" name="Text 37"/>
          <p:cNvSpPr/>
          <p:nvPr/>
        </p:nvSpPr>
        <p:spPr>
          <a:xfrm>
            <a:off x="4873752" y="3602736"/>
            <a:ext cx="292608" cy="292608"/>
          </a:xfrm>
          <a:prstGeom prst="rect">
            <a:avLst/>
          </a:prstGeom>
          <a:noFill/>
          <a:ln/>
        </p:spPr>
        <p:txBody>
          <a:bodyPr wrap="square" lIns="0" tIns="0" rIns="0" bIns="0" rtlCol="0" anchor="ctr"/>
          <a:lstStyle/>
          <a:p>
            <a:pPr algn="ctr" indent="0" marL="0">
              <a:buNone/>
            </a:pPr>
            <a:r>
              <a:rPr lang="en-US" sz="800" b="1" dirty="0">
                <a:solidFill>
                  <a:srgbClr val="0B2218"/>
                </a:solidFill>
                <a:latin typeface="Calibri" pitchFamily="34" charset="0"/>
                <a:ea typeface="Calibri" pitchFamily="34" charset="-122"/>
                <a:cs typeface="Calibri" pitchFamily="34" charset="-120"/>
              </a:rPr>
              <a:t>9</a:t>
            </a:r>
            <a:endParaRPr lang="en-US" sz="800" dirty="0"/>
          </a:p>
        </p:txBody>
      </p:sp>
      <p:sp>
        <p:nvSpPr>
          <p:cNvPr id="40" name="Text 38"/>
          <p:cNvSpPr/>
          <p:nvPr/>
        </p:nvSpPr>
        <p:spPr>
          <a:xfrm>
            <a:off x="5239512" y="3474720"/>
            <a:ext cx="3611880" cy="58521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Split File repeats analysis by group. Select Cases restricts analysis to a subset. ALWAYS turn Split File off after use.</a:t>
            </a:r>
            <a:endParaRPr lang="en-US" sz="850" dirty="0"/>
          </a:p>
        </p:txBody>
      </p:sp>
      <p:sp>
        <p:nvSpPr>
          <p:cNvPr id="41" name="Shape 39"/>
          <p:cNvSpPr/>
          <p:nvPr/>
        </p:nvSpPr>
        <p:spPr>
          <a:xfrm>
            <a:off x="4782312" y="4224528"/>
            <a:ext cx="4160520" cy="731520"/>
          </a:xfrm>
          <a:prstGeom prst="roundRect">
            <a:avLst>
              <a:gd name="adj" fmla="val 8750"/>
            </a:avLst>
          </a:prstGeom>
          <a:solidFill>
            <a:srgbClr val="0D2218"/>
          </a:solidFill>
          <a:ln w="6350">
            <a:solidFill>
              <a:srgbClr val="27AE60"/>
            </a:solidFill>
            <a:prstDash val="solid"/>
          </a:ln>
        </p:spPr>
      </p:sp>
      <p:sp>
        <p:nvSpPr>
          <p:cNvPr id="42" name="Shape 40"/>
          <p:cNvSpPr/>
          <p:nvPr/>
        </p:nvSpPr>
        <p:spPr>
          <a:xfrm>
            <a:off x="4873752" y="4425696"/>
            <a:ext cx="292608" cy="292608"/>
          </a:xfrm>
          <a:prstGeom prst="ellipse">
            <a:avLst/>
          </a:prstGeom>
          <a:solidFill>
            <a:srgbClr val="F0C040"/>
          </a:solidFill>
          <a:ln w="12700">
            <a:solidFill>
              <a:srgbClr val="F0C040"/>
            </a:solidFill>
            <a:prstDash val="solid"/>
          </a:ln>
        </p:spPr>
      </p:sp>
      <p:sp>
        <p:nvSpPr>
          <p:cNvPr id="43" name="Text 41"/>
          <p:cNvSpPr/>
          <p:nvPr/>
        </p:nvSpPr>
        <p:spPr>
          <a:xfrm>
            <a:off x="4873752" y="4425696"/>
            <a:ext cx="292608" cy="292608"/>
          </a:xfrm>
          <a:prstGeom prst="rect">
            <a:avLst/>
          </a:prstGeom>
          <a:noFill/>
          <a:ln/>
        </p:spPr>
        <p:txBody>
          <a:bodyPr wrap="square" lIns="0" tIns="0" rIns="0" bIns="0" rtlCol="0" anchor="ctr"/>
          <a:lstStyle/>
          <a:p>
            <a:pPr algn="ctr" indent="0" marL="0">
              <a:buNone/>
            </a:pPr>
            <a:r>
              <a:rPr lang="en-US" sz="800" b="1" dirty="0">
                <a:solidFill>
                  <a:srgbClr val="0B2218"/>
                </a:solidFill>
                <a:latin typeface="Calibri" pitchFamily="34" charset="0"/>
                <a:ea typeface="Calibri" pitchFamily="34" charset="-122"/>
                <a:cs typeface="Calibri" pitchFamily="34" charset="-120"/>
              </a:rPr>
              <a:t>10</a:t>
            </a:r>
            <a:endParaRPr lang="en-US" sz="800" dirty="0"/>
          </a:p>
        </p:txBody>
      </p:sp>
      <p:sp>
        <p:nvSpPr>
          <p:cNvPr id="44" name="Text 42"/>
          <p:cNvSpPr/>
          <p:nvPr/>
        </p:nvSpPr>
        <p:spPr>
          <a:xfrm>
            <a:off x="5239512" y="4297680"/>
            <a:ext cx="3611880" cy="585216"/>
          </a:xfrm>
          <a:prstGeom prst="rect">
            <a:avLst/>
          </a:prstGeom>
          <a:noFill/>
          <a:ln/>
        </p:spPr>
        <p:txBody>
          <a:bodyPr wrap="square" lIns="0" tIns="0" rIns="0" bIns="0" rtlCol="0" anchor="ctr"/>
          <a:lstStyle/>
          <a:p>
            <a:pPr indent="0" marL="0">
              <a:buNone/>
            </a:pPr>
            <a:r>
              <a:rPr lang="en-US" sz="850" dirty="0">
                <a:solidFill>
                  <a:srgbClr val="A8D4BC"/>
                </a:solidFill>
                <a:latin typeface="Calibri" pitchFamily="34" charset="0"/>
                <a:ea typeface="Calibri" pitchFamily="34" charset="-122"/>
                <a:cs typeface="Calibri" pitchFamily="34" charset="-120"/>
              </a:rPr>
              <a:t>Every data management step should be documented in SPSS Syntax. The syntax file is your audit trail, your methodology log, and your reproducibility guarantee.</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A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218"/>
          </a:solidFill>
          <a:ln w="12700">
            <a:solidFill>
              <a:srgbClr val="0B2218"/>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Module 2 Assessment - Test Your Data Management Skills</a:t>
            </a:r>
            <a:endParaRPr lang="en-US" sz="2200" dirty="0"/>
          </a:p>
        </p:txBody>
      </p:sp>
      <p:sp>
        <p:nvSpPr>
          <p:cNvPr id="4" name="Shape 2"/>
          <p:cNvSpPr/>
          <p:nvPr/>
        </p:nvSpPr>
        <p:spPr>
          <a:xfrm>
            <a:off x="256032" y="1024128"/>
            <a:ext cx="8631936" cy="950976"/>
          </a:xfrm>
          <a:prstGeom prst="roundRect">
            <a:avLst>
              <a:gd name="adj" fmla="val 7692"/>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115568"/>
            <a:ext cx="347472" cy="347472"/>
          </a:xfrm>
          <a:prstGeom prst="ellipse">
            <a:avLst/>
          </a:prstGeom>
          <a:solidFill>
            <a:srgbClr val="0B2218"/>
          </a:solidFill>
          <a:ln w="12700">
            <a:solidFill>
              <a:srgbClr val="0B2218"/>
            </a:solidFill>
            <a:prstDash val="solid"/>
          </a:ln>
        </p:spPr>
      </p:sp>
      <p:sp>
        <p:nvSpPr>
          <p:cNvPr id="6" name="Text 4"/>
          <p:cNvSpPr/>
          <p:nvPr/>
        </p:nvSpPr>
        <p:spPr>
          <a:xfrm>
            <a:off x="329184" y="1115568"/>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Q1</a:t>
            </a:r>
            <a:endParaRPr lang="en-US" sz="1000" dirty="0"/>
          </a:p>
        </p:txBody>
      </p:sp>
      <p:sp>
        <p:nvSpPr>
          <p:cNvPr id="7" name="Text 5"/>
          <p:cNvSpPr/>
          <p:nvPr/>
        </p:nvSpPr>
        <p:spPr>
          <a:xfrm>
            <a:off x="768096" y="1078992"/>
            <a:ext cx="5321808" cy="822960"/>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A UAC Foods dataset has gender coded as 1=Male, 2=Female. When you run Frequencies, you see some cases with gender = 4. What is the MOST likely cause and what are your three options for handling this?</a:t>
            </a:r>
            <a:endParaRPr lang="en-US" sz="950" dirty="0"/>
          </a:p>
        </p:txBody>
      </p:sp>
      <p:sp>
        <p:nvSpPr>
          <p:cNvPr id="8" name="Shape 6"/>
          <p:cNvSpPr/>
          <p:nvPr/>
        </p:nvSpPr>
        <p:spPr>
          <a:xfrm>
            <a:off x="6199632" y="1078992"/>
            <a:ext cx="2578608" cy="822960"/>
          </a:xfrm>
          <a:prstGeom prst="roundRect">
            <a:avLst>
              <a:gd name="adj" fmla="val 6667"/>
            </a:avLst>
          </a:prstGeom>
          <a:solidFill>
            <a:srgbClr val="EAF4EE"/>
          </a:solidFill>
          <a:ln w="10160">
            <a:solidFill>
              <a:srgbClr val="1A6B3C"/>
            </a:solidFill>
            <a:prstDash val="solid"/>
          </a:ln>
        </p:spPr>
      </p:sp>
      <p:sp>
        <p:nvSpPr>
          <p:cNvPr id="9" name="Text 7"/>
          <p:cNvSpPr/>
          <p:nvPr/>
        </p:nvSpPr>
        <p:spPr>
          <a:xfrm>
            <a:off x="6272784" y="1115568"/>
            <a:ext cx="2432304" cy="749808"/>
          </a:xfrm>
          <a:prstGeom prst="rect">
            <a:avLst/>
          </a:prstGeom>
          <a:noFill/>
          <a:ln/>
        </p:spPr>
        <p:txBody>
          <a:bodyPr wrap="square" lIns="0" tIns="0" rIns="0" bIns="0" rtlCol="0" anchor="ctr"/>
          <a:lstStyle/>
          <a:p>
            <a:pPr indent="0" marL="0">
              <a:buNone/>
            </a:pPr>
            <a:r>
              <a:rPr lang="en-US" sz="800" b="1" dirty="0">
                <a:solidFill>
                  <a:srgbClr val="1A6B3C"/>
                </a:solidFill>
                <a:latin typeface="Calibri" pitchFamily="34" charset="0"/>
                <a:ea typeface="Calibri" pitchFamily="34" charset="-122"/>
                <a:cs typeface="Calibri" pitchFamily="34" charset="-120"/>
              </a:rPr>
              <a:t>Answer: </a:t>
            </a:r>
            <a:pPr indent="0" marL="0">
              <a:buNone/>
            </a:pPr>
            <a:r>
              <a:rPr lang="en-US" sz="800" dirty="0">
                <a:solidFill>
                  <a:srgbClr val="1E3A2E"/>
                </a:solidFill>
                <a:latin typeface="Calibri" pitchFamily="34" charset="0"/>
                <a:ea typeface="Calibri" pitchFamily="34" charset="-122"/>
                <a:cs typeface="Calibri" pitchFamily="34" charset="-120"/>
              </a:rPr>
              <a:t>Cause: Data entry error or miscoding. Options: (1) Correct the value if the original questionnaire form can be checked. (2) Recode to a declared missing value (e.g., 9=Invalid) and declare 9 as missing in Variable View. (3) Delete the case if it cannot be verified. Document the decision in the data log.</a:t>
            </a:r>
            <a:endParaRPr lang="en-US" sz="800" dirty="0"/>
          </a:p>
        </p:txBody>
      </p:sp>
      <p:sp>
        <p:nvSpPr>
          <p:cNvPr id="10" name="Shape 8"/>
          <p:cNvSpPr/>
          <p:nvPr/>
        </p:nvSpPr>
        <p:spPr>
          <a:xfrm>
            <a:off x="256032" y="2048256"/>
            <a:ext cx="8631936" cy="950976"/>
          </a:xfrm>
          <a:prstGeom prst="roundRect">
            <a:avLst>
              <a:gd name="adj" fmla="val 7692"/>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329184" y="2139696"/>
            <a:ext cx="347472" cy="347472"/>
          </a:xfrm>
          <a:prstGeom prst="ellipse">
            <a:avLst/>
          </a:prstGeom>
          <a:solidFill>
            <a:srgbClr val="0B2218"/>
          </a:solidFill>
          <a:ln w="12700">
            <a:solidFill>
              <a:srgbClr val="0B2218"/>
            </a:solidFill>
            <a:prstDash val="solid"/>
          </a:ln>
        </p:spPr>
      </p:sp>
      <p:sp>
        <p:nvSpPr>
          <p:cNvPr id="12" name="Text 10"/>
          <p:cNvSpPr/>
          <p:nvPr/>
        </p:nvSpPr>
        <p:spPr>
          <a:xfrm>
            <a:off x="329184" y="2139696"/>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Q2</a:t>
            </a:r>
            <a:endParaRPr lang="en-US" sz="1000" dirty="0"/>
          </a:p>
        </p:txBody>
      </p:sp>
      <p:sp>
        <p:nvSpPr>
          <p:cNvPr id="13" name="Text 11"/>
          <p:cNvSpPr/>
          <p:nvPr/>
        </p:nvSpPr>
        <p:spPr>
          <a:xfrm>
            <a:off x="768096" y="2103120"/>
            <a:ext cx="5321808" cy="822960"/>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You need to combine UAC Foods survey data from three regional offices into one dataset. The variables are identical across all three files. Which SPSS command do you use and what must be true about all three files before merging?</a:t>
            </a:r>
            <a:endParaRPr lang="en-US" sz="950" dirty="0"/>
          </a:p>
        </p:txBody>
      </p:sp>
      <p:sp>
        <p:nvSpPr>
          <p:cNvPr id="14" name="Shape 12"/>
          <p:cNvSpPr/>
          <p:nvPr/>
        </p:nvSpPr>
        <p:spPr>
          <a:xfrm>
            <a:off x="6199632" y="2103120"/>
            <a:ext cx="2578608" cy="822960"/>
          </a:xfrm>
          <a:prstGeom prst="roundRect">
            <a:avLst>
              <a:gd name="adj" fmla="val 6667"/>
            </a:avLst>
          </a:prstGeom>
          <a:solidFill>
            <a:srgbClr val="EAF4EE"/>
          </a:solidFill>
          <a:ln w="10160">
            <a:solidFill>
              <a:srgbClr val="1A6B3C"/>
            </a:solidFill>
            <a:prstDash val="solid"/>
          </a:ln>
        </p:spPr>
      </p:sp>
      <p:sp>
        <p:nvSpPr>
          <p:cNvPr id="15" name="Text 13"/>
          <p:cNvSpPr/>
          <p:nvPr/>
        </p:nvSpPr>
        <p:spPr>
          <a:xfrm>
            <a:off x="6272784" y="2139696"/>
            <a:ext cx="2432304" cy="749808"/>
          </a:xfrm>
          <a:prstGeom prst="rect">
            <a:avLst/>
          </a:prstGeom>
          <a:noFill/>
          <a:ln/>
        </p:spPr>
        <p:txBody>
          <a:bodyPr wrap="square" lIns="0" tIns="0" rIns="0" bIns="0" rtlCol="0" anchor="ctr"/>
          <a:lstStyle/>
          <a:p>
            <a:pPr indent="0" marL="0">
              <a:buNone/>
            </a:pPr>
            <a:r>
              <a:rPr lang="en-US" sz="800" b="1" dirty="0">
                <a:solidFill>
                  <a:srgbClr val="1A6B3C"/>
                </a:solidFill>
                <a:latin typeface="Calibri" pitchFamily="34" charset="0"/>
                <a:ea typeface="Calibri" pitchFamily="34" charset="-122"/>
                <a:cs typeface="Calibri" pitchFamily="34" charset="-120"/>
              </a:rPr>
              <a:t>Answer: </a:t>
            </a:r>
            <a:pPr indent="0" marL="0">
              <a:buNone/>
            </a:pPr>
            <a:r>
              <a:rPr lang="en-US" sz="800" dirty="0">
                <a:solidFill>
                  <a:srgbClr val="1E3A2E"/>
                </a:solidFill>
                <a:latin typeface="Calibri" pitchFamily="34" charset="0"/>
                <a:ea typeface="Calibri" pitchFamily="34" charset="-122"/>
                <a:cs typeface="Calibri" pitchFamily="34" charset="-120"/>
              </a:rPr>
              <a:t>Use Data &gt; Merge Files &gt; Add Cases (stacking datasets with same variables). All files must have: identical variable names AND identical variable types (both Numeric or both String for matching variables). Mismatched types cause variables to appear as separate unmatched columns.</a:t>
            </a:r>
            <a:endParaRPr lang="en-US" sz="800" dirty="0"/>
          </a:p>
        </p:txBody>
      </p:sp>
      <p:sp>
        <p:nvSpPr>
          <p:cNvPr id="16" name="Shape 14"/>
          <p:cNvSpPr/>
          <p:nvPr/>
        </p:nvSpPr>
        <p:spPr>
          <a:xfrm>
            <a:off x="256032" y="3072384"/>
            <a:ext cx="8631936" cy="950976"/>
          </a:xfrm>
          <a:prstGeom prst="roundRect">
            <a:avLst>
              <a:gd name="adj" fmla="val 7692"/>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29184" y="3163824"/>
            <a:ext cx="347472" cy="347472"/>
          </a:xfrm>
          <a:prstGeom prst="ellipse">
            <a:avLst/>
          </a:prstGeom>
          <a:solidFill>
            <a:srgbClr val="0B2218"/>
          </a:solidFill>
          <a:ln w="12700">
            <a:solidFill>
              <a:srgbClr val="0B2218"/>
            </a:solidFill>
            <a:prstDash val="solid"/>
          </a:ln>
        </p:spPr>
      </p:sp>
      <p:sp>
        <p:nvSpPr>
          <p:cNvPr id="18" name="Text 16"/>
          <p:cNvSpPr/>
          <p:nvPr/>
        </p:nvSpPr>
        <p:spPr>
          <a:xfrm>
            <a:off x="329184" y="3163824"/>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Q3</a:t>
            </a:r>
            <a:endParaRPr lang="en-US" sz="1000" dirty="0"/>
          </a:p>
        </p:txBody>
      </p:sp>
      <p:sp>
        <p:nvSpPr>
          <p:cNvPr id="19" name="Text 17"/>
          <p:cNvSpPr/>
          <p:nvPr/>
        </p:nvSpPr>
        <p:spPr>
          <a:xfrm>
            <a:off x="768096" y="3127248"/>
            <a:ext cx="5321808" cy="822960"/>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A researcher computed a satisfaction score as: COMPUTE sat_total = q1 + q2 + q3 + q4 + q5. However, Q5 was negatively worded ('UAC products are overpriced'). What is wrong and how do you fix it?</a:t>
            </a:r>
            <a:endParaRPr lang="en-US" sz="950" dirty="0"/>
          </a:p>
        </p:txBody>
      </p:sp>
      <p:sp>
        <p:nvSpPr>
          <p:cNvPr id="20" name="Shape 18"/>
          <p:cNvSpPr/>
          <p:nvPr/>
        </p:nvSpPr>
        <p:spPr>
          <a:xfrm>
            <a:off x="6199632" y="3127248"/>
            <a:ext cx="2578608" cy="822960"/>
          </a:xfrm>
          <a:prstGeom prst="roundRect">
            <a:avLst>
              <a:gd name="adj" fmla="val 6667"/>
            </a:avLst>
          </a:prstGeom>
          <a:solidFill>
            <a:srgbClr val="EAF4EE"/>
          </a:solidFill>
          <a:ln w="10160">
            <a:solidFill>
              <a:srgbClr val="1A6B3C"/>
            </a:solidFill>
            <a:prstDash val="solid"/>
          </a:ln>
        </p:spPr>
      </p:sp>
      <p:sp>
        <p:nvSpPr>
          <p:cNvPr id="21" name="Text 19"/>
          <p:cNvSpPr/>
          <p:nvPr/>
        </p:nvSpPr>
        <p:spPr>
          <a:xfrm>
            <a:off x="6272784" y="3163824"/>
            <a:ext cx="2432304" cy="749808"/>
          </a:xfrm>
          <a:prstGeom prst="rect">
            <a:avLst/>
          </a:prstGeom>
          <a:noFill/>
          <a:ln/>
        </p:spPr>
        <p:txBody>
          <a:bodyPr wrap="square" lIns="0" tIns="0" rIns="0" bIns="0" rtlCol="0" anchor="ctr"/>
          <a:lstStyle/>
          <a:p>
            <a:pPr indent="0" marL="0">
              <a:buNone/>
            </a:pPr>
            <a:r>
              <a:rPr lang="en-US" sz="800" b="1" dirty="0">
                <a:solidFill>
                  <a:srgbClr val="1A6B3C"/>
                </a:solidFill>
                <a:latin typeface="Calibri" pitchFamily="34" charset="0"/>
                <a:ea typeface="Calibri" pitchFamily="34" charset="-122"/>
                <a:cs typeface="Calibri" pitchFamily="34" charset="-120"/>
              </a:rPr>
              <a:t>Answer: </a:t>
            </a:r>
            <a:pPr indent="0" marL="0">
              <a:buNone/>
            </a:pPr>
            <a:r>
              <a:rPr lang="en-US" sz="800" dirty="0">
                <a:solidFill>
                  <a:srgbClr val="1E3A2E"/>
                </a:solidFill>
                <a:latin typeface="Calibri" pitchFamily="34" charset="0"/>
                <a:ea typeface="Calibri" pitchFamily="34" charset="-122"/>
                <a:cs typeface="Calibri" pitchFamily="34" charset="-120"/>
              </a:rPr>
              <a:t>Problem: Q5 is negatively worded - higher values indicate MORE dissatisfaction. Adding it directly inflates the score incorrectly and reduces internal consistency. Fix: First recode Q5 into q5_rev (1-&gt;5, 2-&gt;4, 3-&gt;3, 4-&gt;2, 5-&gt;1). Then compute: COMPUTE sat_total = q1 + q2 + q3 + q4 + q5_rev.</a:t>
            </a:r>
            <a:endParaRPr lang="en-US" sz="800" dirty="0"/>
          </a:p>
        </p:txBody>
      </p:sp>
      <p:sp>
        <p:nvSpPr>
          <p:cNvPr id="22" name="Shape 20"/>
          <p:cNvSpPr/>
          <p:nvPr/>
        </p:nvSpPr>
        <p:spPr>
          <a:xfrm>
            <a:off x="256032" y="4096512"/>
            <a:ext cx="8631936" cy="950976"/>
          </a:xfrm>
          <a:prstGeom prst="roundRect">
            <a:avLst>
              <a:gd name="adj" fmla="val 7692"/>
            </a:avLst>
          </a:prstGeom>
          <a:solidFill>
            <a:srgbClr val="FFFFFF"/>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329184" y="4187952"/>
            <a:ext cx="347472" cy="347472"/>
          </a:xfrm>
          <a:prstGeom prst="ellipse">
            <a:avLst/>
          </a:prstGeom>
          <a:solidFill>
            <a:srgbClr val="0B2218"/>
          </a:solidFill>
          <a:ln w="12700">
            <a:solidFill>
              <a:srgbClr val="0B2218"/>
            </a:solidFill>
            <a:prstDash val="solid"/>
          </a:ln>
        </p:spPr>
      </p:sp>
      <p:sp>
        <p:nvSpPr>
          <p:cNvPr id="24" name="Text 22"/>
          <p:cNvSpPr/>
          <p:nvPr/>
        </p:nvSpPr>
        <p:spPr>
          <a:xfrm>
            <a:off x="329184" y="4187952"/>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Q4</a:t>
            </a:r>
            <a:endParaRPr lang="en-US" sz="1000" dirty="0"/>
          </a:p>
        </p:txBody>
      </p:sp>
      <p:sp>
        <p:nvSpPr>
          <p:cNvPr id="25" name="Text 23"/>
          <p:cNvSpPr/>
          <p:nvPr/>
        </p:nvSpPr>
        <p:spPr>
          <a:xfrm>
            <a:off x="768096" y="4151376"/>
            <a:ext cx="5321808" cy="822960"/>
          </a:xfrm>
          <a:prstGeom prst="rect">
            <a:avLst/>
          </a:prstGeom>
          <a:noFill/>
          <a:ln/>
        </p:spPr>
        <p:txBody>
          <a:bodyPr wrap="square" lIns="0" tIns="0" rIns="0" bIns="0" rtlCol="0" anchor="ctr"/>
          <a:lstStyle/>
          <a:p>
            <a:pPr indent="0" marL="0">
              <a:buNone/>
            </a:pPr>
            <a:r>
              <a:rPr lang="en-US" sz="950" dirty="0">
                <a:solidFill>
                  <a:srgbClr val="1E3A2E"/>
                </a:solidFill>
                <a:latin typeface="Calibri" pitchFamily="34" charset="0"/>
                <a:ea typeface="Calibri" pitchFamily="34" charset="-122"/>
                <a:cs typeface="Calibri" pitchFamily="34" charset="-120"/>
              </a:rPr>
              <a:t>After merging two UAC Foods datasets using Add Variables, you notice that respondent E001 now has satisfaction data from respondent E003. What went wrong and how do you prevent this?</a:t>
            </a:r>
            <a:endParaRPr lang="en-US" sz="950" dirty="0"/>
          </a:p>
        </p:txBody>
      </p:sp>
      <p:sp>
        <p:nvSpPr>
          <p:cNvPr id="26" name="Shape 24"/>
          <p:cNvSpPr/>
          <p:nvPr/>
        </p:nvSpPr>
        <p:spPr>
          <a:xfrm>
            <a:off x="6199632" y="4151376"/>
            <a:ext cx="2578608" cy="822960"/>
          </a:xfrm>
          <a:prstGeom prst="roundRect">
            <a:avLst>
              <a:gd name="adj" fmla="val 6667"/>
            </a:avLst>
          </a:prstGeom>
          <a:solidFill>
            <a:srgbClr val="EAF4EE"/>
          </a:solidFill>
          <a:ln w="10160">
            <a:solidFill>
              <a:srgbClr val="1A6B3C"/>
            </a:solidFill>
            <a:prstDash val="solid"/>
          </a:ln>
        </p:spPr>
      </p:sp>
      <p:sp>
        <p:nvSpPr>
          <p:cNvPr id="27" name="Text 25"/>
          <p:cNvSpPr/>
          <p:nvPr/>
        </p:nvSpPr>
        <p:spPr>
          <a:xfrm>
            <a:off x="6272784" y="4187952"/>
            <a:ext cx="2432304" cy="749808"/>
          </a:xfrm>
          <a:prstGeom prst="rect">
            <a:avLst/>
          </a:prstGeom>
          <a:noFill/>
          <a:ln/>
        </p:spPr>
        <p:txBody>
          <a:bodyPr wrap="square" lIns="0" tIns="0" rIns="0" bIns="0" rtlCol="0" anchor="ctr"/>
          <a:lstStyle/>
          <a:p>
            <a:pPr indent="0" marL="0">
              <a:buNone/>
            </a:pPr>
            <a:r>
              <a:rPr lang="en-US" sz="800" b="1" dirty="0">
                <a:solidFill>
                  <a:srgbClr val="1A6B3C"/>
                </a:solidFill>
                <a:latin typeface="Calibri" pitchFamily="34" charset="0"/>
                <a:ea typeface="Calibri" pitchFamily="34" charset="-122"/>
                <a:cs typeface="Calibri" pitchFamily="34" charset="-120"/>
              </a:rPr>
              <a:t>Answer: </a:t>
            </a:r>
            <a:pPr indent="0" marL="0">
              <a:buNone/>
            </a:pPr>
            <a:r>
              <a:rPr lang="en-US" sz="800" dirty="0">
                <a:solidFill>
                  <a:srgbClr val="1E3A2E"/>
                </a:solidFill>
                <a:latin typeface="Calibri" pitchFamily="34" charset="0"/>
                <a:ea typeface="Calibri" pitchFamily="34" charset="-122"/>
                <a:cs typeface="Calibri" pitchFamily="34" charset="-120"/>
              </a:rPr>
              <a:t>Cause: The files were NOT sorted by the same key variable before merging. SPSS merges Add Variables by row position, not by ID, unless you specify a key variable. Prevention: Sort BOTH files by respondent_id (Data &gt; Sort Cases) BEFORE merging, AND tick 'Match cases on key variables' in the Merge dialog.</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A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218"/>
          </a:solidFill>
          <a:ln w="12700">
            <a:solidFill>
              <a:srgbClr val="0B2218"/>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Connecting to Module 3 - What Your Clean Data Enables</a:t>
            </a:r>
            <a:endParaRPr lang="en-US" sz="2200" dirty="0"/>
          </a:p>
        </p:txBody>
      </p:sp>
      <p:sp>
        <p:nvSpPr>
          <p:cNvPr id="4" name="Shape 2"/>
          <p:cNvSpPr/>
          <p:nvPr/>
        </p:nvSpPr>
        <p:spPr>
          <a:xfrm>
            <a:off x="256032" y="1005840"/>
            <a:ext cx="2029968" cy="1664208"/>
          </a:xfrm>
          <a:prstGeom prst="roundRect">
            <a:avLst>
              <a:gd name="adj" fmla="val 4945"/>
            </a:avLst>
          </a:prstGeom>
          <a:solidFill>
            <a:srgbClr val="FFFFFF"/>
          </a:solidFill>
          <a:ln w="12700">
            <a:solidFill>
              <a:srgbClr val="1B5CA0"/>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10896" y="1078992"/>
            <a:ext cx="1920240" cy="457200"/>
          </a:xfrm>
          <a:prstGeom prst="roundRect">
            <a:avLst>
              <a:gd name="adj" fmla="val 14000"/>
            </a:avLst>
          </a:prstGeom>
          <a:solidFill>
            <a:srgbClr val="1B5CA0"/>
          </a:solidFill>
          <a:ln w="12700">
            <a:solidFill>
              <a:srgbClr val="1B5CA0"/>
            </a:solidFill>
            <a:prstDash val="solid"/>
          </a:ln>
        </p:spPr>
      </p:sp>
      <p:sp>
        <p:nvSpPr>
          <p:cNvPr id="6" name="Text 4"/>
          <p:cNvSpPr/>
          <p:nvPr/>
        </p:nvSpPr>
        <p:spPr>
          <a:xfrm>
            <a:off x="310896" y="1078992"/>
            <a:ext cx="19202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Module 1</a:t>
            </a:r>
            <a:endParaRPr lang="en-US" sz="1100" dirty="0"/>
          </a:p>
        </p:txBody>
      </p:sp>
      <p:sp>
        <p:nvSpPr>
          <p:cNvPr id="7" name="Text 5"/>
          <p:cNvSpPr/>
          <p:nvPr/>
        </p:nvSpPr>
        <p:spPr>
          <a:xfrm>
            <a:off x="310896" y="1335024"/>
            <a:ext cx="1920240" cy="20116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Research Design</a:t>
            </a:r>
            <a:endParaRPr lang="en-US" sz="950" dirty="0"/>
          </a:p>
        </p:txBody>
      </p:sp>
      <p:sp>
        <p:nvSpPr>
          <p:cNvPr id="8" name="Text 6"/>
          <p:cNvSpPr/>
          <p:nvPr/>
        </p:nvSpPr>
        <p:spPr>
          <a:xfrm>
            <a:off x="347472" y="1600200"/>
            <a:ext cx="1847088" cy="896112"/>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Research questions, hypotheses, sampling plan - the WHY and WHO</a:t>
            </a:r>
            <a:endParaRPr lang="en-US" sz="900" dirty="0"/>
          </a:p>
        </p:txBody>
      </p:sp>
      <p:sp>
        <p:nvSpPr>
          <p:cNvPr id="9" name="Text 7"/>
          <p:cNvSpPr/>
          <p:nvPr/>
        </p:nvSpPr>
        <p:spPr>
          <a:xfrm>
            <a:off x="2304288" y="1554480"/>
            <a:ext cx="109728" cy="365760"/>
          </a:xfrm>
          <a:prstGeom prst="rect">
            <a:avLst/>
          </a:prstGeom>
          <a:noFill/>
          <a:ln/>
        </p:spPr>
        <p:txBody>
          <a:bodyPr wrap="square" lIns="0" tIns="0" rIns="0" bIns="0" rtlCol="0" anchor="ctr"/>
          <a:lstStyle/>
          <a:p>
            <a:pPr algn="ctr" indent="0" marL="0">
              <a:buNone/>
            </a:pPr>
            <a:r>
              <a:rPr lang="en-US" sz="2000" b="1" dirty="0">
                <a:solidFill>
                  <a:srgbClr val="1A6B3C"/>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432304" y="1005840"/>
            <a:ext cx="2029968" cy="1938528"/>
          </a:xfrm>
          <a:prstGeom prst="roundRect">
            <a:avLst>
              <a:gd name="adj" fmla="val 4245"/>
            </a:avLst>
          </a:prstGeom>
          <a:solidFill>
            <a:srgbClr val="1A6B3C"/>
          </a:solidFill>
          <a:ln w="25400">
            <a:solidFill>
              <a:srgbClr val="1A6B3C"/>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2487168" y="1078992"/>
            <a:ext cx="1920240" cy="457200"/>
          </a:xfrm>
          <a:prstGeom prst="roundRect">
            <a:avLst>
              <a:gd name="adj" fmla="val 14000"/>
            </a:avLst>
          </a:prstGeom>
          <a:solidFill>
            <a:srgbClr val="1A6B3C"/>
          </a:solidFill>
          <a:ln w="12700">
            <a:solidFill>
              <a:srgbClr val="1A6B3C"/>
            </a:solidFill>
            <a:prstDash val="solid"/>
          </a:ln>
        </p:spPr>
      </p:sp>
      <p:sp>
        <p:nvSpPr>
          <p:cNvPr id="12" name="Text 10"/>
          <p:cNvSpPr/>
          <p:nvPr/>
        </p:nvSpPr>
        <p:spPr>
          <a:xfrm>
            <a:off x="2487168" y="1078992"/>
            <a:ext cx="19202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Module 2</a:t>
            </a:r>
            <a:endParaRPr lang="en-US" sz="1100" dirty="0"/>
          </a:p>
        </p:txBody>
      </p:sp>
      <p:sp>
        <p:nvSpPr>
          <p:cNvPr id="13" name="Text 11"/>
          <p:cNvSpPr/>
          <p:nvPr/>
        </p:nvSpPr>
        <p:spPr>
          <a:xfrm>
            <a:off x="2487168" y="1335024"/>
            <a:ext cx="1920240" cy="20116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Data Management</a:t>
            </a:r>
            <a:endParaRPr lang="en-US" sz="950" dirty="0"/>
          </a:p>
        </p:txBody>
      </p:sp>
      <p:sp>
        <p:nvSpPr>
          <p:cNvPr id="14" name="Text 12"/>
          <p:cNvSpPr/>
          <p:nvPr/>
        </p:nvSpPr>
        <p:spPr>
          <a:xfrm>
            <a:off x="2523744" y="1600200"/>
            <a:ext cx="1847088" cy="89611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Entry, validation, recoding, merging - the WHAT and HOW of data preparation</a:t>
            </a:r>
            <a:endParaRPr lang="en-US" sz="900" dirty="0"/>
          </a:p>
        </p:txBody>
      </p:sp>
      <p:sp>
        <p:nvSpPr>
          <p:cNvPr id="15" name="Text 13"/>
          <p:cNvSpPr/>
          <p:nvPr/>
        </p:nvSpPr>
        <p:spPr>
          <a:xfrm>
            <a:off x="2523744" y="2487168"/>
            <a:ext cx="1847088" cy="274320"/>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YOU ARE HERE</a:t>
            </a:r>
            <a:endParaRPr lang="en-US" sz="900" dirty="0"/>
          </a:p>
        </p:txBody>
      </p:sp>
      <p:sp>
        <p:nvSpPr>
          <p:cNvPr id="16" name="Text 14"/>
          <p:cNvSpPr/>
          <p:nvPr/>
        </p:nvSpPr>
        <p:spPr>
          <a:xfrm>
            <a:off x="4480560" y="1554480"/>
            <a:ext cx="109728" cy="365760"/>
          </a:xfrm>
          <a:prstGeom prst="rect">
            <a:avLst/>
          </a:prstGeom>
          <a:noFill/>
          <a:ln/>
        </p:spPr>
        <p:txBody>
          <a:bodyPr wrap="square" lIns="0" tIns="0" rIns="0" bIns="0" rtlCol="0" anchor="ctr"/>
          <a:lstStyle/>
          <a:p>
            <a:pPr algn="ctr" indent="0" marL="0">
              <a:buNone/>
            </a:pPr>
            <a:r>
              <a:rPr lang="en-US" sz="2000" b="1" dirty="0">
                <a:solidFill>
                  <a:srgbClr val="1A6B3C"/>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4608576" y="1005840"/>
            <a:ext cx="2029968" cy="1664208"/>
          </a:xfrm>
          <a:prstGeom prst="roundRect">
            <a:avLst>
              <a:gd name="adj" fmla="val 4945"/>
            </a:avLst>
          </a:prstGeom>
          <a:solidFill>
            <a:srgbClr val="FFFFFF"/>
          </a:solidFill>
          <a:ln w="12700">
            <a:solidFill>
              <a:srgbClr val="E67E22"/>
            </a:solidFill>
            <a:prstDash val="solid"/>
          </a:ln>
          <a:effectLst>
            <a:outerShdw sx="100000" sy="100000" kx="0" ky="0" algn="bl" rotWithShape="0" blurRad="76200" dist="25400" dir="2700000">
              <a:srgbClr val="000000">
                <a:alpha val="12000"/>
              </a:srgbClr>
            </a:outerShdw>
          </a:effectLst>
        </p:spPr>
      </p:sp>
      <p:sp>
        <p:nvSpPr>
          <p:cNvPr id="18" name="Shape 16"/>
          <p:cNvSpPr/>
          <p:nvPr/>
        </p:nvSpPr>
        <p:spPr>
          <a:xfrm>
            <a:off x="4663440" y="1078992"/>
            <a:ext cx="1920240" cy="457200"/>
          </a:xfrm>
          <a:prstGeom prst="roundRect">
            <a:avLst>
              <a:gd name="adj" fmla="val 14000"/>
            </a:avLst>
          </a:prstGeom>
          <a:solidFill>
            <a:srgbClr val="E67E22"/>
          </a:solidFill>
          <a:ln w="12700">
            <a:solidFill>
              <a:srgbClr val="E67E22"/>
            </a:solidFill>
            <a:prstDash val="solid"/>
          </a:ln>
        </p:spPr>
      </p:sp>
      <p:sp>
        <p:nvSpPr>
          <p:cNvPr id="19" name="Text 17"/>
          <p:cNvSpPr/>
          <p:nvPr/>
        </p:nvSpPr>
        <p:spPr>
          <a:xfrm>
            <a:off x="4663440" y="1078992"/>
            <a:ext cx="19202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Module 3</a:t>
            </a:r>
            <a:endParaRPr lang="en-US" sz="1100" dirty="0"/>
          </a:p>
        </p:txBody>
      </p:sp>
      <p:sp>
        <p:nvSpPr>
          <p:cNvPr id="20" name="Text 18"/>
          <p:cNvSpPr/>
          <p:nvPr/>
        </p:nvSpPr>
        <p:spPr>
          <a:xfrm>
            <a:off x="4663440" y="1335024"/>
            <a:ext cx="1920240" cy="20116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Descriptive Statistics</a:t>
            </a:r>
            <a:endParaRPr lang="en-US" sz="950" dirty="0"/>
          </a:p>
        </p:txBody>
      </p:sp>
      <p:sp>
        <p:nvSpPr>
          <p:cNvPr id="21" name="Text 19"/>
          <p:cNvSpPr/>
          <p:nvPr/>
        </p:nvSpPr>
        <p:spPr>
          <a:xfrm>
            <a:off x="4700016" y="1600200"/>
            <a:ext cx="1847088" cy="896112"/>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Frequencies, means, distributions, charts - DESCRIBING what you have</a:t>
            </a:r>
            <a:endParaRPr lang="en-US" sz="900" dirty="0"/>
          </a:p>
        </p:txBody>
      </p:sp>
      <p:sp>
        <p:nvSpPr>
          <p:cNvPr id="22" name="Text 20"/>
          <p:cNvSpPr/>
          <p:nvPr/>
        </p:nvSpPr>
        <p:spPr>
          <a:xfrm>
            <a:off x="6656832" y="1554480"/>
            <a:ext cx="109728" cy="365760"/>
          </a:xfrm>
          <a:prstGeom prst="rect">
            <a:avLst/>
          </a:prstGeom>
          <a:noFill/>
          <a:ln/>
        </p:spPr>
        <p:txBody>
          <a:bodyPr wrap="square" lIns="0" tIns="0" rIns="0" bIns="0" rtlCol="0" anchor="ctr"/>
          <a:lstStyle/>
          <a:p>
            <a:pPr algn="ctr" indent="0" marL="0">
              <a:buNone/>
            </a:pPr>
            <a:r>
              <a:rPr lang="en-US" sz="2000" b="1" dirty="0">
                <a:solidFill>
                  <a:srgbClr val="1A6B3C"/>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6784848" y="1005840"/>
            <a:ext cx="2029968" cy="1664208"/>
          </a:xfrm>
          <a:prstGeom prst="roundRect">
            <a:avLst>
              <a:gd name="adj" fmla="val 4945"/>
            </a:avLst>
          </a:prstGeom>
          <a:solidFill>
            <a:srgbClr val="FFFFFF"/>
          </a:solidFill>
          <a:ln w="12700">
            <a:solidFill>
              <a:srgbClr val="5B2D8E"/>
            </a:solidFill>
            <a:prstDash val="solid"/>
          </a:ln>
          <a:effectLst>
            <a:outerShdw sx="100000" sy="100000" kx="0" ky="0" algn="bl" rotWithShape="0" blurRad="76200" dist="25400" dir="2700000">
              <a:srgbClr val="000000">
                <a:alpha val="12000"/>
              </a:srgbClr>
            </a:outerShdw>
          </a:effectLst>
        </p:spPr>
      </p:sp>
      <p:sp>
        <p:nvSpPr>
          <p:cNvPr id="24" name="Shape 22"/>
          <p:cNvSpPr/>
          <p:nvPr/>
        </p:nvSpPr>
        <p:spPr>
          <a:xfrm>
            <a:off x="6839712" y="1078992"/>
            <a:ext cx="1920240" cy="457200"/>
          </a:xfrm>
          <a:prstGeom prst="roundRect">
            <a:avLst>
              <a:gd name="adj" fmla="val 14000"/>
            </a:avLst>
          </a:prstGeom>
          <a:solidFill>
            <a:srgbClr val="5B2D8E"/>
          </a:solidFill>
          <a:ln w="12700">
            <a:solidFill>
              <a:srgbClr val="5B2D8E"/>
            </a:solidFill>
            <a:prstDash val="solid"/>
          </a:ln>
        </p:spPr>
      </p:sp>
      <p:sp>
        <p:nvSpPr>
          <p:cNvPr id="25" name="Text 23"/>
          <p:cNvSpPr/>
          <p:nvPr/>
        </p:nvSpPr>
        <p:spPr>
          <a:xfrm>
            <a:off x="6839712" y="1078992"/>
            <a:ext cx="19202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Modules 4-5</a:t>
            </a:r>
            <a:endParaRPr lang="en-US" sz="1100" dirty="0"/>
          </a:p>
        </p:txBody>
      </p:sp>
      <p:sp>
        <p:nvSpPr>
          <p:cNvPr id="26" name="Text 24"/>
          <p:cNvSpPr/>
          <p:nvPr/>
        </p:nvSpPr>
        <p:spPr>
          <a:xfrm>
            <a:off x="6839712" y="1335024"/>
            <a:ext cx="1920240" cy="20116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Inferential Statistics</a:t>
            </a:r>
            <a:endParaRPr lang="en-US" sz="950" dirty="0"/>
          </a:p>
        </p:txBody>
      </p:sp>
      <p:sp>
        <p:nvSpPr>
          <p:cNvPr id="27" name="Text 25"/>
          <p:cNvSpPr/>
          <p:nvPr/>
        </p:nvSpPr>
        <p:spPr>
          <a:xfrm>
            <a:off x="6876288" y="1600200"/>
            <a:ext cx="1847088" cy="896112"/>
          </a:xfrm>
          <a:prstGeom prst="rect">
            <a:avLst/>
          </a:prstGeom>
          <a:noFill/>
          <a:ln/>
        </p:spPr>
        <p:txBody>
          <a:bodyPr wrap="square" lIns="0" tIns="0" rIns="0" bIns="0" rtlCol="0" anchor="ctr"/>
          <a:lstStyle/>
          <a:p>
            <a:pPr indent="0" marL="0">
              <a:buNone/>
            </a:pPr>
            <a:r>
              <a:rPr lang="en-US" sz="900" dirty="0">
                <a:solidFill>
                  <a:srgbClr val="1E3A2E"/>
                </a:solidFill>
                <a:latin typeface="Calibri" pitchFamily="34" charset="0"/>
                <a:ea typeface="Calibri" pitchFamily="34" charset="-122"/>
                <a:cs typeface="Calibri" pitchFamily="34" charset="-120"/>
              </a:rPr>
              <a:t>T-tests, ANOVA, regression, chi-square - TESTING hypotheses and drawing conclusions</a:t>
            </a:r>
            <a:endParaRPr lang="en-US" sz="900" dirty="0"/>
          </a:p>
        </p:txBody>
      </p:sp>
      <p:sp>
        <p:nvSpPr>
          <p:cNvPr id="28" name="Shape 26"/>
          <p:cNvSpPr/>
          <p:nvPr/>
        </p:nvSpPr>
        <p:spPr>
          <a:xfrm>
            <a:off x="256032" y="3063240"/>
            <a:ext cx="8631936" cy="1920240"/>
          </a:xfrm>
          <a:prstGeom prst="roundRect">
            <a:avLst>
              <a:gd name="adj" fmla="val 3810"/>
            </a:avLst>
          </a:prstGeom>
          <a:solidFill>
            <a:srgbClr val="EAF4EE"/>
          </a:solidFill>
          <a:ln w="6350">
            <a:solidFill>
              <a:srgbClr val="C8E6D4"/>
            </a:solidFill>
            <a:prstDash val="solid"/>
          </a:ln>
          <a:effectLst>
            <a:outerShdw sx="100000" sy="100000" kx="0" ky="0" algn="bl" rotWithShape="0" blurRad="76200" dist="25400" dir="2700000">
              <a:srgbClr val="000000">
                <a:alpha val="12000"/>
              </a:srgbClr>
            </a:outerShdw>
          </a:effectLst>
        </p:spPr>
      </p:sp>
      <p:sp>
        <p:nvSpPr>
          <p:cNvPr id="29" name="Text 27"/>
          <p:cNvSpPr/>
          <p:nvPr/>
        </p:nvSpPr>
        <p:spPr>
          <a:xfrm>
            <a:off x="384048" y="3127248"/>
            <a:ext cx="8321040" cy="274320"/>
          </a:xfrm>
          <a:prstGeom prst="rect">
            <a:avLst/>
          </a:prstGeom>
          <a:noFill/>
          <a:ln/>
        </p:spPr>
        <p:txBody>
          <a:bodyPr wrap="square" lIns="0" tIns="0" rIns="0" bIns="0" rtlCol="0" anchor="ctr"/>
          <a:lstStyle/>
          <a:p>
            <a:pPr indent="0" marL="0">
              <a:buNone/>
            </a:pPr>
            <a:r>
              <a:rPr lang="en-US" sz="1200" b="1" dirty="0">
                <a:solidFill>
                  <a:srgbClr val="0B2218"/>
                </a:solidFill>
                <a:latin typeface="Calibri" pitchFamily="34" charset="0"/>
                <a:ea typeface="Calibri" pitchFamily="34" charset="-122"/>
                <a:cs typeface="Calibri" pitchFamily="34" charset="-120"/>
              </a:rPr>
              <a:t>What Module 3 Needs from Module 2 - the Clean UAC Foods Dataset:</a:t>
            </a:r>
            <a:endParaRPr lang="en-US" sz="1200" dirty="0"/>
          </a:p>
        </p:txBody>
      </p:sp>
      <p:sp>
        <p:nvSpPr>
          <p:cNvPr id="30" name="Shape 28"/>
          <p:cNvSpPr/>
          <p:nvPr/>
        </p:nvSpPr>
        <p:spPr>
          <a:xfrm>
            <a:off x="365760" y="3456432"/>
            <a:ext cx="2011680" cy="493776"/>
          </a:xfrm>
          <a:prstGeom prst="roundRect">
            <a:avLst>
              <a:gd name="adj" fmla="val 9259"/>
            </a:avLst>
          </a:prstGeom>
          <a:solidFill>
            <a:srgbClr val="FFFFFF"/>
          </a:solidFill>
          <a:ln w="10160">
            <a:solidFill>
              <a:srgbClr val="B8DFC8"/>
            </a:solidFill>
            <a:prstDash val="solid"/>
          </a:ln>
        </p:spPr>
      </p:sp>
      <p:sp>
        <p:nvSpPr>
          <p:cNvPr id="31" name="Text 29"/>
          <p:cNvSpPr/>
          <p:nvPr/>
        </p:nvSpPr>
        <p:spPr>
          <a:xfrm>
            <a:off x="438912" y="3493008"/>
            <a:ext cx="1865376" cy="219456"/>
          </a:xfrm>
          <a:prstGeom prst="rect">
            <a:avLst/>
          </a:prstGeom>
          <a:noFill/>
          <a:ln/>
        </p:spPr>
        <p:txBody>
          <a:bodyPr wrap="square" lIns="0" tIns="0" rIns="0" bIns="0" rtlCol="0" anchor="ctr"/>
          <a:lstStyle/>
          <a:p>
            <a:pPr indent="0" marL="0">
              <a:buNone/>
            </a:pPr>
            <a:r>
              <a:rPr lang="en-US" sz="950" b="1" dirty="0">
                <a:solidFill>
                  <a:srgbClr val="1A6B3C"/>
                </a:solidFill>
                <a:latin typeface="Calibri" pitchFamily="34" charset="0"/>
                <a:ea typeface="Calibri" pitchFamily="34" charset="-122"/>
                <a:cs typeface="Calibri" pitchFamily="34" charset="-120"/>
              </a:rPr>
              <a:t>respondent_id</a:t>
            </a:r>
            <a:endParaRPr lang="en-US" sz="950" dirty="0"/>
          </a:p>
        </p:txBody>
      </p:sp>
      <p:sp>
        <p:nvSpPr>
          <p:cNvPr id="32" name="Text 30"/>
          <p:cNvSpPr/>
          <p:nvPr/>
        </p:nvSpPr>
        <p:spPr>
          <a:xfrm>
            <a:off x="438912" y="3712464"/>
            <a:ext cx="1865376"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Identifying duplicates, case tracking</a:t>
            </a:r>
            <a:endParaRPr lang="en-US" sz="850" dirty="0"/>
          </a:p>
        </p:txBody>
      </p:sp>
      <p:sp>
        <p:nvSpPr>
          <p:cNvPr id="33" name="Shape 31"/>
          <p:cNvSpPr/>
          <p:nvPr/>
        </p:nvSpPr>
        <p:spPr>
          <a:xfrm>
            <a:off x="2542032" y="3456432"/>
            <a:ext cx="2011680" cy="493776"/>
          </a:xfrm>
          <a:prstGeom prst="roundRect">
            <a:avLst>
              <a:gd name="adj" fmla="val 9259"/>
            </a:avLst>
          </a:prstGeom>
          <a:solidFill>
            <a:srgbClr val="FFFFFF"/>
          </a:solidFill>
          <a:ln w="10160">
            <a:solidFill>
              <a:srgbClr val="B8DFC8"/>
            </a:solidFill>
            <a:prstDash val="solid"/>
          </a:ln>
        </p:spPr>
      </p:sp>
      <p:sp>
        <p:nvSpPr>
          <p:cNvPr id="34" name="Text 32"/>
          <p:cNvSpPr/>
          <p:nvPr/>
        </p:nvSpPr>
        <p:spPr>
          <a:xfrm>
            <a:off x="2615184" y="3493008"/>
            <a:ext cx="1865376" cy="219456"/>
          </a:xfrm>
          <a:prstGeom prst="rect">
            <a:avLst/>
          </a:prstGeom>
          <a:noFill/>
          <a:ln/>
        </p:spPr>
        <p:txBody>
          <a:bodyPr wrap="square" lIns="0" tIns="0" rIns="0" bIns="0" rtlCol="0" anchor="ctr"/>
          <a:lstStyle/>
          <a:p>
            <a:pPr indent="0" marL="0">
              <a:buNone/>
            </a:pPr>
            <a:r>
              <a:rPr lang="en-US" sz="950" b="1" dirty="0">
                <a:solidFill>
                  <a:srgbClr val="1A6B3C"/>
                </a:solidFill>
                <a:latin typeface="Calibri" pitchFamily="34" charset="0"/>
                <a:ea typeface="Calibri" pitchFamily="34" charset="-122"/>
                <a:cs typeface="Calibri" pitchFamily="34" charset="-120"/>
              </a:rPr>
              <a:t>gender (Nominal)</a:t>
            </a:r>
            <a:endParaRPr lang="en-US" sz="950" dirty="0"/>
          </a:p>
        </p:txBody>
      </p:sp>
      <p:sp>
        <p:nvSpPr>
          <p:cNvPr id="35" name="Text 33"/>
          <p:cNvSpPr/>
          <p:nvPr/>
        </p:nvSpPr>
        <p:spPr>
          <a:xfrm>
            <a:off x="2615184" y="3712464"/>
            <a:ext cx="1865376"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Split File and group comparisons in chi-square, t-tests</a:t>
            </a:r>
            <a:endParaRPr lang="en-US" sz="850" dirty="0"/>
          </a:p>
        </p:txBody>
      </p:sp>
      <p:sp>
        <p:nvSpPr>
          <p:cNvPr id="36" name="Shape 34"/>
          <p:cNvSpPr/>
          <p:nvPr/>
        </p:nvSpPr>
        <p:spPr>
          <a:xfrm>
            <a:off x="4718304" y="3456432"/>
            <a:ext cx="2011680" cy="493776"/>
          </a:xfrm>
          <a:prstGeom prst="roundRect">
            <a:avLst>
              <a:gd name="adj" fmla="val 9259"/>
            </a:avLst>
          </a:prstGeom>
          <a:solidFill>
            <a:srgbClr val="FFFFFF"/>
          </a:solidFill>
          <a:ln w="10160">
            <a:solidFill>
              <a:srgbClr val="B8DFC8"/>
            </a:solidFill>
            <a:prstDash val="solid"/>
          </a:ln>
        </p:spPr>
      </p:sp>
      <p:sp>
        <p:nvSpPr>
          <p:cNvPr id="37" name="Text 35"/>
          <p:cNvSpPr/>
          <p:nvPr/>
        </p:nvSpPr>
        <p:spPr>
          <a:xfrm>
            <a:off x="4791456" y="3493008"/>
            <a:ext cx="1865376" cy="219456"/>
          </a:xfrm>
          <a:prstGeom prst="rect">
            <a:avLst/>
          </a:prstGeom>
          <a:noFill/>
          <a:ln/>
        </p:spPr>
        <p:txBody>
          <a:bodyPr wrap="square" lIns="0" tIns="0" rIns="0" bIns="0" rtlCol="0" anchor="ctr"/>
          <a:lstStyle/>
          <a:p>
            <a:pPr indent="0" marL="0">
              <a:buNone/>
            </a:pPr>
            <a:r>
              <a:rPr lang="en-US" sz="950" b="1" dirty="0">
                <a:solidFill>
                  <a:srgbClr val="1A6B3C"/>
                </a:solidFill>
                <a:latin typeface="Calibri" pitchFamily="34" charset="0"/>
                <a:ea typeface="Calibri" pitchFamily="34" charset="-122"/>
                <a:cs typeface="Calibri" pitchFamily="34" charset="-120"/>
              </a:rPr>
              <a:t>age_group (Ordinal)</a:t>
            </a:r>
            <a:endParaRPr lang="en-US" sz="950" dirty="0"/>
          </a:p>
        </p:txBody>
      </p:sp>
      <p:sp>
        <p:nvSpPr>
          <p:cNvPr id="38" name="Text 36"/>
          <p:cNvSpPr/>
          <p:nvPr/>
        </p:nvSpPr>
        <p:spPr>
          <a:xfrm>
            <a:off x="4791456" y="3712464"/>
            <a:ext cx="1865376"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Cross-tabulation, ANOVA grouping variable</a:t>
            </a:r>
            <a:endParaRPr lang="en-US" sz="850" dirty="0"/>
          </a:p>
        </p:txBody>
      </p:sp>
      <p:sp>
        <p:nvSpPr>
          <p:cNvPr id="39" name="Shape 37"/>
          <p:cNvSpPr/>
          <p:nvPr/>
        </p:nvSpPr>
        <p:spPr>
          <a:xfrm>
            <a:off x="6894576" y="3456432"/>
            <a:ext cx="2011680" cy="493776"/>
          </a:xfrm>
          <a:prstGeom prst="roundRect">
            <a:avLst>
              <a:gd name="adj" fmla="val 9259"/>
            </a:avLst>
          </a:prstGeom>
          <a:solidFill>
            <a:srgbClr val="FFFFFF"/>
          </a:solidFill>
          <a:ln w="10160">
            <a:solidFill>
              <a:srgbClr val="B8DFC8"/>
            </a:solidFill>
            <a:prstDash val="solid"/>
          </a:ln>
        </p:spPr>
      </p:sp>
      <p:sp>
        <p:nvSpPr>
          <p:cNvPr id="40" name="Text 38"/>
          <p:cNvSpPr/>
          <p:nvPr/>
        </p:nvSpPr>
        <p:spPr>
          <a:xfrm>
            <a:off x="6967728" y="3493008"/>
            <a:ext cx="1865376" cy="219456"/>
          </a:xfrm>
          <a:prstGeom prst="rect">
            <a:avLst/>
          </a:prstGeom>
          <a:noFill/>
          <a:ln/>
        </p:spPr>
        <p:txBody>
          <a:bodyPr wrap="square" lIns="0" tIns="0" rIns="0" bIns="0" rtlCol="0" anchor="ctr"/>
          <a:lstStyle/>
          <a:p>
            <a:pPr indent="0" marL="0">
              <a:buNone/>
            </a:pPr>
            <a:r>
              <a:rPr lang="en-US" sz="950" b="1" dirty="0">
                <a:solidFill>
                  <a:srgbClr val="1A6B3C"/>
                </a:solidFill>
                <a:latin typeface="Calibri" pitchFamily="34" charset="0"/>
                <a:ea typeface="Calibri" pitchFamily="34" charset="-122"/>
                <a:cs typeface="Calibri" pitchFamily="34" charset="-120"/>
              </a:rPr>
              <a:t>education_level (Ordinal)</a:t>
            </a:r>
            <a:endParaRPr lang="en-US" sz="950" dirty="0"/>
          </a:p>
        </p:txBody>
      </p:sp>
      <p:sp>
        <p:nvSpPr>
          <p:cNvPr id="41" name="Text 39"/>
          <p:cNvSpPr/>
          <p:nvPr/>
        </p:nvSpPr>
        <p:spPr>
          <a:xfrm>
            <a:off x="6967728" y="3712464"/>
            <a:ext cx="1865376"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Crosstabs, ordinal regression</a:t>
            </a:r>
            <a:endParaRPr lang="en-US" sz="850" dirty="0"/>
          </a:p>
        </p:txBody>
      </p:sp>
      <p:sp>
        <p:nvSpPr>
          <p:cNvPr id="42" name="Shape 40"/>
          <p:cNvSpPr/>
          <p:nvPr/>
        </p:nvSpPr>
        <p:spPr>
          <a:xfrm>
            <a:off x="365760" y="4023360"/>
            <a:ext cx="2011680" cy="493776"/>
          </a:xfrm>
          <a:prstGeom prst="roundRect">
            <a:avLst>
              <a:gd name="adj" fmla="val 9259"/>
            </a:avLst>
          </a:prstGeom>
          <a:solidFill>
            <a:srgbClr val="FFFFFF"/>
          </a:solidFill>
          <a:ln w="10160">
            <a:solidFill>
              <a:srgbClr val="B8DFC8"/>
            </a:solidFill>
            <a:prstDash val="solid"/>
          </a:ln>
        </p:spPr>
      </p:sp>
      <p:sp>
        <p:nvSpPr>
          <p:cNvPr id="43" name="Text 41"/>
          <p:cNvSpPr/>
          <p:nvPr/>
        </p:nvSpPr>
        <p:spPr>
          <a:xfrm>
            <a:off x="438912" y="4059936"/>
            <a:ext cx="1865376" cy="219456"/>
          </a:xfrm>
          <a:prstGeom prst="rect">
            <a:avLst/>
          </a:prstGeom>
          <a:noFill/>
          <a:ln/>
        </p:spPr>
        <p:txBody>
          <a:bodyPr wrap="square" lIns="0" tIns="0" rIns="0" bIns="0" rtlCol="0" anchor="ctr"/>
          <a:lstStyle/>
          <a:p>
            <a:pPr indent="0" marL="0">
              <a:buNone/>
            </a:pPr>
            <a:r>
              <a:rPr lang="en-US" sz="950" b="1" dirty="0">
                <a:solidFill>
                  <a:srgbClr val="1A6B3C"/>
                </a:solidFill>
                <a:latin typeface="Calibri" pitchFamily="34" charset="0"/>
                <a:ea typeface="Calibri" pitchFamily="34" charset="-122"/>
                <a:cs typeface="Calibri" pitchFamily="34" charset="-120"/>
              </a:rPr>
              <a:t>uac_product_pref (Nominal)</a:t>
            </a:r>
            <a:endParaRPr lang="en-US" sz="950" dirty="0"/>
          </a:p>
        </p:txBody>
      </p:sp>
      <p:sp>
        <p:nvSpPr>
          <p:cNvPr id="44" name="Text 42"/>
          <p:cNvSpPr/>
          <p:nvPr/>
        </p:nvSpPr>
        <p:spPr>
          <a:xfrm>
            <a:off x="438912" y="4279392"/>
            <a:ext cx="1865376"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Frequency tables, chi-square tests</a:t>
            </a:r>
            <a:endParaRPr lang="en-US" sz="850" dirty="0"/>
          </a:p>
        </p:txBody>
      </p:sp>
      <p:sp>
        <p:nvSpPr>
          <p:cNvPr id="45" name="Shape 43"/>
          <p:cNvSpPr/>
          <p:nvPr/>
        </p:nvSpPr>
        <p:spPr>
          <a:xfrm>
            <a:off x="2542032" y="4023360"/>
            <a:ext cx="2011680" cy="493776"/>
          </a:xfrm>
          <a:prstGeom prst="roundRect">
            <a:avLst>
              <a:gd name="adj" fmla="val 9259"/>
            </a:avLst>
          </a:prstGeom>
          <a:solidFill>
            <a:srgbClr val="FFFFFF"/>
          </a:solidFill>
          <a:ln w="10160">
            <a:solidFill>
              <a:srgbClr val="B8DFC8"/>
            </a:solidFill>
            <a:prstDash val="solid"/>
          </a:ln>
        </p:spPr>
      </p:sp>
      <p:sp>
        <p:nvSpPr>
          <p:cNvPr id="46" name="Text 44"/>
          <p:cNvSpPr/>
          <p:nvPr/>
        </p:nvSpPr>
        <p:spPr>
          <a:xfrm>
            <a:off x="2615184" y="4059936"/>
            <a:ext cx="1865376" cy="219456"/>
          </a:xfrm>
          <a:prstGeom prst="rect">
            <a:avLst/>
          </a:prstGeom>
          <a:noFill/>
          <a:ln/>
        </p:spPr>
        <p:txBody>
          <a:bodyPr wrap="square" lIns="0" tIns="0" rIns="0" bIns="0" rtlCol="0" anchor="ctr"/>
          <a:lstStyle/>
          <a:p>
            <a:pPr indent="0" marL="0">
              <a:buNone/>
            </a:pPr>
            <a:r>
              <a:rPr lang="en-US" sz="950" b="1" dirty="0">
                <a:solidFill>
                  <a:srgbClr val="1A6B3C"/>
                </a:solidFill>
                <a:latin typeface="Calibri" pitchFamily="34" charset="0"/>
                <a:ea typeface="Calibri" pitchFamily="34" charset="-122"/>
                <a:cs typeface="Calibri" pitchFamily="34" charset="-120"/>
              </a:rPr>
              <a:t>monthly_salary_ngn (Scale)</a:t>
            </a:r>
            <a:endParaRPr lang="en-US" sz="950" dirty="0"/>
          </a:p>
        </p:txBody>
      </p:sp>
      <p:sp>
        <p:nvSpPr>
          <p:cNvPr id="47" name="Text 45"/>
          <p:cNvSpPr/>
          <p:nvPr/>
        </p:nvSpPr>
        <p:spPr>
          <a:xfrm>
            <a:off x="2615184" y="4279392"/>
            <a:ext cx="1865376"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Descriptives, correlation, regression DV</a:t>
            </a:r>
            <a:endParaRPr lang="en-US" sz="850" dirty="0"/>
          </a:p>
        </p:txBody>
      </p:sp>
      <p:sp>
        <p:nvSpPr>
          <p:cNvPr id="48" name="Shape 46"/>
          <p:cNvSpPr/>
          <p:nvPr/>
        </p:nvSpPr>
        <p:spPr>
          <a:xfrm>
            <a:off x="4718304" y="4023360"/>
            <a:ext cx="2011680" cy="493776"/>
          </a:xfrm>
          <a:prstGeom prst="roundRect">
            <a:avLst>
              <a:gd name="adj" fmla="val 9259"/>
            </a:avLst>
          </a:prstGeom>
          <a:solidFill>
            <a:srgbClr val="FFFFFF"/>
          </a:solidFill>
          <a:ln w="10160">
            <a:solidFill>
              <a:srgbClr val="B8DFC8"/>
            </a:solidFill>
            <a:prstDash val="solid"/>
          </a:ln>
        </p:spPr>
      </p:sp>
      <p:sp>
        <p:nvSpPr>
          <p:cNvPr id="49" name="Text 47"/>
          <p:cNvSpPr/>
          <p:nvPr/>
        </p:nvSpPr>
        <p:spPr>
          <a:xfrm>
            <a:off x="4791456" y="4059936"/>
            <a:ext cx="1865376" cy="219456"/>
          </a:xfrm>
          <a:prstGeom prst="rect">
            <a:avLst/>
          </a:prstGeom>
          <a:noFill/>
          <a:ln/>
        </p:spPr>
        <p:txBody>
          <a:bodyPr wrap="square" lIns="0" tIns="0" rIns="0" bIns="0" rtlCol="0" anchor="ctr"/>
          <a:lstStyle/>
          <a:p>
            <a:pPr indent="0" marL="0">
              <a:buNone/>
            </a:pPr>
            <a:r>
              <a:rPr lang="en-US" sz="950" b="1" dirty="0">
                <a:solidFill>
                  <a:srgbClr val="1A6B3C"/>
                </a:solidFill>
                <a:latin typeface="Calibri" pitchFamily="34" charset="0"/>
                <a:ea typeface="Calibri" pitchFamily="34" charset="-122"/>
                <a:cs typeface="Calibri" pitchFamily="34" charset="-120"/>
              </a:rPr>
              <a:t>sat_mean (Scale)</a:t>
            </a:r>
            <a:endParaRPr lang="en-US" sz="950" dirty="0"/>
          </a:p>
        </p:txBody>
      </p:sp>
      <p:sp>
        <p:nvSpPr>
          <p:cNvPr id="50" name="Text 48"/>
          <p:cNvSpPr/>
          <p:nvPr/>
        </p:nvSpPr>
        <p:spPr>
          <a:xfrm>
            <a:off x="4791456" y="4279392"/>
            <a:ext cx="1865376"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PRIMARY DV - t-tests, ANOVA, regression in Modules 4-5</a:t>
            </a:r>
            <a:endParaRPr lang="en-US" sz="850" dirty="0"/>
          </a:p>
        </p:txBody>
      </p:sp>
      <p:sp>
        <p:nvSpPr>
          <p:cNvPr id="51" name="Shape 49"/>
          <p:cNvSpPr/>
          <p:nvPr/>
        </p:nvSpPr>
        <p:spPr>
          <a:xfrm>
            <a:off x="6894576" y="4023360"/>
            <a:ext cx="2011680" cy="493776"/>
          </a:xfrm>
          <a:prstGeom prst="roundRect">
            <a:avLst>
              <a:gd name="adj" fmla="val 9259"/>
            </a:avLst>
          </a:prstGeom>
          <a:solidFill>
            <a:srgbClr val="FFFFFF"/>
          </a:solidFill>
          <a:ln w="10160">
            <a:solidFill>
              <a:srgbClr val="B8DFC8"/>
            </a:solidFill>
            <a:prstDash val="solid"/>
          </a:ln>
        </p:spPr>
      </p:sp>
      <p:sp>
        <p:nvSpPr>
          <p:cNvPr id="52" name="Text 50"/>
          <p:cNvSpPr/>
          <p:nvPr/>
        </p:nvSpPr>
        <p:spPr>
          <a:xfrm>
            <a:off x="6967728" y="4059936"/>
            <a:ext cx="1865376" cy="219456"/>
          </a:xfrm>
          <a:prstGeom prst="rect">
            <a:avLst/>
          </a:prstGeom>
          <a:noFill/>
          <a:ln/>
        </p:spPr>
        <p:txBody>
          <a:bodyPr wrap="square" lIns="0" tIns="0" rIns="0" bIns="0" rtlCol="0" anchor="ctr"/>
          <a:lstStyle/>
          <a:p>
            <a:pPr indent="0" marL="0">
              <a:buNone/>
            </a:pPr>
            <a:r>
              <a:rPr lang="en-US" sz="950" b="1" dirty="0">
                <a:solidFill>
                  <a:srgbClr val="1A6B3C"/>
                </a:solidFill>
                <a:latin typeface="Calibri" pitchFamily="34" charset="0"/>
                <a:ea typeface="Calibri" pitchFamily="34" charset="-122"/>
                <a:cs typeface="Calibri" pitchFamily="34" charset="-120"/>
              </a:rPr>
              <a:t>repurchase_intention (Ordinal)</a:t>
            </a:r>
            <a:endParaRPr lang="en-US" sz="950" dirty="0"/>
          </a:p>
        </p:txBody>
      </p:sp>
      <p:sp>
        <p:nvSpPr>
          <p:cNvPr id="53" name="Text 51"/>
          <p:cNvSpPr/>
          <p:nvPr/>
        </p:nvSpPr>
        <p:spPr>
          <a:xfrm>
            <a:off x="6967728" y="4279392"/>
            <a:ext cx="1865376"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Chi-square, logistic regression in Module 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2218"/>
        </a:solidFill>
      </p:bgPr>
    </p:bg>
    <p:spTree>
      <p:nvGrpSpPr>
        <p:cNvPr id="1" name=""/>
        <p:cNvGrpSpPr/>
        <p:nvPr/>
      </p:nvGrpSpPr>
      <p:grpSpPr>
        <a:xfrm>
          <a:off x="0" y="0"/>
          <a:ext cx="0" cy="0"/>
          <a:chOff x="0" y="0"/>
          <a:chExt cx="0" cy="0"/>
        </a:xfrm>
      </p:grpSpPr>
      <p:sp>
        <p:nvSpPr>
          <p:cNvPr id="2" name="Shape 0"/>
          <p:cNvSpPr/>
          <p:nvPr/>
        </p:nvSpPr>
        <p:spPr>
          <a:xfrm>
            <a:off x="-1645920" y="-1645920"/>
            <a:ext cx="5486400" cy="5486400"/>
          </a:xfrm>
          <a:prstGeom prst="ellipse">
            <a:avLst/>
          </a:prstGeom>
          <a:solidFill>
            <a:srgbClr val="1A6B3C">
              <a:alpha val="18000"/>
            </a:srgbClr>
          </a:solidFill>
          <a:ln w="12700">
            <a:solidFill>
              <a:srgbClr val="1A6B3C"/>
            </a:solidFill>
            <a:prstDash val="solid"/>
          </a:ln>
        </p:spPr>
      </p:sp>
      <p:sp>
        <p:nvSpPr>
          <p:cNvPr id="3" name="Shape 1"/>
          <p:cNvSpPr/>
          <p:nvPr/>
        </p:nvSpPr>
        <p:spPr>
          <a:xfrm>
            <a:off x="6400800" y="2560320"/>
            <a:ext cx="4572000" cy="4572000"/>
          </a:xfrm>
          <a:prstGeom prst="ellipse">
            <a:avLst/>
          </a:prstGeom>
          <a:solidFill>
            <a:srgbClr val="D4A017">
              <a:alpha val="12000"/>
            </a:srgbClr>
          </a:solidFill>
          <a:ln w="12700">
            <a:solidFill>
              <a:srgbClr val="D4A017"/>
            </a:solidFill>
            <a:prstDash val="solid"/>
          </a:ln>
        </p:spPr>
      </p:sp>
      <p:sp>
        <p:nvSpPr>
          <p:cNvPr id="4" name="Shape 2"/>
          <p:cNvSpPr/>
          <p:nvPr/>
        </p:nvSpPr>
        <p:spPr>
          <a:xfrm>
            <a:off x="3840480" y="-1371600"/>
            <a:ext cx="2286000" cy="2286000"/>
          </a:xfrm>
          <a:prstGeom prst="ellipse">
            <a:avLst/>
          </a:prstGeom>
          <a:solidFill>
            <a:srgbClr val="0E7C7B">
              <a:alpha val="10000"/>
            </a:srgbClr>
          </a:solidFill>
          <a:ln w="12700">
            <a:solidFill>
              <a:srgbClr val="0E7C7B"/>
            </a:solidFill>
            <a:prstDash val="solid"/>
          </a:ln>
        </p:spPr>
      </p:sp>
      <p:sp>
        <p:nvSpPr>
          <p:cNvPr id="5" name="Text 3"/>
          <p:cNvSpPr/>
          <p:nvPr/>
        </p:nvSpPr>
        <p:spPr>
          <a:xfrm>
            <a:off x="1097280" y="640080"/>
            <a:ext cx="6858000" cy="1188720"/>
          </a:xfrm>
          <a:prstGeom prst="rect">
            <a:avLst/>
          </a:prstGeom>
          <a:noFill/>
          <a:ln/>
        </p:spPr>
        <p:txBody>
          <a:bodyPr wrap="square" lIns="0" tIns="0" rIns="0" bIns="0" rtlCol="0" anchor="ctr"/>
          <a:lstStyle/>
          <a:p>
            <a:pPr algn="ctr" indent="0" marL="0">
              <a:buNone/>
            </a:pPr>
            <a:r>
              <a:rPr lang="en-US" sz="2600" b="1" i="1" dirty="0">
                <a:solidFill>
                  <a:srgbClr val="FFFFFF"/>
                </a:solidFill>
                <a:latin typeface="Cambria" pitchFamily="34" charset="0"/>
                <a:ea typeface="Cambria" pitchFamily="34" charset="-122"/>
                <a:cs typeface="Cambria" pitchFamily="34" charset="-120"/>
              </a:rPr>
              <a:t>"Clean data is not a luxury.</a:t>
            </a:r>
            <a:endParaRPr lang="en-US" sz="2600" dirty="0"/>
          </a:p>
          <a:p>
            <a:pPr algn="ctr" indent="0" marL="0">
              <a:buNone/>
            </a:pPr>
            <a:r>
              <a:rPr lang="en-US" sz="2600" b="1" i="1" dirty="0">
                <a:solidFill>
                  <a:srgbClr val="FFFFFF"/>
                </a:solidFill>
                <a:latin typeface="Cambria" pitchFamily="34" charset="0"/>
                <a:ea typeface="Cambria" pitchFamily="34" charset="-122"/>
                <a:cs typeface="Cambria" pitchFamily="34" charset="-120"/>
              </a:rPr>
              <a:t>It is the foundation of credibility."</a:t>
            </a:r>
            <a:endParaRPr lang="en-US" sz="2600" dirty="0"/>
          </a:p>
        </p:txBody>
      </p:sp>
      <p:sp>
        <p:nvSpPr>
          <p:cNvPr id="6" name="Text 4"/>
          <p:cNvSpPr/>
          <p:nvPr/>
        </p:nvSpPr>
        <p:spPr>
          <a:xfrm>
            <a:off x="1371600" y="1901952"/>
            <a:ext cx="6400800" cy="347472"/>
          </a:xfrm>
          <a:prstGeom prst="rect">
            <a:avLst/>
          </a:prstGeom>
          <a:noFill/>
          <a:ln/>
        </p:spPr>
        <p:txBody>
          <a:bodyPr wrap="square" lIns="0" tIns="0" rIns="0" bIns="0" rtlCol="0" anchor="ctr"/>
          <a:lstStyle/>
          <a:p>
            <a:pPr algn="ctr" indent="0" marL="0">
              <a:buNone/>
            </a:pPr>
            <a:r>
              <a:rPr lang="en-US" sz="1300" dirty="0">
                <a:solidFill>
                  <a:srgbClr val="A8D4BC"/>
                </a:solidFill>
                <a:latin typeface="Calibri" pitchFamily="34" charset="0"/>
                <a:ea typeface="Calibri" pitchFamily="34" charset="-122"/>
                <a:cs typeface="Calibri" pitchFamily="34" charset="-120"/>
              </a:rPr>
              <a:t>- Data Management Principle</a:t>
            </a:r>
            <a:endParaRPr lang="en-US" sz="1300" dirty="0"/>
          </a:p>
        </p:txBody>
      </p:sp>
      <p:sp>
        <p:nvSpPr>
          <p:cNvPr id="7" name="Shape 5"/>
          <p:cNvSpPr/>
          <p:nvPr/>
        </p:nvSpPr>
        <p:spPr>
          <a:xfrm>
            <a:off x="3200400" y="2377440"/>
            <a:ext cx="2743200" cy="0"/>
          </a:xfrm>
          <a:prstGeom prst="line">
            <a:avLst/>
          </a:prstGeom>
          <a:noFill/>
          <a:ln w="19050">
            <a:solidFill>
              <a:srgbClr val="F0C040"/>
            </a:solidFill>
            <a:prstDash val="solid"/>
          </a:ln>
        </p:spPr>
      </p:sp>
      <p:sp>
        <p:nvSpPr>
          <p:cNvPr id="8" name="Text 6"/>
          <p:cNvSpPr/>
          <p:nvPr/>
        </p:nvSpPr>
        <p:spPr>
          <a:xfrm>
            <a:off x="914400" y="2542032"/>
            <a:ext cx="7315200" cy="77724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9" name="Text 7"/>
          <p:cNvSpPr/>
          <p:nvPr/>
        </p:nvSpPr>
        <p:spPr>
          <a:xfrm>
            <a:off x="914400" y="3364992"/>
            <a:ext cx="7315200" cy="384048"/>
          </a:xfrm>
          <a:prstGeom prst="rect">
            <a:avLst/>
          </a:prstGeom>
          <a:noFill/>
          <a:ln/>
        </p:spPr>
        <p:txBody>
          <a:bodyPr wrap="square" lIns="0" tIns="0" rIns="0" bIns="0" rtlCol="0" anchor="ctr"/>
          <a:lstStyle/>
          <a:p>
            <a:pPr algn="ctr" indent="0" marL="0">
              <a:buNone/>
            </a:pPr>
            <a:r>
              <a:rPr lang="en-US" sz="1600" dirty="0">
                <a:solidFill>
                  <a:srgbClr val="A8D4BC"/>
                </a:solidFill>
                <a:latin typeface="Calibri" pitchFamily="34" charset="0"/>
                <a:ea typeface="Calibri" pitchFamily="34" charset="-122"/>
                <a:cs typeface="Calibri" pitchFamily="34" charset="-120"/>
              </a:rPr>
              <a:t>Questions  -  Discussion  -  Next Steps</a:t>
            </a:r>
            <a:endParaRPr lang="en-US" sz="1600" dirty="0"/>
          </a:p>
        </p:txBody>
      </p:sp>
      <p:sp>
        <p:nvSpPr>
          <p:cNvPr id="10" name="Shape 8"/>
          <p:cNvSpPr/>
          <p:nvPr/>
        </p:nvSpPr>
        <p:spPr>
          <a:xfrm>
            <a:off x="2834640" y="3913632"/>
            <a:ext cx="3474720" cy="987552"/>
          </a:xfrm>
          <a:prstGeom prst="roundRect">
            <a:avLst>
              <a:gd name="adj" fmla="val 11111"/>
            </a:avLst>
          </a:prstGeom>
          <a:solidFill>
            <a:srgbClr val="1A6B3C">
              <a:alpha val="85000"/>
            </a:srgbClr>
          </a:solidFill>
          <a:ln w="12700">
            <a:solidFill>
              <a:srgbClr val="27AE60"/>
            </a:solidFill>
            <a:prstDash val="solid"/>
          </a:ln>
        </p:spPr>
      </p:sp>
      <p:sp>
        <p:nvSpPr>
          <p:cNvPr id="11" name="Text 9"/>
          <p:cNvSpPr/>
          <p:nvPr/>
        </p:nvSpPr>
        <p:spPr>
          <a:xfrm>
            <a:off x="2834640" y="3968496"/>
            <a:ext cx="3474720" cy="8778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Kajola Gbenga Adewale</a:t>
            </a:r>
            <a:endParaRPr lang="en-US" sz="1600" dirty="0"/>
          </a:p>
          <a:p>
            <a:pPr algn="ctr" indent="0" marL="0">
              <a:buNone/>
            </a:pPr>
            <a:r>
              <a:rPr lang="en-US" sz="1300" dirty="0">
                <a:solidFill>
                  <a:srgbClr val="F0C040"/>
                </a:solidFill>
                <a:latin typeface="Calibri" pitchFamily="34" charset="0"/>
                <a:ea typeface="Calibri" pitchFamily="34" charset="-122"/>
                <a:cs typeface="Calibri" pitchFamily="34" charset="-120"/>
              </a:rPr>
              <a:t>Data Expert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SPSS Module 2 - Data Entry and Management</dc:title>
  <dc:subject>PptxGenJS Presentation</dc:subject>
  <dc:creator>Kajola Gbenga Adewale</dc:creator>
  <cp:lastModifiedBy>Kajola Gbenga Adewale</cp:lastModifiedBy>
  <cp:revision>1</cp:revision>
  <dcterms:created xsi:type="dcterms:W3CDTF">2026-06-27T12:54:25Z</dcterms:created>
  <dcterms:modified xsi:type="dcterms:W3CDTF">2026-06-27T12:54:25Z</dcterms:modified>
</cp:coreProperties>
</file>